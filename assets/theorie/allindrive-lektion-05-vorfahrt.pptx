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Einstieg mit der Frage auf der Folie: Wer von euch ist schon einmal unsicher an einer Kreuzung gewesen? Kurz sammeln, nicht auflösen – das Bild rechts kommt später als Aufgabe wieder.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vier Ziele kurz vorlesen lassen. Am Ende der Stunde mit der Lernstandskontrolle wieder darauf zurückkommen.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Zahl wirken lassen. Frage an die Gruppe: Warum gerade Kreuzungen? (Viele Beteiligte, wenig Zeit, Regeln überlagern sich.) Überleitung: Heute lernt ihr, wie man jede Kreuzung lesen kann.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Kapitelwechsel: kurz sagen, was jetzt kommt und warum es wichtig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36 Abs. 1 StVO: Zeichen und Weisungen der Polizei gehen allen anderen Anordnungen und Regeln vor. § 37 Abs. 1: Lichtzeichen gehen Vorrangregeln und vorfahrtregelnden Zeichen vor. Beispiel: Ampel ausgefallen → Schilder gelten; keine Schilder → rechts vor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Abstimmen lassen: 1, 2 oder 3 Finger. Erst dann weiterklicken. Richtig ist B (§ 36 Abs. 2 Nr. 2 StVO).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36 Abs. 2 Nr. 2 StVO: Hochheben eines Arms ordnet an: „Vor der Kreuzung auf das nächste Zeichen warten“. Wer sich bereits in der Kreuzung befindet, muss sie räumen.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Kapitelwechsel: kurz sagen, was jetzt kommt und warum es wichtig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Blau kommt von rechts und fährt zuerst – auch wenn er links abbiegen würde. Frage: Woran erkennt ihr, dass hier rechts vor links gilt? (Keine Schilder, keine Ampel, keine Polizei.) Hinweis: An unübersichtlichen Stellen langsam heranfahren – sonst kommt die Bremsung zu spät.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Einmündung = T-Kreuzung. Die Grundregel gilt auch hier. Typischer Prüfungsfehler: auf der breiteren Straße einfach weiterfahren. Frage: Woran erkennt man vorab eine Einmündung? (Bordsteinabsenkung, Lücke in der Häuserreihe, Straßenschild, Verkehrszeichen 102 als Warnung.)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8 Abs. 1 Satz 2 Nr. 2 StVO: keine Vorfahrt für Fahrzeuge aus Feld- oder Waldwegen. § 10 StVO: Wer aus einem Grundstück, einem Fußgängerbereich, einem verkehrsberuhigten Bereich oder über einen abgesenkten Bordstein einfährt, muss eine Gefährdung anderer ausschließen; erforderlichenfalls einweisen lassen. Frage: Wo kommt das in eurem Alltag vor? (Supermarkt-Parkplatz, Tankstelle, Hofeinfahrt.)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geben, Reihenfolge aufschreiben lassen. Tipp: Für jedes Auto einzeln fragen: Kommt jemand von rechts?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Kette erklären: Jeder schaut nur nach rechts. Wer rechts frei hat, beginnt. Danach rückt die Reihenfolge nach.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 Abs. 3 StVO: Auf einen Verzicht darf man nur vertrauen, wenn man sich mit dem Verzichtenden verständigt hat. Rollenspiel: vier Freiwillige als Autos, einer verzichtet mit Handzeichen.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Kapitelwechsel: kurz sagen, was jetzt kommt und warum es wichtig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Zeichen 205 und 206 stehen unmittelbar vor der Kreuzung oder Einmündung (Anlage 2 lfd. Nr. 2 und 3). Zeichen 301 gilt nur für die nächste Kreuzung, Zeichen 306 bis zum nächsten 205, 206 oder 307 (Anlage 3). Frage: Woran erkennt ihr Vorfahrt-gewähren auch von hinten oder bei Schnee? (Form: Spitze nach unten; Stopp: Achteck.)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Anlage 2 lfd. Nr. 3 StVO: Wer ein Fahrzeug führt, muss anhalten und Vorfahrt gewähren. Ist keine Haltlinie (Zeichen 294) vorhanden, ist dort anzuhalten, wo die andere Straße zu übersehen ist. Häufiger Prüfungsfehler: rollendes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8 Abs. 2 StVO: Wartepflichtige müssen rechtzeitig durch mäßige Geschwindigkeit zeigen, dass sie warten; weiterfahren nur, wenn der Vorfahrtberechtigte weder gefährdet noch wesentlich behindert wird; bei unübersichtlicher Stelle vorsichtig hineintasten. Anlage 1 FahrschAusbO: „Handeln in der richtigen Reihenfolge“ – Bremsen, Schalten, Beschleunigen.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Anlage 1 FahrschAusbO: Spurtstärke, Bedarf an Straßenraum und Zeit beim Überqueren einer Kreuzung einschätzen lernen. Mit der Gruppe die Rechnung nachvollziehen; Variante: Landstraße mit 100 km/h → rund 95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Anlage 3 lfd. Nr. 2.1 StVO: Wer dem abknickenden Verlauf folgen will, muss dies rechtzeitig und deutlich ankündigen (Fahrtrichtungsanzeiger); auf Fußgänger besonders Rücksicht nehmen, wenn nötig warten. Für die Fahrzeuge auf den untergeordneten Straßen gilt untereinander die Grundregel rechts vor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klären: Wer ist auf der Vorfahrtstraße? Dann die Wartepflichtigen untereinander mit rechts vor links ordnen.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Häufiger Denkfehler: Blau fährt vor dir, weil er „gerade über die Hauptstraße“ will. Entscheidend ist aber: Beide sind wartepflichtig, untereinander gilt rechts vor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Zeichen 208 (Anlage 2 lfd. Nr. 4) und 308 (Anlage 3 lfd. Nr. 4). § 6 StVO: Wer an einer Fahrbahnverengung, einem Hindernis auf der Fahrbahn oder einem haltenden Fahrzeug links vorbeifahren will, muss entgegenkommende Fahrzeuge durchfahren lassen. Merkhilfe für 208/308: Der rote Pfeil zeigt, wer warten muss.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Kapitelwechsel: kurz sagen, was jetzt kommt und warum es wichtig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9 Abs. 1: rechtzeitig und deutlich ankündigen, einordnen, vor dem Einordnen und nochmals vor dem Abbiegen auf den nachfolgenden Verkehr achten. § 9 Abs. 3: entgegenkommende Fahrzeuge durchfahren lassen, auch Schienenfahrzeuge, Fahrräder, E-Scooter und Linienbusse auf Sonderfahrstreifen; auf Fußgänger besondere Rücksicht. § 9 Abs. 4: Wer links abbiegt, muss auch entgegenkommende Rechtsabbieger durchfahren lassen. Grün im Bild biegt rechts ab (Blinker), bleibt aber im Bild vor dir dran.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9 Abs. 4 Satz 2 StVO: Einander entgegenkommende Fahrzeuge, die jeweils nach links abbiegen wollen, müssen voreinander abbiegen, es sei denn, die Verkehrslage oder die Gestaltung der Kreuzung erfordern, erst dann abzubiegen, wenn die Fahrzeuge aneinander vorbeigefahren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Reihenfolge aufschreiben lassen. Hinweis: Auch der Rechtsabbieger muss jemanden durchlassen.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9 Abs. 3 StVO: Wer abbiegt, muss Fahrräder durchfahren lassen, auch wenn sie in derselben Richtung fahren. § 9 Abs. 4: Linksabbieger lassen entgegenkommende Rechtsabbieger durch.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Kapitelwechsel: kurz sagen, was jetzt kommt und warum es wichtig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37 Abs. 2 Nr. 1 StVO: Farbfolge Grün – Gelb – Rot – Rot und Gelb – Grün. Grün: Verkehr freigegeben, abbiegen nach § 9. Gelb: vor der Kreuzung auf das nächste Zeichen warten. Rot: Halt vor der Kreuzung. Frage: Was macht ihr, wenn die Ampel gelb wird und ihr schon sehr nah dran seid?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37 Abs. 2 Nr. 1 StVO: Grünpfeil-Schild rechts neben dem Rotlicht erlaubt nach dem Anhalten das Rechtsabbiegen bei Rot; nur aus dem rechten Fahrstreifen; Behinderung oder Gefährdung anderer, insbesondere des Fußgänger- und Fahrzeugverkehrs der freigegebenen Richtung, ausschließen. Grüner Pfeil im Lichtzeichen: nur in Pfeilrichtung; ein grüner Pfeil links hinter der Kreuzung zeigt, dass der Gegenverkehr Rot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36 Abs. 2 StVO: Seitliches Ausstrecken eines Arms oder beider Arme quer zur Fahrtrichtung bedeutet „Halt vor der Kreuzung“, der Querverkehr ist freigegeben. Hochheben eines Arms: „Vor der Kreuzung auf das nächste Zeichen warten“; wer in der Kreuzung ist, muss sie räumen. Die Zeichen gelten, solange sie gegeben werden oder die Grundstellung beibehalten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Kapitelwechsel: kurz sagen, was jetzt kommt und warum es wichtig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8 Abs. 1a StVO: Ist an der Einmündung in einen Kreisverkehr Zeichen 215 unter Zeichen 205 angeordnet, hat der Verkehr auf der Kreisfahrbahn Vorfahrt; beim Einfahren ist das Setzen des Fahrtrichtungsanzeigers unzulässig. Ausfahren ist Abbiegen (§ 9 Abs. 1): blinken. Anlage 2 lfd. Nr. 8: Fahrtrichtung rechts herum, Mittelinsel nicht überfahren (Ausnahme große Fahrzeuge ohne Gefährdung), auf der Kreisfahrbahn nicht 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 Abs. 1 StVO: Bei stockendem Verkehr darf trotz Vorfahrt oder Grün nicht in die Kreuzung eingefahren werden, wenn auf ihr gewartet werden müsste. § 11 Abs. 2: Auf Autobahnen und Außerortsstraßen mit mindestens zwei Fahrstreifen je Richtung muss bei Schrittgeschwindigkeit oder Stillstand eine Gasse für Polizei- und Hilfsfahrzeuge zwischen dem äußerst linken und dem unmittelbar rechts daneben liegenden Fahrstreifen gebildet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Anlage 1 FahrschAusbO: Gefährlichkeit einer Kreuzung beurteilen, Notwendigkeit der Verständigung, für die anderen mitdenken, Gelassenheit und Geduld, gegebenenfalls auf Vorfahrt verzichten. § 1 StVO (ständige Vorsicht, gegenseitige Rücksicht) und § 11 Abs. 3 StVO. Diskussion: Wann habt ihr schon einmal erlebt, dass jemand auf seine Vorfahrt bestanden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Anlage 1 FahrschAusbO: Umweltbewusstes Befahren von Kreuzungen und Einmündungen. § 30 Abs. 1 StVO: unnötiger Lärm und vermeidbare Abgasbelästigungen sind verboten, insbesondere unnötiges Laufenlassen von Motoren. Frage: Wo seht ihr auf eurem Schulweg früh, dass die Ampel rot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sechs Sätze reihum vorlesen lassen. Wer kann zu jedem Satz ein Beispiel aus der eigenen Umgebung nennen?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Minuten Zeit geben, Antworten aufschreiben lassen, dann auflösen.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Fehlern kurz auf die passende Folie zurückspringen.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 Fragen sammeln. Hinweis auf die nächste Fahrstunde – im Navigator steht für diese Lektion das Ziel „Kreuzungen und Einmündungen“.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Quellenfolie – im Unterricht überspringen.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LL">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8A939D"/>
                </a:solidFill>
                <a:latin typeface="Arial" pitchFamily="34" charset="0"/>
                <a:ea typeface="Arial" pitchFamily="34" charset="-122"/>
                <a:cs typeface="Arial" pitchFamily="34" charset="-120"/>
              </a:rPr>
              <a:t>Allindrive · Klasse B · Lektion 5 · Vorfahrt und Verkehrsregelung</a:t>
            </a:r>
            <a:endParaRPr lang="en-US" sz="9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UNKEL">
    <p:bg>
      <p:bgPr>
        <a:solidFill>
          <a:srgbClr val="101318"/>
        </a:solidFill>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rgbClr val="6E7782"/>
                </a:solidFill>
                <a:latin typeface="Arial" pitchFamily="34" charset="0"/>
                <a:ea typeface="Arial" pitchFamily="34" charset="-122"/>
                <a:cs typeface="Arial" pitchFamily="34" charset="-120"/>
              </a:rPr>
              <a:t>Allindrive · Klasse B · Lektion 5 · Vorfahrt und Verkehrsregelung</a:t>
            </a:r>
            <a:endParaRPr lang="en-US" sz="9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EL">
    <p:bg>
      <p:bgPr>
        <a:solidFill>
          <a:srgbClr val="10131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325880"/>
            <a:ext cx="5943600" cy="320040"/>
          </a:xfrm>
          <a:prstGeom prst="rect">
            <a:avLst/>
          </a:prstGeom>
          <a:noFill/>
          <a:ln/>
        </p:spPr>
        <p:txBody>
          <a:bodyPr wrap="square" lIns="0" tIns="0" rIns="0" bIns="0" rtlCol="0" anchor="t"/>
          <a:lstStyle/>
          <a:p>
            <a:pPr indent="0" marL="0">
              <a:buNone/>
            </a:pPr>
            <a:r>
              <a:rPr lang="en-US" sz="1400" b="1" spc="300" kern="0" dirty="0">
                <a:solidFill>
                  <a:srgbClr val="FF9300"/>
                </a:solidFill>
                <a:latin typeface="Arial" pitchFamily="34" charset="0"/>
                <a:ea typeface="Arial" pitchFamily="34" charset="-122"/>
                <a:cs typeface="Arial" pitchFamily="34" charset="-120"/>
              </a:rPr>
              <a:t>KLASSE B · GRUNDSTOFF · LEKTION 5</a:t>
            </a:r>
            <a:endParaRPr lang="en-US" sz="1400" dirty="0"/>
          </a:p>
        </p:txBody>
      </p:sp>
      <p:sp>
        <p:nvSpPr>
          <p:cNvPr id="3" name="Text 1"/>
          <p:cNvSpPr txBox="1"/>
          <p:nvPr/>
        </p:nvSpPr>
        <p:spPr>
          <a:xfrm>
            <a:off x="640080" y="1737360"/>
            <a:ext cx="5760720" cy="2286000"/>
          </a:xfrm>
          <a:prstGeom prst="rect">
            <a:avLst/>
          </a:prstGeom>
          <a:noFill/>
          <a:ln/>
        </p:spPr>
        <p:txBody>
          <a:bodyPr wrap="square" lIns="0" tIns="0" rIns="0" bIns="0" rtlCol="0" anchor="t"/>
          <a:lstStyle/>
          <a:p>
            <a:pPr indent="0" marL="0">
              <a:lnSpc>
                <a:spcPct val="95000"/>
              </a:lnSpc>
              <a:buNone/>
            </a:pPr>
            <a:r>
              <a:rPr lang="en-US" sz="5400" b="1" dirty="0">
                <a:solidFill>
                  <a:srgbClr val="FFFFFF"/>
                </a:solidFill>
                <a:latin typeface="Arial" pitchFamily="34" charset="0"/>
                <a:ea typeface="Arial" pitchFamily="34" charset="-122"/>
                <a:cs typeface="Arial" pitchFamily="34" charset="-120"/>
              </a:rPr>
              <a:t>Vorfahrt und Verkehrs­regelung</a:t>
            </a:r>
            <a:endParaRPr lang="en-US" sz="5400" dirty="0"/>
          </a:p>
        </p:txBody>
      </p:sp>
      <p:sp>
        <p:nvSpPr>
          <p:cNvPr id="4" name="Text 2"/>
          <p:cNvSpPr txBox="1"/>
          <p:nvPr/>
        </p:nvSpPr>
        <p:spPr>
          <a:xfrm>
            <a:off x="640080" y="4206240"/>
            <a:ext cx="5760720" cy="548640"/>
          </a:xfrm>
          <a:prstGeom prst="rect">
            <a:avLst/>
          </a:prstGeom>
          <a:noFill/>
          <a:ln/>
        </p:spPr>
        <p:txBody>
          <a:bodyPr wrap="square" lIns="0" tIns="0" rIns="0" bIns="0" rtlCol="0" anchor="t"/>
          <a:lstStyle/>
          <a:p>
            <a:pPr indent="0" marL="0">
              <a:buNone/>
            </a:pPr>
            <a:r>
              <a:rPr lang="en-US" sz="2400" dirty="0">
                <a:solidFill>
                  <a:srgbClr val="A3ACB7"/>
                </a:solidFill>
                <a:latin typeface="Arial" pitchFamily="34" charset="0"/>
                <a:ea typeface="Arial" pitchFamily="34" charset="-122"/>
                <a:cs typeface="Arial" pitchFamily="34" charset="-120"/>
              </a:rPr>
              <a:t>Wer fährt zuerst – und warum?</a:t>
            </a:r>
            <a:endParaRPr lang="en-US" sz="2400" dirty="0"/>
          </a:p>
        </p:txBody>
      </p:sp>
      <p:sp>
        <p:nvSpPr>
          <p:cNvPr id="5" name="Text 3"/>
          <p:cNvSpPr txBox="1"/>
          <p:nvPr/>
        </p:nvSpPr>
        <p:spPr>
          <a:xfrm>
            <a:off x="640080" y="5989320"/>
            <a:ext cx="594360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Allindrive</a:t>
            </a:r>
            <a:pPr indent="0" marL="0">
              <a:buNone/>
            </a:pPr>
            <a:r>
              <a:rPr lang="en-US" sz="1500" b="1" dirty="0">
                <a:solidFill>
                  <a:srgbClr val="FF9300"/>
                </a:solidFill>
                <a:latin typeface="Arial" pitchFamily="34" charset="0"/>
                <a:ea typeface="Arial" pitchFamily="34" charset="-122"/>
                <a:cs typeface="Arial" pitchFamily="34" charset="-120"/>
              </a:rPr>
              <a:t>.</a:t>
            </a:r>
            <a:pPr indent="0" marL="0">
              <a:buNone/>
            </a:pPr>
            <a:r>
              <a:rPr lang="en-US" sz="1500" dirty="0">
                <a:solidFill>
                  <a:srgbClr val="8A939D"/>
                </a:solidFill>
                <a:latin typeface="Arial" pitchFamily="34" charset="0"/>
                <a:ea typeface="Arial" pitchFamily="34" charset="-122"/>
                <a:cs typeface="Arial" pitchFamily="34" charset="-120"/>
              </a:rPr>
              <a:t>   Theorie · Doppelstunde, 90 Minuten</a:t>
            </a:r>
            <a:endParaRPr lang="en-US" sz="1500" dirty="0"/>
          </a:p>
        </p:txBody>
      </p:sp>
      <p:sp>
        <p:nvSpPr>
          <p:cNvPr id="6" name="Shape 4"/>
          <p:cNvSpPr/>
          <p:nvPr/>
        </p:nvSpPr>
        <p:spPr>
          <a:xfrm>
            <a:off x="6766560" y="685800"/>
            <a:ext cx="4846320" cy="5486400"/>
          </a:xfrm>
          <a:prstGeom prst="roundRect">
            <a:avLst>
              <a:gd name="adj" fmla="val 4151"/>
            </a:avLst>
          </a:prstGeom>
          <a:solidFill>
            <a:srgbClr val="1C2129"/>
          </a:solidFill>
          <a:ln w="12700">
            <a:solidFill>
              <a:srgbClr val="1C2129"/>
            </a:solidFill>
            <a:prstDash val="solid"/>
          </a:ln>
        </p:spPr>
      </p:sp>
      <p:sp>
        <p:nvSpPr>
          <p:cNvPr id="7" name="Shape 5"/>
          <p:cNvSpPr/>
          <p:nvPr/>
        </p:nvSpPr>
        <p:spPr>
          <a:xfrm>
            <a:off x="8389620" y="685800"/>
            <a:ext cx="1600200" cy="5486400"/>
          </a:xfrm>
          <a:prstGeom prst="rect">
            <a:avLst/>
          </a:prstGeom>
          <a:solidFill>
            <a:srgbClr val="3B414A"/>
          </a:solidFill>
          <a:ln w="12700">
            <a:solidFill>
              <a:srgbClr val="3B414A"/>
            </a:solidFill>
            <a:prstDash val="solid"/>
          </a:ln>
        </p:spPr>
      </p:sp>
      <p:sp>
        <p:nvSpPr>
          <p:cNvPr id="8" name="Shape 6"/>
          <p:cNvSpPr/>
          <p:nvPr/>
        </p:nvSpPr>
        <p:spPr>
          <a:xfrm>
            <a:off x="6766560" y="2628900"/>
            <a:ext cx="4846320" cy="1600200"/>
          </a:xfrm>
          <a:prstGeom prst="rect">
            <a:avLst/>
          </a:prstGeom>
          <a:solidFill>
            <a:srgbClr val="3B414A"/>
          </a:solidFill>
          <a:ln w="12700">
            <a:solidFill>
              <a:srgbClr val="3B414A"/>
            </a:solidFill>
            <a:prstDash val="solid"/>
          </a:ln>
        </p:spPr>
      </p:sp>
      <p:sp>
        <p:nvSpPr>
          <p:cNvPr id="9" name="Shape 7"/>
          <p:cNvSpPr/>
          <p:nvPr/>
        </p:nvSpPr>
        <p:spPr>
          <a:xfrm>
            <a:off x="9189720" y="795528"/>
            <a:ext cx="0" cy="1723644"/>
          </a:xfrm>
          <a:prstGeom prst="line">
            <a:avLst/>
          </a:prstGeom>
          <a:noFill/>
          <a:ln w="22225">
            <a:solidFill>
              <a:srgbClr val="F2F4F6"/>
            </a:solidFill>
            <a:prstDash val="dash"/>
          </a:ln>
        </p:spPr>
      </p:sp>
      <p:sp>
        <p:nvSpPr>
          <p:cNvPr id="10" name="Shape 8"/>
          <p:cNvSpPr/>
          <p:nvPr/>
        </p:nvSpPr>
        <p:spPr>
          <a:xfrm>
            <a:off x="9189720" y="4338828"/>
            <a:ext cx="0" cy="1723644"/>
          </a:xfrm>
          <a:prstGeom prst="line">
            <a:avLst/>
          </a:prstGeom>
          <a:noFill/>
          <a:ln w="22225">
            <a:solidFill>
              <a:srgbClr val="F2F4F6"/>
            </a:solidFill>
            <a:prstDash val="dash"/>
          </a:ln>
        </p:spPr>
      </p:sp>
      <p:sp>
        <p:nvSpPr>
          <p:cNvPr id="11" name="Shape 9"/>
          <p:cNvSpPr/>
          <p:nvPr/>
        </p:nvSpPr>
        <p:spPr>
          <a:xfrm>
            <a:off x="6876288" y="3429000"/>
            <a:ext cx="1403604" cy="0"/>
          </a:xfrm>
          <a:prstGeom prst="line">
            <a:avLst/>
          </a:prstGeom>
          <a:noFill/>
          <a:ln w="22225">
            <a:solidFill>
              <a:srgbClr val="F2F4F6"/>
            </a:solidFill>
            <a:prstDash val="dash"/>
          </a:ln>
        </p:spPr>
      </p:sp>
      <p:sp>
        <p:nvSpPr>
          <p:cNvPr id="12" name="Shape 10"/>
          <p:cNvSpPr/>
          <p:nvPr/>
        </p:nvSpPr>
        <p:spPr>
          <a:xfrm>
            <a:off x="10099548" y="3429000"/>
            <a:ext cx="1403604" cy="0"/>
          </a:xfrm>
          <a:prstGeom prst="line">
            <a:avLst/>
          </a:prstGeom>
          <a:noFill/>
          <a:ln w="22225">
            <a:solidFill>
              <a:srgbClr val="F2F4F6"/>
            </a:solidFill>
            <a:prstDash val="dash"/>
          </a:ln>
        </p:spPr>
      </p:sp>
      <p:sp>
        <p:nvSpPr>
          <p:cNvPr id="13" name="Shape 11"/>
          <p:cNvSpPr/>
          <p:nvPr/>
        </p:nvSpPr>
        <p:spPr>
          <a:xfrm>
            <a:off x="9352026" y="4558284"/>
            <a:ext cx="475488" cy="896112"/>
          </a:xfrm>
          <a:prstGeom prst="roundRect">
            <a:avLst>
              <a:gd name="adj" fmla="val 25000"/>
            </a:avLst>
          </a:prstGeom>
          <a:solidFill>
            <a:srgbClr val="FF9300"/>
          </a:solidFill>
          <a:ln w="15875">
            <a:solidFill>
              <a:srgbClr val="FFFFFF"/>
            </a:solidFill>
            <a:prstDash val="solid"/>
          </a:ln>
        </p:spPr>
      </p:sp>
      <p:sp>
        <p:nvSpPr>
          <p:cNvPr id="14" name="Shape 12"/>
          <p:cNvSpPr/>
          <p:nvPr/>
        </p:nvSpPr>
        <p:spPr>
          <a:xfrm>
            <a:off x="9425178" y="4741164"/>
            <a:ext cx="329184" cy="182880"/>
          </a:xfrm>
          <a:prstGeom prst="roundRect">
            <a:avLst>
              <a:gd name="adj" fmla="val 30000"/>
            </a:avLst>
          </a:prstGeom>
          <a:solidFill>
            <a:srgbClr val="1B1F24"/>
          </a:solidFill>
          <a:ln w="12700">
            <a:solidFill>
              <a:srgbClr val="1B1F24"/>
            </a:solidFill>
            <a:prstDash val="solid"/>
          </a:ln>
        </p:spPr>
      </p:sp>
      <p:sp>
        <p:nvSpPr>
          <p:cNvPr id="15" name="Text 13"/>
          <p:cNvSpPr txBox="1"/>
          <p:nvPr/>
        </p:nvSpPr>
        <p:spPr>
          <a:xfrm>
            <a:off x="9315450" y="502462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6" name="Shape 14"/>
          <p:cNvSpPr/>
          <p:nvPr/>
        </p:nvSpPr>
        <p:spPr>
          <a:xfrm>
            <a:off x="10273284" y="2791206"/>
            <a:ext cx="896112" cy="475488"/>
          </a:xfrm>
          <a:prstGeom prst="roundRect">
            <a:avLst>
              <a:gd name="adj" fmla="val 25000"/>
            </a:avLst>
          </a:prstGeom>
          <a:solidFill>
            <a:srgbClr val="3B82F6"/>
          </a:solidFill>
          <a:ln w="15875">
            <a:solidFill>
              <a:srgbClr val="FFFFFF"/>
            </a:solidFill>
            <a:prstDash val="solid"/>
          </a:ln>
        </p:spPr>
      </p:sp>
      <p:sp>
        <p:nvSpPr>
          <p:cNvPr id="17" name="Shape 15"/>
          <p:cNvSpPr/>
          <p:nvPr/>
        </p:nvSpPr>
        <p:spPr>
          <a:xfrm>
            <a:off x="10456164" y="2864358"/>
            <a:ext cx="182880" cy="329184"/>
          </a:xfrm>
          <a:prstGeom prst="roundRect">
            <a:avLst>
              <a:gd name="adj" fmla="val 30000"/>
            </a:avLst>
          </a:prstGeom>
          <a:solidFill>
            <a:srgbClr val="1B1F24"/>
          </a:solidFill>
          <a:ln w="12700">
            <a:solidFill>
              <a:srgbClr val="1B1F24"/>
            </a:solidFill>
            <a:prstDash val="solid"/>
          </a:ln>
        </p:spPr>
      </p:sp>
      <p:sp>
        <p:nvSpPr>
          <p:cNvPr id="18" name="Shape 16"/>
          <p:cNvSpPr/>
          <p:nvPr/>
        </p:nvSpPr>
        <p:spPr>
          <a:xfrm>
            <a:off x="7210044" y="3591306"/>
            <a:ext cx="896112" cy="475488"/>
          </a:xfrm>
          <a:prstGeom prst="roundRect">
            <a:avLst>
              <a:gd name="adj" fmla="val 25000"/>
            </a:avLst>
          </a:prstGeom>
          <a:solidFill>
            <a:srgbClr val="12A150"/>
          </a:solidFill>
          <a:ln w="15875">
            <a:solidFill>
              <a:srgbClr val="FFFFFF"/>
            </a:solidFill>
            <a:prstDash val="solid"/>
          </a:ln>
        </p:spPr>
      </p:sp>
      <p:sp>
        <p:nvSpPr>
          <p:cNvPr id="19" name="Shape 17"/>
          <p:cNvSpPr/>
          <p:nvPr/>
        </p:nvSpPr>
        <p:spPr>
          <a:xfrm>
            <a:off x="7740396" y="3664458"/>
            <a:ext cx="182880" cy="329184"/>
          </a:xfrm>
          <a:prstGeom prst="roundRect">
            <a:avLst>
              <a:gd name="adj" fmla="val 30000"/>
            </a:avLst>
          </a:prstGeom>
          <a:solidFill>
            <a:srgbClr val="1B1F24"/>
          </a:solidFill>
          <a:ln w="12700">
            <a:solidFill>
              <a:srgbClr val="1B1F24"/>
            </a:solidFill>
            <a:prstDash val="solid"/>
          </a:ln>
        </p:spPr>
      </p:sp>
      <p:sp>
        <p:nvSpPr>
          <p:cNvPr id="20" name="Shape 18"/>
          <p:cNvSpPr/>
          <p:nvPr/>
        </p:nvSpPr>
        <p:spPr>
          <a:xfrm>
            <a:off x="7951622" y="3028950"/>
            <a:ext cx="2266798" cy="18288"/>
          </a:xfrm>
          <a:custGeom>
            <a:avLst/>
            <a:gdLst/>
            <a:ahLst/>
            <a:cxnLst/>
            <a:rect l="l" t="t" r="r" b="b"/>
            <a:pathLst>
              <a:path w="2266798" h="18288">
                <a:moveTo>
                  <a:pt x="2266798" y="0"/>
                </a:moveTo>
                <a:lnTo>
                  <a:pt x="0" y="0"/>
                </a:lnTo>
              </a:path>
            </a:pathLst>
          </a:custGeom>
          <a:noFill/>
          <a:ln w="44450">
            <a:solidFill>
              <a:srgbClr val="FFFFFF"/>
            </a:solidFill>
            <a:prstDash val="solid"/>
          </a:ln>
        </p:spPr>
      </p:sp>
      <p:sp>
        <p:nvSpPr>
          <p:cNvPr id="21" name="Shape 19"/>
          <p:cNvSpPr/>
          <p:nvPr/>
        </p:nvSpPr>
        <p:spPr>
          <a:xfrm rot="16200000">
            <a:off x="7749540" y="2910078"/>
            <a:ext cx="237744" cy="237744"/>
          </a:xfrm>
          <a:prstGeom prst="triangle">
            <a:avLst/>
          </a:prstGeom>
          <a:solidFill>
            <a:srgbClr val="FFFFFF"/>
          </a:solidFill>
          <a:ln w="12700">
            <a:solidFill>
              <a:srgbClr val="FFFFFF"/>
            </a:solidFill>
            <a:prstDash val="solid"/>
          </a:ln>
        </p:spPr>
      </p:sp>
      <p:sp>
        <p:nvSpPr>
          <p:cNvPr id="22" name="Shape 20"/>
          <p:cNvSpPr/>
          <p:nvPr/>
        </p:nvSpPr>
        <p:spPr>
          <a:xfrm>
            <a:off x="9589770" y="2190902"/>
            <a:ext cx="18288" cy="2312518"/>
          </a:xfrm>
          <a:custGeom>
            <a:avLst/>
            <a:gdLst/>
            <a:ahLst/>
            <a:cxnLst/>
            <a:rect l="l" t="t" r="r" b="b"/>
            <a:pathLst>
              <a:path w="18288" h="2312518">
                <a:moveTo>
                  <a:pt x="0" y="2312518"/>
                </a:moveTo>
                <a:lnTo>
                  <a:pt x="0" y="0"/>
                </a:lnTo>
              </a:path>
            </a:pathLst>
          </a:custGeom>
          <a:noFill/>
          <a:ln w="44450">
            <a:solidFill>
              <a:srgbClr val="FF9300"/>
            </a:solidFill>
            <a:prstDash val="dash"/>
          </a:ln>
        </p:spPr>
      </p:sp>
      <p:sp>
        <p:nvSpPr>
          <p:cNvPr id="23" name="Shape 21"/>
          <p:cNvSpPr/>
          <p:nvPr/>
        </p:nvSpPr>
        <p:spPr>
          <a:xfrm>
            <a:off x="9470898" y="1988820"/>
            <a:ext cx="237744" cy="237744"/>
          </a:xfrm>
          <a:prstGeom prst="triangle">
            <a:avLst/>
          </a:prstGeom>
          <a:solidFill>
            <a:srgbClr val="FF9300"/>
          </a:solidFill>
          <a:ln w="12700">
            <a:solidFill>
              <a:srgbClr val="FF9300"/>
            </a:solidFill>
            <a:prstDash val="solid"/>
          </a:ln>
        </p:spPr>
      </p:sp>
      <p:sp>
        <p:nvSpPr>
          <p:cNvPr id="24" name="Shape 22"/>
          <p:cNvSpPr/>
          <p:nvPr/>
        </p:nvSpPr>
        <p:spPr>
          <a:xfrm>
            <a:off x="10511028" y="2251710"/>
            <a:ext cx="420624" cy="420624"/>
          </a:xfrm>
          <a:prstGeom prst="ellipse">
            <a:avLst/>
          </a:prstGeom>
          <a:solidFill>
            <a:srgbClr val="FF9300"/>
          </a:solidFill>
          <a:ln w="19050">
            <a:solidFill>
              <a:srgbClr val="FFFFFF"/>
            </a:solidFill>
            <a:prstDash val="solid"/>
          </a:ln>
        </p:spPr>
      </p:sp>
      <p:sp>
        <p:nvSpPr>
          <p:cNvPr id="25" name="Text 23"/>
          <p:cNvSpPr txBox="1"/>
          <p:nvPr/>
        </p:nvSpPr>
        <p:spPr>
          <a:xfrm>
            <a:off x="10511028" y="2251710"/>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1</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LEKTION 5 · ÜBERBLICK</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Darum geht’s heute</a:t>
            </a:r>
            <a:endParaRPr lang="en-US" sz="3200" dirty="0"/>
          </a:p>
        </p:txBody>
      </p:sp>
      <p:sp>
        <p:nvSpPr>
          <p:cNvPr id="4" name="Shape 2"/>
          <p:cNvSpPr/>
          <p:nvPr/>
        </p:nvSpPr>
        <p:spPr>
          <a:xfrm>
            <a:off x="548640" y="1645920"/>
            <a:ext cx="5394960" cy="2103120"/>
          </a:xfrm>
          <a:prstGeom prst="roundRect">
            <a:avLst>
              <a:gd name="adj" fmla="val 7826"/>
            </a:avLst>
          </a:prstGeom>
          <a:solidFill>
            <a:srgbClr val="F1F3F6"/>
          </a:solidFill>
          <a:ln w="12700">
            <a:solidFill>
              <a:srgbClr val="F1F3F6"/>
            </a:solidFill>
            <a:prstDash val="solid"/>
          </a:ln>
        </p:spPr>
      </p:sp>
      <p:sp>
        <p:nvSpPr>
          <p:cNvPr id="5" name="Text 3"/>
          <p:cNvSpPr txBox="1"/>
          <p:nvPr/>
        </p:nvSpPr>
        <p:spPr>
          <a:xfrm>
            <a:off x="914400" y="1965960"/>
            <a:ext cx="1097280" cy="548640"/>
          </a:xfrm>
          <a:prstGeom prst="rect">
            <a:avLst/>
          </a:prstGeom>
          <a:noFill/>
          <a:ln/>
        </p:spPr>
        <p:txBody>
          <a:bodyPr wrap="square" lIns="0" tIns="0" rIns="0" bIns="0" rtlCol="0" anchor="t"/>
          <a:lstStyle/>
          <a:p>
            <a:pPr indent="0" marL="0">
              <a:buNone/>
            </a:pPr>
            <a:r>
              <a:rPr lang="en-US" sz="3000" b="1" dirty="0">
                <a:solidFill>
                  <a:srgbClr val="9E4F00"/>
                </a:solidFill>
                <a:latin typeface="Arial" pitchFamily="34" charset="0"/>
                <a:ea typeface="Arial" pitchFamily="34" charset="-122"/>
                <a:cs typeface="Arial" pitchFamily="34" charset="-120"/>
              </a:rPr>
              <a:t>01</a:t>
            </a:r>
            <a:endParaRPr lang="en-US" sz="3000" dirty="0"/>
          </a:p>
        </p:txBody>
      </p:sp>
      <p:sp>
        <p:nvSpPr>
          <p:cNvPr id="6" name="Text 4"/>
          <p:cNvSpPr txBox="1"/>
          <p:nvPr/>
        </p:nvSpPr>
        <p:spPr>
          <a:xfrm>
            <a:off x="914400" y="2542032"/>
            <a:ext cx="3566160" cy="457200"/>
          </a:xfrm>
          <a:prstGeom prst="rect">
            <a:avLst/>
          </a:prstGeom>
          <a:noFill/>
          <a:ln/>
        </p:spPr>
        <p:txBody>
          <a:bodyPr wrap="square" lIns="0" tIns="0" rIns="0" bIns="0" rtlCol="0" anchor="t"/>
          <a:lstStyle/>
          <a:p>
            <a:pPr indent="0" marL="0">
              <a:buNone/>
            </a:pPr>
            <a:r>
              <a:rPr lang="en-US" sz="2200" b="1" dirty="0">
                <a:solidFill>
                  <a:srgbClr val="15181D"/>
                </a:solidFill>
                <a:latin typeface="Arial" pitchFamily="34" charset="0"/>
                <a:ea typeface="Arial" pitchFamily="34" charset="-122"/>
                <a:cs typeface="Arial" pitchFamily="34" charset="-120"/>
              </a:rPr>
              <a:t>Rangfolge kennen</a:t>
            </a:r>
            <a:endParaRPr lang="en-US" sz="2200" dirty="0"/>
          </a:p>
        </p:txBody>
      </p:sp>
      <p:sp>
        <p:nvSpPr>
          <p:cNvPr id="7" name="Text 5"/>
          <p:cNvSpPr txBox="1"/>
          <p:nvPr/>
        </p:nvSpPr>
        <p:spPr>
          <a:xfrm>
            <a:off x="914400" y="2971800"/>
            <a:ext cx="3566160" cy="685800"/>
          </a:xfrm>
          <a:prstGeom prst="rect">
            <a:avLst/>
          </a:prstGeom>
          <a:noFill/>
          <a:ln/>
        </p:spPr>
        <p:txBody>
          <a:bodyPr wrap="square" lIns="0" tIns="0" rIns="0" bIns="0" rtlCol="0" anchor="t"/>
          <a:lstStyle/>
          <a:p>
            <a:pPr indent="0" marL="0">
              <a:buNone/>
            </a:pPr>
            <a:r>
              <a:rPr lang="en-US" sz="1600" dirty="0">
                <a:solidFill>
                  <a:srgbClr val="56606B"/>
                </a:solidFill>
                <a:latin typeface="Arial" pitchFamily="34" charset="0"/>
                <a:ea typeface="Arial" pitchFamily="34" charset="-122"/>
                <a:cs typeface="Arial" pitchFamily="34" charset="-120"/>
              </a:rPr>
              <a:t>Polizei vor Ampel vor Schild vor „rechts vor links“.</a:t>
            </a:r>
            <a:endParaRPr lang="en-US" sz="1600" dirty="0"/>
          </a:p>
        </p:txBody>
      </p:sp>
      <p:sp>
        <p:nvSpPr>
          <p:cNvPr id="8" name="Shape 6"/>
          <p:cNvSpPr/>
          <p:nvPr/>
        </p:nvSpPr>
        <p:spPr>
          <a:xfrm>
            <a:off x="4544568" y="2313432"/>
            <a:ext cx="877824" cy="219456"/>
          </a:xfrm>
          <a:prstGeom prst="roundRect">
            <a:avLst>
              <a:gd name="adj" fmla="val 25000"/>
            </a:avLst>
          </a:prstGeom>
          <a:solidFill>
            <a:srgbClr val="FF9300"/>
          </a:solidFill>
          <a:ln w="12700">
            <a:solidFill>
              <a:srgbClr val="FF9300"/>
            </a:solidFill>
            <a:prstDash val="solid"/>
          </a:ln>
        </p:spPr>
      </p:sp>
      <p:sp>
        <p:nvSpPr>
          <p:cNvPr id="9" name="Shape 7"/>
          <p:cNvSpPr/>
          <p:nvPr/>
        </p:nvSpPr>
        <p:spPr>
          <a:xfrm>
            <a:off x="4544568" y="2624328"/>
            <a:ext cx="676656" cy="219456"/>
          </a:xfrm>
          <a:prstGeom prst="roundRect">
            <a:avLst>
              <a:gd name="adj" fmla="val 25000"/>
            </a:avLst>
          </a:prstGeom>
          <a:solidFill>
            <a:srgbClr val="C9D0D8"/>
          </a:solidFill>
          <a:ln w="12700">
            <a:solidFill>
              <a:srgbClr val="C9D0D8"/>
            </a:solidFill>
            <a:prstDash val="solid"/>
          </a:ln>
        </p:spPr>
      </p:sp>
      <p:sp>
        <p:nvSpPr>
          <p:cNvPr id="10" name="Shape 8"/>
          <p:cNvSpPr/>
          <p:nvPr/>
        </p:nvSpPr>
        <p:spPr>
          <a:xfrm>
            <a:off x="4544568" y="2935224"/>
            <a:ext cx="475488" cy="219456"/>
          </a:xfrm>
          <a:prstGeom prst="roundRect">
            <a:avLst>
              <a:gd name="adj" fmla="val 25000"/>
            </a:avLst>
          </a:prstGeom>
          <a:solidFill>
            <a:srgbClr val="C9D0D8"/>
          </a:solidFill>
          <a:ln w="12700">
            <a:solidFill>
              <a:srgbClr val="C9D0D8"/>
            </a:solidFill>
            <a:prstDash val="solid"/>
          </a:ln>
        </p:spPr>
      </p:sp>
      <p:sp>
        <p:nvSpPr>
          <p:cNvPr id="11" name="Shape 9"/>
          <p:cNvSpPr/>
          <p:nvPr/>
        </p:nvSpPr>
        <p:spPr>
          <a:xfrm>
            <a:off x="6245352" y="1645920"/>
            <a:ext cx="5394960" cy="2103120"/>
          </a:xfrm>
          <a:prstGeom prst="roundRect">
            <a:avLst>
              <a:gd name="adj" fmla="val 7826"/>
            </a:avLst>
          </a:prstGeom>
          <a:solidFill>
            <a:srgbClr val="F1F3F6"/>
          </a:solidFill>
          <a:ln w="12700">
            <a:solidFill>
              <a:srgbClr val="F1F3F6"/>
            </a:solidFill>
            <a:prstDash val="solid"/>
          </a:ln>
        </p:spPr>
      </p:sp>
      <p:sp>
        <p:nvSpPr>
          <p:cNvPr id="12" name="Text 10"/>
          <p:cNvSpPr txBox="1"/>
          <p:nvPr/>
        </p:nvSpPr>
        <p:spPr>
          <a:xfrm>
            <a:off x="6611112" y="1965960"/>
            <a:ext cx="1097280" cy="548640"/>
          </a:xfrm>
          <a:prstGeom prst="rect">
            <a:avLst/>
          </a:prstGeom>
          <a:noFill/>
          <a:ln/>
        </p:spPr>
        <p:txBody>
          <a:bodyPr wrap="square" lIns="0" tIns="0" rIns="0" bIns="0" rtlCol="0" anchor="t"/>
          <a:lstStyle/>
          <a:p>
            <a:pPr indent="0" marL="0">
              <a:buNone/>
            </a:pPr>
            <a:r>
              <a:rPr lang="en-US" sz="3000" b="1" dirty="0">
                <a:solidFill>
                  <a:srgbClr val="9E4F00"/>
                </a:solidFill>
                <a:latin typeface="Arial" pitchFamily="34" charset="0"/>
                <a:ea typeface="Arial" pitchFamily="34" charset="-122"/>
                <a:cs typeface="Arial" pitchFamily="34" charset="-120"/>
              </a:rPr>
              <a:t>02</a:t>
            </a:r>
            <a:endParaRPr lang="en-US" sz="3000" dirty="0"/>
          </a:p>
        </p:txBody>
      </p:sp>
      <p:sp>
        <p:nvSpPr>
          <p:cNvPr id="13" name="Text 11"/>
          <p:cNvSpPr txBox="1"/>
          <p:nvPr/>
        </p:nvSpPr>
        <p:spPr>
          <a:xfrm>
            <a:off x="6611112" y="2542032"/>
            <a:ext cx="3566160" cy="457200"/>
          </a:xfrm>
          <a:prstGeom prst="rect">
            <a:avLst/>
          </a:prstGeom>
          <a:noFill/>
          <a:ln/>
        </p:spPr>
        <p:txBody>
          <a:bodyPr wrap="square" lIns="0" tIns="0" rIns="0" bIns="0" rtlCol="0" anchor="t"/>
          <a:lstStyle/>
          <a:p>
            <a:pPr indent="0" marL="0">
              <a:buNone/>
            </a:pPr>
            <a:r>
              <a:rPr lang="en-US" sz="2200" b="1" dirty="0">
                <a:solidFill>
                  <a:srgbClr val="15181D"/>
                </a:solidFill>
                <a:latin typeface="Arial" pitchFamily="34" charset="0"/>
                <a:ea typeface="Arial" pitchFamily="34" charset="-122"/>
                <a:cs typeface="Arial" pitchFamily="34" charset="-120"/>
              </a:rPr>
              <a:t>Kreuzungen lesen</a:t>
            </a:r>
            <a:endParaRPr lang="en-US" sz="2200" dirty="0"/>
          </a:p>
        </p:txBody>
      </p:sp>
      <p:sp>
        <p:nvSpPr>
          <p:cNvPr id="14" name="Text 12"/>
          <p:cNvSpPr txBox="1"/>
          <p:nvPr/>
        </p:nvSpPr>
        <p:spPr>
          <a:xfrm>
            <a:off x="6611112" y="2971800"/>
            <a:ext cx="3566160" cy="685800"/>
          </a:xfrm>
          <a:prstGeom prst="rect">
            <a:avLst/>
          </a:prstGeom>
          <a:noFill/>
          <a:ln/>
        </p:spPr>
        <p:txBody>
          <a:bodyPr wrap="square" lIns="0" tIns="0" rIns="0" bIns="0" rtlCol="0" anchor="t"/>
          <a:lstStyle/>
          <a:p>
            <a:pPr indent="0" marL="0">
              <a:buNone/>
            </a:pPr>
            <a:r>
              <a:rPr lang="en-US" sz="1600" dirty="0">
                <a:solidFill>
                  <a:srgbClr val="56606B"/>
                </a:solidFill>
                <a:latin typeface="Arial" pitchFamily="34" charset="0"/>
                <a:ea typeface="Arial" pitchFamily="34" charset="-122"/>
                <a:cs typeface="Arial" pitchFamily="34" charset="-120"/>
              </a:rPr>
              <a:t>Rechts vor links, Vorfahrtszeichen, abknickende Vorfahrt, Kreisverkehr.</a:t>
            </a:r>
            <a:endParaRPr lang="en-US" sz="1600" dirty="0"/>
          </a:p>
        </p:txBody>
      </p:sp>
      <p:sp>
        <p:nvSpPr>
          <p:cNvPr id="15" name="Shape 13"/>
          <p:cNvSpPr/>
          <p:nvPr/>
        </p:nvSpPr>
        <p:spPr>
          <a:xfrm rot="10800000">
            <a:off x="10245852" y="2315261"/>
            <a:ext cx="868680" cy="764438"/>
          </a:xfrm>
          <a:prstGeom prst="triangle">
            <a:avLst/>
          </a:prstGeom>
          <a:solidFill>
            <a:srgbClr val="FFFFFF"/>
          </a:solidFill>
          <a:ln w="96520">
            <a:solidFill>
              <a:srgbClr val="D7261E"/>
            </a:solidFill>
            <a:prstDash val="solid"/>
          </a:ln>
        </p:spPr>
      </p:sp>
      <p:sp>
        <p:nvSpPr>
          <p:cNvPr id="16" name="Shape 14"/>
          <p:cNvSpPr/>
          <p:nvPr/>
        </p:nvSpPr>
        <p:spPr>
          <a:xfrm>
            <a:off x="548640" y="4023360"/>
            <a:ext cx="5394960" cy="2103120"/>
          </a:xfrm>
          <a:prstGeom prst="roundRect">
            <a:avLst>
              <a:gd name="adj" fmla="val 7826"/>
            </a:avLst>
          </a:prstGeom>
          <a:solidFill>
            <a:srgbClr val="F1F3F6"/>
          </a:solidFill>
          <a:ln w="12700">
            <a:solidFill>
              <a:srgbClr val="F1F3F6"/>
            </a:solidFill>
            <a:prstDash val="solid"/>
          </a:ln>
        </p:spPr>
      </p:sp>
      <p:sp>
        <p:nvSpPr>
          <p:cNvPr id="17" name="Text 15"/>
          <p:cNvSpPr txBox="1"/>
          <p:nvPr/>
        </p:nvSpPr>
        <p:spPr>
          <a:xfrm>
            <a:off x="914400" y="4343400"/>
            <a:ext cx="1097280" cy="548640"/>
          </a:xfrm>
          <a:prstGeom prst="rect">
            <a:avLst/>
          </a:prstGeom>
          <a:noFill/>
          <a:ln/>
        </p:spPr>
        <p:txBody>
          <a:bodyPr wrap="square" lIns="0" tIns="0" rIns="0" bIns="0" rtlCol="0" anchor="t"/>
          <a:lstStyle/>
          <a:p>
            <a:pPr indent="0" marL="0">
              <a:buNone/>
            </a:pPr>
            <a:r>
              <a:rPr lang="en-US" sz="3000" b="1" dirty="0">
                <a:solidFill>
                  <a:srgbClr val="9E4F00"/>
                </a:solidFill>
                <a:latin typeface="Arial" pitchFamily="34" charset="0"/>
                <a:ea typeface="Arial" pitchFamily="34" charset="-122"/>
                <a:cs typeface="Arial" pitchFamily="34" charset="-120"/>
              </a:rPr>
              <a:t>03</a:t>
            </a:r>
            <a:endParaRPr lang="en-US" sz="3000" dirty="0"/>
          </a:p>
        </p:txBody>
      </p:sp>
      <p:sp>
        <p:nvSpPr>
          <p:cNvPr id="18" name="Text 16"/>
          <p:cNvSpPr txBox="1"/>
          <p:nvPr/>
        </p:nvSpPr>
        <p:spPr>
          <a:xfrm>
            <a:off x="914400" y="4919472"/>
            <a:ext cx="3566160" cy="457200"/>
          </a:xfrm>
          <a:prstGeom prst="rect">
            <a:avLst/>
          </a:prstGeom>
          <a:noFill/>
          <a:ln/>
        </p:spPr>
        <p:txBody>
          <a:bodyPr wrap="square" lIns="0" tIns="0" rIns="0" bIns="0" rtlCol="0" anchor="t"/>
          <a:lstStyle/>
          <a:p>
            <a:pPr indent="0" marL="0">
              <a:buNone/>
            </a:pPr>
            <a:r>
              <a:rPr lang="en-US" sz="2200" b="1" dirty="0">
                <a:solidFill>
                  <a:srgbClr val="15181D"/>
                </a:solidFill>
                <a:latin typeface="Arial" pitchFamily="34" charset="0"/>
                <a:ea typeface="Arial" pitchFamily="34" charset="-122"/>
                <a:cs typeface="Arial" pitchFamily="34" charset="-120"/>
              </a:rPr>
              <a:t>Ampel und Polizei</a:t>
            </a:r>
            <a:endParaRPr lang="en-US" sz="2200" dirty="0"/>
          </a:p>
        </p:txBody>
      </p:sp>
      <p:sp>
        <p:nvSpPr>
          <p:cNvPr id="19" name="Text 17"/>
          <p:cNvSpPr txBox="1"/>
          <p:nvPr/>
        </p:nvSpPr>
        <p:spPr>
          <a:xfrm>
            <a:off x="914400" y="5349240"/>
            <a:ext cx="3566160" cy="685800"/>
          </a:xfrm>
          <a:prstGeom prst="rect">
            <a:avLst/>
          </a:prstGeom>
          <a:noFill/>
          <a:ln/>
        </p:spPr>
        <p:txBody>
          <a:bodyPr wrap="square" lIns="0" tIns="0" rIns="0" bIns="0" rtlCol="0" anchor="t"/>
          <a:lstStyle/>
          <a:p>
            <a:pPr indent="0" marL="0">
              <a:buNone/>
            </a:pPr>
            <a:r>
              <a:rPr lang="en-US" sz="1600" dirty="0">
                <a:solidFill>
                  <a:srgbClr val="56606B"/>
                </a:solidFill>
                <a:latin typeface="Arial" pitchFamily="34" charset="0"/>
                <a:ea typeface="Arial" pitchFamily="34" charset="-122"/>
                <a:cs typeface="Arial" pitchFamily="34" charset="-120"/>
              </a:rPr>
              <a:t>Lichtzeichen, Grünpfeil und Handzeichen sicher deuten.</a:t>
            </a:r>
            <a:endParaRPr lang="en-US" sz="1600" dirty="0"/>
          </a:p>
        </p:txBody>
      </p:sp>
      <p:sp>
        <p:nvSpPr>
          <p:cNvPr id="20" name="Shape 18"/>
          <p:cNvSpPr/>
          <p:nvPr/>
        </p:nvSpPr>
        <p:spPr>
          <a:xfrm>
            <a:off x="4800600" y="4572000"/>
            <a:ext cx="382219" cy="1005840"/>
          </a:xfrm>
          <a:prstGeom prst="roundRect">
            <a:avLst>
              <a:gd name="adj" fmla="val 28708"/>
            </a:avLst>
          </a:prstGeom>
          <a:solidFill>
            <a:srgbClr val="1E2228"/>
          </a:solidFill>
          <a:ln w="12700">
            <a:solidFill>
              <a:srgbClr val="3A3F46"/>
            </a:solidFill>
            <a:prstDash val="solid"/>
          </a:ln>
        </p:spPr>
      </p:sp>
      <p:sp>
        <p:nvSpPr>
          <p:cNvPr id="21" name="Shape 19"/>
          <p:cNvSpPr/>
          <p:nvPr/>
        </p:nvSpPr>
        <p:spPr>
          <a:xfrm>
            <a:off x="4861755" y="4643213"/>
            <a:ext cx="259909" cy="259909"/>
          </a:xfrm>
          <a:prstGeom prst="ellipse">
            <a:avLst/>
          </a:prstGeom>
          <a:solidFill>
            <a:srgbClr val="3A3F46"/>
          </a:solidFill>
          <a:ln w="12700">
            <a:solidFill>
              <a:srgbClr val="3A3F46"/>
            </a:solidFill>
            <a:prstDash val="solid"/>
          </a:ln>
        </p:spPr>
      </p:sp>
      <p:sp>
        <p:nvSpPr>
          <p:cNvPr id="22" name="Shape 20"/>
          <p:cNvSpPr/>
          <p:nvPr/>
        </p:nvSpPr>
        <p:spPr>
          <a:xfrm>
            <a:off x="4861755" y="4944965"/>
            <a:ext cx="259909" cy="259909"/>
          </a:xfrm>
          <a:prstGeom prst="ellipse">
            <a:avLst/>
          </a:prstGeom>
          <a:solidFill>
            <a:srgbClr val="3A3F46"/>
          </a:solidFill>
          <a:ln w="12700">
            <a:solidFill>
              <a:srgbClr val="3A3F46"/>
            </a:solidFill>
            <a:prstDash val="solid"/>
          </a:ln>
        </p:spPr>
      </p:sp>
      <p:sp>
        <p:nvSpPr>
          <p:cNvPr id="23" name="Shape 21"/>
          <p:cNvSpPr/>
          <p:nvPr/>
        </p:nvSpPr>
        <p:spPr>
          <a:xfrm>
            <a:off x="4861755" y="5246717"/>
            <a:ext cx="259909" cy="259909"/>
          </a:xfrm>
          <a:prstGeom prst="ellipse">
            <a:avLst/>
          </a:prstGeom>
          <a:solidFill>
            <a:srgbClr val="19B45A"/>
          </a:solidFill>
          <a:ln w="12700">
            <a:solidFill>
              <a:srgbClr val="19B45A"/>
            </a:solidFill>
            <a:prstDash val="solid"/>
          </a:ln>
        </p:spPr>
      </p:sp>
      <p:sp>
        <p:nvSpPr>
          <p:cNvPr id="24" name="Shape 22"/>
          <p:cNvSpPr/>
          <p:nvPr/>
        </p:nvSpPr>
        <p:spPr>
          <a:xfrm>
            <a:off x="6245352" y="4023360"/>
            <a:ext cx="5394960" cy="2103120"/>
          </a:xfrm>
          <a:prstGeom prst="roundRect">
            <a:avLst>
              <a:gd name="adj" fmla="val 7826"/>
            </a:avLst>
          </a:prstGeom>
          <a:solidFill>
            <a:srgbClr val="F1F3F6"/>
          </a:solidFill>
          <a:ln w="12700">
            <a:solidFill>
              <a:srgbClr val="F1F3F6"/>
            </a:solidFill>
            <a:prstDash val="solid"/>
          </a:ln>
        </p:spPr>
      </p:sp>
      <p:sp>
        <p:nvSpPr>
          <p:cNvPr id="25" name="Text 23"/>
          <p:cNvSpPr txBox="1"/>
          <p:nvPr/>
        </p:nvSpPr>
        <p:spPr>
          <a:xfrm>
            <a:off x="6611112" y="4343400"/>
            <a:ext cx="1097280" cy="548640"/>
          </a:xfrm>
          <a:prstGeom prst="rect">
            <a:avLst/>
          </a:prstGeom>
          <a:noFill/>
          <a:ln/>
        </p:spPr>
        <p:txBody>
          <a:bodyPr wrap="square" lIns="0" tIns="0" rIns="0" bIns="0" rtlCol="0" anchor="t"/>
          <a:lstStyle/>
          <a:p>
            <a:pPr indent="0" marL="0">
              <a:buNone/>
            </a:pPr>
            <a:r>
              <a:rPr lang="en-US" sz="3000" b="1" dirty="0">
                <a:solidFill>
                  <a:srgbClr val="9E4F00"/>
                </a:solidFill>
                <a:latin typeface="Arial" pitchFamily="34" charset="0"/>
                <a:ea typeface="Arial" pitchFamily="34" charset="-122"/>
                <a:cs typeface="Arial" pitchFamily="34" charset="-120"/>
              </a:rPr>
              <a:t>04</a:t>
            </a:r>
            <a:endParaRPr lang="en-US" sz="3000" dirty="0"/>
          </a:p>
        </p:txBody>
      </p:sp>
      <p:sp>
        <p:nvSpPr>
          <p:cNvPr id="26" name="Text 24"/>
          <p:cNvSpPr txBox="1"/>
          <p:nvPr/>
        </p:nvSpPr>
        <p:spPr>
          <a:xfrm>
            <a:off x="6611112" y="4919472"/>
            <a:ext cx="3566160" cy="457200"/>
          </a:xfrm>
          <a:prstGeom prst="rect">
            <a:avLst/>
          </a:prstGeom>
          <a:noFill/>
          <a:ln/>
        </p:spPr>
        <p:txBody>
          <a:bodyPr wrap="square" lIns="0" tIns="0" rIns="0" bIns="0" rtlCol="0" anchor="t"/>
          <a:lstStyle/>
          <a:p>
            <a:pPr indent="0" marL="0">
              <a:buNone/>
            </a:pPr>
            <a:r>
              <a:rPr lang="en-US" sz="2200" b="1" dirty="0">
                <a:solidFill>
                  <a:srgbClr val="15181D"/>
                </a:solidFill>
                <a:latin typeface="Arial" pitchFamily="34" charset="0"/>
                <a:ea typeface="Arial" pitchFamily="34" charset="-122"/>
                <a:cs typeface="Arial" pitchFamily="34" charset="-120"/>
              </a:rPr>
              <a:t>Fair fahren</a:t>
            </a:r>
            <a:endParaRPr lang="en-US" sz="2200" dirty="0"/>
          </a:p>
        </p:txBody>
      </p:sp>
      <p:sp>
        <p:nvSpPr>
          <p:cNvPr id="27" name="Text 25"/>
          <p:cNvSpPr txBox="1"/>
          <p:nvPr/>
        </p:nvSpPr>
        <p:spPr>
          <a:xfrm>
            <a:off x="6611112" y="5349240"/>
            <a:ext cx="3566160" cy="685800"/>
          </a:xfrm>
          <a:prstGeom prst="rect">
            <a:avLst/>
          </a:prstGeom>
          <a:noFill/>
          <a:ln/>
        </p:spPr>
        <p:txBody>
          <a:bodyPr wrap="square" lIns="0" tIns="0" rIns="0" bIns="0" rtlCol="0" anchor="t"/>
          <a:lstStyle/>
          <a:p>
            <a:pPr indent="0" marL="0">
              <a:buNone/>
            </a:pPr>
            <a:r>
              <a:rPr lang="en-US" sz="1600" dirty="0">
                <a:solidFill>
                  <a:srgbClr val="56606B"/>
                </a:solidFill>
                <a:latin typeface="Arial" pitchFamily="34" charset="0"/>
                <a:ea typeface="Arial" pitchFamily="34" charset="-122"/>
                <a:cs typeface="Arial" pitchFamily="34" charset="-120"/>
              </a:rPr>
              <a:t>Wartepflicht zeigen, sich verständigen – und auch mal verzichten.</a:t>
            </a:r>
            <a:endParaRPr lang="en-US" sz="1600" dirty="0"/>
          </a:p>
        </p:txBody>
      </p:sp>
      <p:sp>
        <p:nvSpPr>
          <p:cNvPr id="28" name="Shape 26"/>
          <p:cNvSpPr/>
          <p:nvPr/>
        </p:nvSpPr>
        <p:spPr>
          <a:xfrm>
            <a:off x="10168128" y="4709160"/>
            <a:ext cx="384048" cy="731520"/>
          </a:xfrm>
          <a:prstGeom prst="roundRect">
            <a:avLst>
              <a:gd name="adj" fmla="val 30952"/>
            </a:avLst>
          </a:prstGeom>
          <a:solidFill>
            <a:srgbClr val="3B82F6"/>
          </a:solidFill>
          <a:ln w="15875">
            <a:solidFill>
              <a:srgbClr val="FFFFFF"/>
            </a:solidFill>
            <a:prstDash val="solid"/>
          </a:ln>
        </p:spPr>
      </p:sp>
      <p:sp>
        <p:nvSpPr>
          <p:cNvPr id="29" name="Shape 27"/>
          <p:cNvSpPr/>
          <p:nvPr/>
        </p:nvSpPr>
        <p:spPr>
          <a:xfrm>
            <a:off x="10241280" y="4892040"/>
            <a:ext cx="237744" cy="182880"/>
          </a:xfrm>
          <a:prstGeom prst="roundRect">
            <a:avLst>
              <a:gd name="adj" fmla="val 30000"/>
            </a:avLst>
          </a:prstGeom>
          <a:solidFill>
            <a:srgbClr val="1B1F24"/>
          </a:solidFill>
          <a:ln w="12700">
            <a:solidFill>
              <a:srgbClr val="1B1F24"/>
            </a:solidFill>
            <a:prstDash val="solid"/>
          </a:ln>
        </p:spPr>
      </p:sp>
      <p:sp>
        <p:nvSpPr>
          <p:cNvPr id="30" name="Shape 28"/>
          <p:cNvSpPr/>
          <p:nvPr/>
        </p:nvSpPr>
        <p:spPr>
          <a:xfrm>
            <a:off x="10808208" y="4709160"/>
            <a:ext cx="384048" cy="731520"/>
          </a:xfrm>
          <a:prstGeom prst="roundRect">
            <a:avLst>
              <a:gd name="adj" fmla="val 30952"/>
            </a:avLst>
          </a:prstGeom>
          <a:solidFill>
            <a:srgbClr val="FF9300"/>
          </a:solidFill>
          <a:ln w="15875">
            <a:solidFill>
              <a:srgbClr val="FFFFFF"/>
            </a:solidFill>
            <a:prstDash val="solid"/>
          </a:ln>
        </p:spPr>
      </p:sp>
      <p:sp>
        <p:nvSpPr>
          <p:cNvPr id="31" name="Shape 29"/>
          <p:cNvSpPr/>
          <p:nvPr/>
        </p:nvSpPr>
        <p:spPr>
          <a:xfrm>
            <a:off x="10881360" y="5074920"/>
            <a:ext cx="237744" cy="182880"/>
          </a:xfrm>
          <a:prstGeom prst="roundRect">
            <a:avLst>
              <a:gd name="adj" fmla="val 30000"/>
            </a:avLst>
          </a:prstGeom>
          <a:solidFill>
            <a:srgbClr val="1B1F24"/>
          </a:solidFill>
          <a:ln w="12700">
            <a:solidFill>
              <a:srgbClr val="1B1F24"/>
            </a:solidFill>
            <a:prstDash val="solid"/>
          </a:ln>
        </p:spPr>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WARUM DAS SO WICHTIG IST</a:t>
            </a:r>
            <a:endParaRPr lang="en-US" sz="1200" dirty="0"/>
          </a:p>
        </p:txBody>
      </p:sp>
      <p:sp>
        <p:nvSpPr>
          <p:cNvPr id="3" name="Text 1"/>
          <p:cNvSpPr txBox="1"/>
          <p:nvPr/>
        </p:nvSpPr>
        <p:spPr>
          <a:xfrm>
            <a:off x="502920" y="868680"/>
            <a:ext cx="5486400" cy="2103120"/>
          </a:xfrm>
          <a:prstGeom prst="rect">
            <a:avLst/>
          </a:prstGeom>
          <a:noFill/>
          <a:ln/>
        </p:spPr>
        <p:txBody>
          <a:bodyPr wrap="square" lIns="0" tIns="0" rIns="0" bIns="0" rtlCol="0" anchor="t"/>
          <a:lstStyle/>
          <a:p>
            <a:pPr indent="0" marL="0">
              <a:buNone/>
            </a:pPr>
            <a:r>
              <a:rPr lang="en-US" sz="15000" b="1" dirty="0">
                <a:solidFill>
                  <a:srgbClr val="FF9300"/>
                </a:solidFill>
                <a:latin typeface="Arial" pitchFamily="34" charset="0"/>
                <a:ea typeface="Arial" pitchFamily="34" charset="-122"/>
                <a:cs typeface="Arial" pitchFamily="34" charset="-120"/>
              </a:rPr>
              <a:t>57 %</a:t>
            </a:r>
            <a:endParaRPr lang="en-US" sz="15000" dirty="0"/>
          </a:p>
        </p:txBody>
      </p:sp>
      <p:sp>
        <p:nvSpPr>
          <p:cNvPr id="4" name="Text 2"/>
          <p:cNvSpPr txBox="1"/>
          <p:nvPr/>
        </p:nvSpPr>
        <p:spPr>
          <a:xfrm>
            <a:off x="5852160" y="1143000"/>
            <a:ext cx="5760720" cy="1737360"/>
          </a:xfrm>
          <a:prstGeom prst="rect">
            <a:avLst/>
          </a:prstGeom>
          <a:noFill/>
          <a:ln/>
        </p:spPr>
        <p:txBody>
          <a:bodyPr wrap="square" lIns="0" tIns="0" rIns="0" bIns="0" rtlCol="0" anchor="t"/>
          <a:lstStyle/>
          <a:p>
            <a:pPr indent="0" marL="0">
              <a:lnSpc>
                <a:spcPct val="105000"/>
              </a:lnSpc>
              <a:buNone/>
            </a:pPr>
            <a:r>
              <a:rPr lang="en-US" sz="2600" b="1" dirty="0">
                <a:solidFill>
                  <a:srgbClr val="FFFFFF"/>
                </a:solidFill>
                <a:latin typeface="Arial" pitchFamily="34" charset="0"/>
                <a:ea typeface="Arial" pitchFamily="34" charset="-122"/>
                <a:cs typeface="Arial" pitchFamily="34" charset="-120"/>
              </a:rPr>
              <a:t>aller Fehler, die in der praktischen Prüfung zum Durchfallen führen, passieren an Kreuzungen, Einmündungen und beim Einfahren.</a:t>
            </a:r>
            <a:endParaRPr lang="en-US" sz="2600" dirty="0"/>
          </a:p>
        </p:txBody>
      </p:sp>
      <p:sp>
        <p:nvSpPr>
          <p:cNvPr id="5" name="Shape 3"/>
          <p:cNvSpPr/>
          <p:nvPr/>
        </p:nvSpPr>
        <p:spPr>
          <a:xfrm>
            <a:off x="548640" y="3794760"/>
            <a:ext cx="6350279" cy="566928"/>
          </a:xfrm>
          <a:prstGeom prst="rect">
            <a:avLst/>
          </a:prstGeom>
          <a:solidFill>
            <a:srgbClr val="FF9300"/>
          </a:solidFill>
          <a:ln w="12700">
            <a:solidFill>
              <a:srgbClr val="FF9300"/>
            </a:solidFill>
            <a:prstDash val="solid"/>
          </a:ln>
        </p:spPr>
      </p:sp>
      <p:sp>
        <p:nvSpPr>
          <p:cNvPr id="6" name="Shape 4"/>
          <p:cNvSpPr/>
          <p:nvPr/>
        </p:nvSpPr>
        <p:spPr>
          <a:xfrm>
            <a:off x="6926351" y="3794760"/>
            <a:ext cx="2556928" cy="566928"/>
          </a:xfrm>
          <a:prstGeom prst="rect">
            <a:avLst/>
          </a:prstGeom>
          <a:solidFill>
            <a:srgbClr val="7C8794"/>
          </a:solidFill>
          <a:ln w="12700">
            <a:solidFill>
              <a:srgbClr val="7C8794"/>
            </a:solidFill>
            <a:prstDash val="solid"/>
          </a:ln>
        </p:spPr>
      </p:sp>
      <p:sp>
        <p:nvSpPr>
          <p:cNvPr id="7" name="Shape 5"/>
          <p:cNvSpPr/>
          <p:nvPr/>
        </p:nvSpPr>
        <p:spPr>
          <a:xfrm>
            <a:off x="9510711" y="3794760"/>
            <a:ext cx="1037369" cy="566928"/>
          </a:xfrm>
          <a:prstGeom prst="rect">
            <a:avLst/>
          </a:prstGeom>
          <a:solidFill>
            <a:srgbClr val="57616D"/>
          </a:solidFill>
          <a:ln w="12700">
            <a:solidFill>
              <a:srgbClr val="57616D"/>
            </a:solidFill>
            <a:prstDash val="solid"/>
          </a:ln>
        </p:spPr>
      </p:sp>
      <p:sp>
        <p:nvSpPr>
          <p:cNvPr id="8" name="Shape 6"/>
          <p:cNvSpPr/>
          <p:nvPr/>
        </p:nvSpPr>
        <p:spPr>
          <a:xfrm>
            <a:off x="10575511" y="3794760"/>
            <a:ext cx="1037369" cy="566928"/>
          </a:xfrm>
          <a:prstGeom prst="rect">
            <a:avLst/>
          </a:prstGeom>
          <a:solidFill>
            <a:srgbClr val="3A424C"/>
          </a:solidFill>
          <a:ln w="12700">
            <a:solidFill>
              <a:srgbClr val="3A424C"/>
            </a:solidFill>
            <a:prstDash val="solid"/>
          </a:ln>
        </p:spPr>
      </p:sp>
      <p:sp>
        <p:nvSpPr>
          <p:cNvPr id="9" name="Text 7"/>
          <p:cNvSpPr txBox="1"/>
          <p:nvPr/>
        </p:nvSpPr>
        <p:spPr>
          <a:xfrm>
            <a:off x="640080" y="3904488"/>
            <a:ext cx="6194831" cy="365760"/>
          </a:xfrm>
          <a:prstGeom prst="rect">
            <a:avLst/>
          </a:prstGeom>
          <a:noFill/>
          <a:ln/>
        </p:spPr>
        <p:txBody>
          <a:bodyPr wrap="square" lIns="0" tIns="0" rIns="0" bIns="0" rtlCol="0" anchor="t"/>
          <a:lstStyle/>
          <a:p>
            <a:pPr indent="0" marL="0">
              <a:buNone/>
            </a:pPr>
            <a:r>
              <a:rPr lang="en-US" sz="1600" b="1" dirty="0">
                <a:solidFill>
                  <a:srgbClr val="15181D"/>
                </a:solidFill>
                <a:latin typeface="Arial" pitchFamily="34" charset="0"/>
                <a:ea typeface="Arial" pitchFamily="34" charset="-122"/>
                <a:cs typeface="Arial" pitchFamily="34" charset="-120"/>
              </a:rPr>
              <a:t>57,5 %</a:t>
            </a:r>
            <a:endParaRPr lang="en-US" sz="1600" dirty="0"/>
          </a:p>
        </p:txBody>
      </p:sp>
      <p:sp>
        <p:nvSpPr>
          <p:cNvPr id="10" name="Text 8"/>
          <p:cNvSpPr txBox="1"/>
          <p:nvPr/>
        </p:nvSpPr>
        <p:spPr>
          <a:xfrm>
            <a:off x="566928" y="4471416"/>
            <a:ext cx="6286271" cy="320040"/>
          </a:xfrm>
          <a:prstGeom prst="rect">
            <a:avLst/>
          </a:prstGeom>
          <a:noFill/>
          <a:ln/>
        </p:spPr>
        <p:txBody>
          <a:bodyPr wrap="square" lIns="0" tIns="0" rIns="0" bIns="0" rtlCol="0" anchor="t"/>
          <a:lstStyle/>
          <a:p>
            <a:pPr indent="0" marL="0">
              <a:buNone/>
            </a:pPr>
            <a:r>
              <a:rPr lang="en-US" sz="1400" dirty="0">
                <a:solidFill>
                  <a:srgbClr val="A3ACB7"/>
                </a:solidFill>
                <a:latin typeface="Arial" pitchFamily="34" charset="0"/>
                <a:ea typeface="Arial" pitchFamily="34" charset="-122"/>
                <a:cs typeface="Arial" pitchFamily="34" charset="-120"/>
              </a:rPr>
              <a:t>Kreuzung, Einmündung, Einfahren</a:t>
            </a:r>
            <a:endParaRPr lang="en-US" sz="1400" dirty="0"/>
          </a:p>
        </p:txBody>
      </p:sp>
      <p:sp>
        <p:nvSpPr>
          <p:cNvPr id="11" name="Text 9"/>
          <p:cNvSpPr txBox="1"/>
          <p:nvPr/>
        </p:nvSpPr>
        <p:spPr>
          <a:xfrm>
            <a:off x="7017791" y="3904488"/>
            <a:ext cx="240148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23,3 %</a:t>
            </a:r>
            <a:endParaRPr lang="en-US" sz="1600" dirty="0"/>
          </a:p>
        </p:txBody>
      </p:sp>
      <p:sp>
        <p:nvSpPr>
          <p:cNvPr id="12" name="Text 10"/>
          <p:cNvSpPr txBox="1"/>
          <p:nvPr/>
        </p:nvSpPr>
        <p:spPr>
          <a:xfrm>
            <a:off x="6944639" y="4471416"/>
            <a:ext cx="2492920" cy="320040"/>
          </a:xfrm>
          <a:prstGeom prst="rect">
            <a:avLst/>
          </a:prstGeom>
          <a:noFill/>
          <a:ln/>
        </p:spPr>
        <p:txBody>
          <a:bodyPr wrap="square" lIns="0" tIns="0" rIns="0" bIns="0" rtlCol="0" anchor="t"/>
          <a:lstStyle/>
          <a:p>
            <a:pPr indent="0" marL="0">
              <a:buNone/>
            </a:pPr>
            <a:r>
              <a:rPr lang="en-US" sz="1400" dirty="0">
                <a:solidFill>
                  <a:srgbClr val="A3ACB7"/>
                </a:solidFill>
                <a:latin typeface="Arial" pitchFamily="34" charset="0"/>
                <a:ea typeface="Arial" pitchFamily="34" charset="-122"/>
                <a:cs typeface="Arial" pitchFamily="34" charset="-120"/>
              </a:rPr>
              <a:t>Geradeausfahren</a:t>
            </a:r>
            <a:endParaRPr lang="en-US" sz="1400" dirty="0"/>
          </a:p>
        </p:txBody>
      </p:sp>
      <p:sp>
        <p:nvSpPr>
          <p:cNvPr id="13" name="Text 11"/>
          <p:cNvSpPr txBox="1"/>
          <p:nvPr/>
        </p:nvSpPr>
        <p:spPr>
          <a:xfrm>
            <a:off x="9602151" y="3904488"/>
            <a:ext cx="881921"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9,6 %</a:t>
            </a:r>
            <a:endParaRPr lang="en-US" sz="1600" dirty="0"/>
          </a:p>
        </p:txBody>
      </p:sp>
      <p:sp>
        <p:nvSpPr>
          <p:cNvPr id="14" name="Text 12"/>
          <p:cNvSpPr txBox="1"/>
          <p:nvPr/>
        </p:nvSpPr>
        <p:spPr>
          <a:xfrm>
            <a:off x="10666951" y="3904488"/>
            <a:ext cx="881921"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9,6 %</a:t>
            </a:r>
            <a:endParaRPr lang="en-US" sz="1600" dirty="0"/>
          </a:p>
        </p:txBody>
      </p:sp>
      <p:sp>
        <p:nvSpPr>
          <p:cNvPr id="15" name="Text 13"/>
          <p:cNvSpPr txBox="1"/>
          <p:nvPr/>
        </p:nvSpPr>
        <p:spPr>
          <a:xfrm>
            <a:off x="548640" y="4983480"/>
            <a:ext cx="1097280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Häufigster Einzelfehler überhaupt: Vorfahrt oder Vorrang nicht beachtet.</a:t>
            </a:r>
            <a:endParaRPr lang="en-US" sz="2000" dirty="0"/>
          </a:p>
        </p:txBody>
      </p:sp>
      <p:sp>
        <p:nvSpPr>
          <p:cNvPr id="16" name="Text 14"/>
          <p:cNvSpPr txBox="1"/>
          <p:nvPr/>
        </p:nvSpPr>
        <p:spPr>
          <a:xfrm>
            <a:off x="548640" y="5760720"/>
            <a:ext cx="10972800" cy="411480"/>
          </a:xfrm>
          <a:prstGeom prst="rect">
            <a:avLst/>
          </a:prstGeom>
          <a:noFill/>
          <a:ln/>
        </p:spPr>
        <p:txBody>
          <a:bodyPr wrap="square" lIns="0" tIns="0" rIns="0" bIns="0" rtlCol="0" anchor="t"/>
          <a:lstStyle/>
          <a:p>
            <a:pPr indent="0" marL="0">
              <a:buNone/>
            </a:pPr>
            <a:r>
              <a:rPr lang="en-US" sz="1100" dirty="0">
                <a:solidFill>
                  <a:srgbClr val="7E8893"/>
                </a:solidFill>
                <a:latin typeface="Arial" pitchFamily="34" charset="0"/>
                <a:ea typeface="Arial" pitchFamily="34" charset="-122"/>
                <a:cs typeface="Arial" pitchFamily="34" charset="-120"/>
              </a:rPr>
              <a:t>Quelle: TÜV | DEKRA arge tp 21, Innovationsbericht 2019–2022 – Auswertung von 1.294.715 Prüfungen der Klasse B (10/2021 bis 09/2022), Fehler mit „nicht bestanden“.</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0469880" y="1097280"/>
            <a:ext cx="731520" cy="4206240"/>
          </a:xfrm>
          <a:prstGeom prst="rect">
            <a:avLst/>
          </a:prstGeom>
          <a:solidFill>
            <a:srgbClr val="1A1F26"/>
          </a:solidFill>
          <a:ln w="12700">
            <a:solidFill>
              <a:srgbClr val="1A1F26"/>
            </a:solidFill>
            <a:prstDash val="solid"/>
          </a:ln>
        </p:spPr>
      </p:sp>
      <p:sp>
        <p:nvSpPr>
          <p:cNvPr id="3" name="Shape 1"/>
          <p:cNvSpPr/>
          <p:nvPr/>
        </p:nvSpPr>
        <p:spPr>
          <a:xfrm>
            <a:off x="9646920" y="2834640"/>
            <a:ext cx="2542032" cy="731520"/>
          </a:xfrm>
          <a:prstGeom prst="rect">
            <a:avLst/>
          </a:prstGeom>
          <a:solidFill>
            <a:srgbClr val="1A1F26"/>
          </a:solidFill>
          <a:ln w="12700">
            <a:solidFill>
              <a:srgbClr val="1A1F26"/>
            </a:solidFill>
            <a:prstDash val="solid"/>
          </a:ln>
        </p:spPr>
      </p:sp>
      <p:sp>
        <p:nvSpPr>
          <p:cNvPr id="4" name="Text 2"/>
          <p:cNvSpPr txBox="1"/>
          <p:nvPr/>
        </p:nvSpPr>
        <p:spPr>
          <a:xfrm>
            <a:off x="548640" y="1417320"/>
            <a:ext cx="3657600" cy="1828800"/>
          </a:xfrm>
          <a:prstGeom prst="rect">
            <a:avLst/>
          </a:prstGeom>
          <a:noFill/>
          <a:ln/>
        </p:spPr>
        <p:txBody>
          <a:bodyPr wrap="square" lIns="0" tIns="0" rIns="0" bIns="0" rtlCol="0" anchor="t"/>
          <a:lstStyle/>
          <a:p>
            <a:pPr indent="0" marL="0">
              <a:buNone/>
            </a:pPr>
            <a:r>
              <a:rPr lang="en-US" sz="14000" b="1" dirty="0">
                <a:solidFill>
                  <a:srgbClr val="FF9300"/>
                </a:solidFill>
                <a:latin typeface="Arial" pitchFamily="34" charset="0"/>
                <a:ea typeface="Arial" pitchFamily="34" charset="-122"/>
                <a:cs typeface="Arial" pitchFamily="34" charset="-120"/>
              </a:rPr>
              <a:t>01</a:t>
            </a:r>
            <a:endParaRPr lang="en-US" sz="14000" dirty="0"/>
          </a:p>
        </p:txBody>
      </p:sp>
      <p:sp>
        <p:nvSpPr>
          <p:cNvPr id="5" name="Text 3"/>
          <p:cNvSpPr txBox="1"/>
          <p:nvPr/>
        </p:nvSpPr>
        <p:spPr>
          <a:xfrm>
            <a:off x="548640" y="3246120"/>
            <a:ext cx="8869680" cy="9144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Wer hat das Sagen?</a:t>
            </a:r>
            <a:endParaRPr lang="en-US" sz="4400" dirty="0"/>
          </a:p>
        </p:txBody>
      </p:sp>
      <p:sp>
        <p:nvSpPr>
          <p:cNvPr id="6" name="Text 4"/>
          <p:cNvSpPr txBox="1"/>
          <p:nvPr/>
        </p:nvSpPr>
        <p:spPr>
          <a:xfrm>
            <a:off x="566928" y="4251960"/>
            <a:ext cx="8869680" cy="548640"/>
          </a:xfrm>
          <a:prstGeom prst="rect">
            <a:avLst/>
          </a:prstGeom>
          <a:noFill/>
          <a:ln/>
        </p:spPr>
        <p:txBody>
          <a:bodyPr wrap="square" lIns="0" tIns="0" rIns="0" bIns="0" rtlCol="0" anchor="t"/>
          <a:lstStyle/>
          <a:p>
            <a:pPr indent="0" marL="0">
              <a:buNone/>
            </a:pPr>
            <a:r>
              <a:rPr lang="en-US" sz="2200" dirty="0">
                <a:solidFill>
                  <a:srgbClr val="A3ACB7"/>
                </a:solidFill>
                <a:latin typeface="Arial" pitchFamily="34" charset="0"/>
                <a:ea typeface="Arial" pitchFamily="34" charset="-122"/>
                <a:cs typeface="Arial" pitchFamily="34" charset="-120"/>
              </a:rPr>
              <a:t>Die Rangfolge der Regeln – von der Polizei bis „rechts vor links“</a:t>
            </a:r>
            <a:endParaRPr lang="en-US" sz="2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01 · RANGFOLGE</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Was zuerst gilt</a:t>
            </a:r>
            <a:endParaRPr lang="en-US" sz="3200" dirty="0"/>
          </a:p>
        </p:txBody>
      </p:sp>
      <p:sp>
        <p:nvSpPr>
          <p:cNvPr id="4" name="Shape 2"/>
          <p:cNvSpPr/>
          <p:nvPr/>
        </p:nvSpPr>
        <p:spPr>
          <a:xfrm>
            <a:off x="9448495" y="457200"/>
            <a:ext cx="2194560"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448495" y="457200"/>
            <a:ext cx="2194560"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36, § 37, § 8 StVO</a:t>
            </a:r>
            <a:endParaRPr lang="en-US" sz="1200" dirty="0"/>
          </a:p>
        </p:txBody>
      </p:sp>
      <p:sp>
        <p:nvSpPr>
          <p:cNvPr id="6" name="Shape 4"/>
          <p:cNvSpPr/>
          <p:nvPr/>
        </p:nvSpPr>
        <p:spPr>
          <a:xfrm>
            <a:off x="548640" y="1645920"/>
            <a:ext cx="7589520" cy="932688"/>
          </a:xfrm>
          <a:prstGeom prst="roundRect">
            <a:avLst>
              <a:gd name="adj" fmla="val 13725"/>
            </a:avLst>
          </a:prstGeom>
          <a:solidFill>
            <a:srgbClr val="101318"/>
          </a:solidFill>
          <a:ln w="12700">
            <a:solidFill>
              <a:srgbClr val="101318"/>
            </a:solidFill>
            <a:prstDash val="solid"/>
          </a:ln>
        </p:spPr>
      </p:sp>
      <p:sp>
        <p:nvSpPr>
          <p:cNvPr id="7" name="Shape 5"/>
          <p:cNvSpPr/>
          <p:nvPr/>
        </p:nvSpPr>
        <p:spPr>
          <a:xfrm>
            <a:off x="768096" y="1856232"/>
            <a:ext cx="512064" cy="512064"/>
          </a:xfrm>
          <a:prstGeom prst="ellipse">
            <a:avLst/>
          </a:prstGeom>
          <a:solidFill>
            <a:srgbClr val="FF9300"/>
          </a:solidFill>
          <a:ln w="19050">
            <a:solidFill>
              <a:srgbClr val="FFFFFF"/>
            </a:solidFill>
            <a:prstDash val="solid"/>
          </a:ln>
        </p:spPr>
      </p:sp>
      <p:sp>
        <p:nvSpPr>
          <p:cNvPr id="8" name="Text 6"/>
          <p:cNvSpPr txBox="1"/>
          <p:nvPr/>
        </p:nvSpPr>
        <p:spPr>
          <a:xfrm>
            <a:off x="768096" y="1856232"/>
            <a:ext cx="512064" cy="512064"/>
          </a:xfrm>
          <a:prstGeom prst="rect">
            <a:avLst/>
          </a:prstGeom>
          <a:noFill/>
          <a:ln/>
        </p:spPr>
        <p:txBody>
          <a:bodyPr wrap="square" lIns="0" tIns="0" rIns="0" bIns="0" rtlCol="0" anchor="ctr"/>
          <a:lstStyle/>
          <a:p>
            <a:pPr algn="ctr" indent="0" marL="0">
              <a:buNone/>
            </a:pPr>
            <a:r>
              <a:rPr lang="en-US" sz="2000" b="1" dirty="0">
                <a:solidFill>
                  <a:srgbClr val="15181D"/>
                </a:solidFill>
                <a:latin typeface="Arial" pitchFamily="34" charset="0"/>
                <a:ea typeface="Arial" pitchFamily="34" charset="-122"/>
                <a:cs typeface="Arial" pitchFamily="34" charset="-120"/>
              </a:rPr>
              <a:t>1</a:t>
            </a:r>
            <a:endParaRPr lang="en-US" sz="2000" dirty="0"/>
          </a:p>
        </p:txBody>
      </p:sp>
      <p:sp>
        <p:nvSpPr>
          <p:cNvPr id="9" name="Text 7"/>
          <p:cNvSpPr txBox="1"/>
          <p:nvPr/>
        </p:nvSpPr>
        <p:spPr>
          <a:xfrm>
            <a:off x="1463040" y="1755648"/>
            <a:ext cx="6492240"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Polizei</a:t>
            </a:r>
            <a:endParaRPr lang="en-US" sz="2200" dirty="0"/>
          </a:p>
        </p:txBody>
      </p:sp>
      <p:sp>
        <p:nvSpPr>
          <p:cNvPr id="10" name="Text 8"/>
          <p:cNvSpPr txBox="1"/>
          <p:nvPr/>
        </p:nvSpPr>
        <p:spPr>
          <a:xfrm>
            <a:off x="1463040" y="2148840"/>
            <a:ext cx="6492240" cy="365760"/>
          </a:xfrm>
          <a:prstGeom prst="rect">
            <a:avLst/>
          </a:prstGeom>
          <a:noFill/>
          <a:ln/>
        </p:spPr>
        <p:txBody>
          <a:bodyPr wrap="square" lIns="0" tIns="0" rIns="0" bIns="0" rtlCol="0" anchor="t"/>
          <a:lstStyle/>
          <a:p>
            <a:pPr indent="0" marL="0">
              <a:buNone/>
            </a:pPr>
            <a:r>
              <a:rPr lang="en-US" sz="1600" dirty="0">
                <a:solidFill>
                  <a:srgbClr val="D5DAE0"/>
                </a:solidFill>
                <a:latin typeface="Arial" pitchFamily="34" charset="0"/>
                <a:ea typeface="Arial" pitchFamily="34" charset="-122"/>
                <a:cs typeface="Arial" pitchFamily="34" charset="-120"/>
              </a:rPr>
              <a:t>Zeichen und Weisungen gehen allen anderen Regeln vor.</a:t>
            </a:r>
            <a:endParaRPr lang="en-US" sz="1600" dirty="0"/>
          </a:p>
        </p:txBody>
      </p:sp>
      <p:sp>
        <p:nvSpPr>
          <p:cNvPr id="11" name="Shape 9"/>
          <p:cNvSpPr/>
          <p:nvPr/>
        </p:nvSpPr>
        <p:spPr>
          <a:xfrm>
            <a:off x="548640" y="2743200"/>
            <a:ext cx="7086600" cy="932688"/>
          </a:xfrm>
          <a:prstGeom prst="roundRect">
            <a:avLst>
              <a:gd name="adj" fmla="val 13725"/>
            </a:avLst>
          </a:prstGeom>
          <a:solidFill>
            <a:srgbClr val="2E353E"/>
          </a:solidFill>
          <a:ln w="12700">
            <a:solidFill>
              <a:srgbClr val="2E353E"/>
            </a:solidFill>
            <a:prstDash val="solid"/>
          </a:ln>
        </p:spPr>
      </p:sp>
      <p:sp>
        <p:nvSpPr>
          <p:cNvPr id="12" name="Shape 10"/>
          <p:cNvSpPr/>
          <p:nvPr/>
        </p:nvSpPr>
        <p:spPr>
          <a:xfrm>
            <a:off x="768096" y="2953512"/>
            <a:ext cx="512064" cy="512064"/>
          </a:xfrm>
          <a:prstGeom prst="ellipse">
            <a:avLst/>
          </a:prstGeom>
          <a:solidFill>
            <a:srgbClr val="FF9300"/>
          </a:solidFill>
          <a:ln w="19050">
            <a:solidFill>
              <a:srgbClr val="FFFFFF"/>
            </a:solidFill>
            <a:prstDash val="solid"/>
          </a:ln>
        </p:spPr>
      </p:sp>
      <p:sp>
        <p:nvSpPr>
          <p:cNvPr id="13" name="Text 11"/>
          <p:cNvSpPr txBox="1"/>
          <p:nvPr/>
        </p:nvSpPr>
        <p:spPr>
          <a:xfrm>
            <a:off x="768096" y="2953512"/>
            <a:ext cx="512064" cy="512064"/>
          </a:xfrm>
          <a:prstGeom prst="rect">
            <a:avLst/>
          </a:prstGeom>
          <a:noFill/>
          <a:ln/>
        </p:spPr>
        <p:txBody>
          <a:bodyPr wrap="square" lIns="0" tIns="0" rIns="0" bIns="0" rtlCol="0" anchor="ctr"/>
          <a:lstStyle/>
          <a:p>
            <a:pPr algn="ctr" indent="0" marL="0">
              <a:buNone/>
            </a:pPr>
            <a:r>
              <a:rPr lang="en-US" sz="2000" b="1" dirty="0">
                <a:solidFill>
                  <a:srgbClr val="15181D"/>
                </a:solidFill>
                <a:latin typeface="Arial" pitchFamily="34" charset="0"/>
                <a:ea typeface="Arial" pitchFamily="34" charset="-122"/>
                <a:cs typeface="Arial" pitchFamily="34" charset="-120"/>
              </a:rPr>
              <a:t>2</a:t>
            </a:r>
            <a:endParaRPr lang="en-US" sz="2000" dirty="0"/>
          </a:p>
        </p:txBody>
      </p:sp>
      <p:sp>
        <p:nvSpPr>
          <p:cNvPr id="14" name="Text 12"/>
          <p:cNvSpPr txBox="1"/>
          <p:nvPr/>
        </p:nvSpPr>
        <p:spPr>
          <a:xfrm>
            <a:off x="1463040" y="2852928"/>
            <a:ext cx="5989320"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Ampel</a:t>
            </a:r>
            <a:endParaRPr lang="en-US" sz="2200" dirty="0"/>
          </a:p>
        </p:txBody>
      </p:sp>
      <p:sp>
        <p:nvSpPr>
          <p:cNvPr id="15" name="Text 13"/>
          <p:cNvSpPr txBox="1"/>
          <p:nvPr/>
        </p:nvSpPr>
        <p:spPr>
          <a:xfrm>
            <a:off x="1463040" y="3246120"/>
            <a:ext cx="5989320" cy="365760"/>
          </a:xfrm>
          <a:prstGeom prst="rect">
            <a:avLst/>
          </a:prstGeom>
          <a:noFill/>
          <a:ln/>
        </p:spPr>
        <p:txBody>
          <a:bodyPr wrap="square" lIns="0" tIns="0" rIns="0" bIns="0" rtlCol="0" anchor="t"/>
          <a:lstStyle/>
          <a:p>
            <a:pPr indent="0" marL="0">
              <a:buNone/>
            </a:pPr>
            <a:r>
              <a:rPr lang="en-US" sz="1600" dirty="0">
                <a:solidFill>
                  <a:srgbClr val="D5DAE0"/>
                </a:solidFill>
                <a:latin typeface="Arial" pitchFamily="34" charset="0"/>
                <a:ea typeface="Arial" pitchFamily="34" charset="-122"/>
                <a:cs typeface="Arial" pitchFamily="34" charset="-120"/>
              </a:rPr>
              <a:t>Lichtzeichen gehen Vorfahrtsschildern und der Grundregel vor.</a:t>
            </a:r>
            <a:endParaRPr lang="en-US" sz="1600" dirty="0"/>
          </a:p>
        </p:txBody>
      </p:sp>
      <p:sp>
        <p:nvSpPr>
          <p:cNvPr id="16" name="Shape 14"/>
          <p:cNvSpPr/>
          <p:nvPr/>
        </p:nvSpPr>
        <p:spPr>
          <a:xfrm>
            <a:off x="548640" y="3840480"/>
            <a:ext cx="6583680" cy="932688"/>
          </a:xfrm>
          <a:prstGeom prst="roundRect">
            <a:avLst>
              <a:gd name="adj" fmla="val 13725"/>
            </a:avLst>
          </a:prstGeom>
          <a:solidFill>
            <a:srgbClr val="56606B"/>
          </a:solidFill>
          <a:ln w="12700">
            <a:solidFill>
              <a:srgbClr val="56606B"/>
            </a:solidFill>
            <a:prstDash val="solid"/>
          </a:ln>
        </p:spPr>
      </p:sp>
      <p:sp>
        <p:nvSpPr>
          <p:cNvPr id="17" name="Shape 15"/>
          <p:cNvSpPr/>
          <p:nvPr/>
        </p:nvSpPr>
        <p:spPr>
          <a:xfrm>
            <a:off x="768096" y="4050792"/>
            <a:ext cx="512064" cy="512064"/>
          </a:xfrm>
          <a:prstGeom prst="ellipse">
            <a:avLst/>
          </a:prstGeom>
          <a:solidFill>
            <a:srgbClr val="FF9300"/>
          </a:solidFill>
          <a:ln w="19050">
            <a:solidFill>
              <a:srgbClr val="FFFFFF"/>
            </a:solidFill>
            <a:prstDash val="solid"/>
          </a:ln>
        </p:spPr>
      </p:sp>
      <p:sp>
        <p:nvSpPr>
          <p:cNvPr id="18" name="Text 16"/>
          <p:cNvSpPr txBox="1"/>
          <p:nvPr/>
        </p:nvSpPr>
        <p:spPr>
          <a:xfrm>
            <a:off x="768096" y="4050792"/>
            <a:ext cx="512064" cy="512064"/>
          </a:xfrm>
          <a:prstGeom prst="rect">
            <a:avLst/>
          </a:prstGeom>
          <a:noFill/>
          <a:ln/>
        </p:spPr>
        <p:txBody>
          <a:bodyPr wrap="square" lIns="0" tIns="0" rIns="0" bIns="0" rtlCol="0" anchor="ctr"/>
          <a:lstStyle/>
          <a:p>
            <a:pPr algn="ctr" indent="0" marL="0">
              <a:buNone/>
            </a:pPr>
            <a:r>
              <a:rPr lang="en-US" sz="2000" b="1" dirty="0">
                <a:solidFill>
                  <a:srgbClr val="15181D"/>
                </a:solidFill>
                <a:latin typeface="Arial" pitchFamily="34" charset="0"/>
                <a:ea typeface="Arial" pitchFamily="34" charset="-122"/>
                <a:cs typeface="Arial" pitchFamily="34" charset="-120"/>
              </a:rPr>
              <a:t>3</a:t>
            </a:r>
            <a:endParaRPr lang="en-US" sz="2000" dirty="0"/>
          </a:p>
        </p:txBody>
      </p:sp>
      <p:sp>
        <p:nvSpPr>
          <p:cNvPr id="19" name="Text 17"/>
          <p:cNvSpPr txBox="1"/>
          <p:nvPr/>
        </p:nvSpPr>
        <p:spPr>
          <a:xfrm>
            <a:off x="1463040" y="3950208"/>
            <a:ext cx="5486400"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Verkehrszeichen</a:t>
            </a:r>
            <a:endParaRPr lang="en-US" sz="2200" dirty="0"/>
          </a:p>
        </p:txBody>
      </p:sp>
      <p:sp>
        <p:nvSpPr>
          <p:cNvPr id="20" name="Text 18"/>
          <p:cNvSpPr txBox="1"/>
          <p:nvPr/>
        </p:nvSpPr>
        <p:spPr>
          <a:xfrm>
            <a:off x="1463040" y="4343400"/>
            <a:ext cx="5486400" cy="365760"/>
          </a:xfrm>
          <a:prstGeom prst="rect">
            <a:avLst/>
          </a:prstGeom>
          <a:noFill/>
          <a:ln/>
        </p:spPr>
        <p:txBody>
          <a:bodyPr wrap="square" lIns="0" tIns="0" rIns="0" bIns="0" rtlCol="0" anchor="t"/>
          <a:lstStyle/>
          <a:p>
            <a:pPr indent="0" marL="0">
              <a:buNone/>
            </a:pPr>
            <a:r>
              <a:rPr lang="en-US" sz="1600" dirty="0">
                <a:solidFill>
                  <a:srgbClr val="E6EAEE"/>
                </a:solidFill>
                <a:latin typeface="Arial" pitchFamily="34" charset="0"/>
                <a:ea typeface="Arial" pitchFamily="34" charset="-122"/>
                <a:cs typeface="Arial" pitchFamily="34" charset="-120"/>
              </a:rPr>
              <a:t>Vorfahrt gewähren, Stopp, Vorfahrtstraße …</a:t>
            </a:r>
            <a:endParaRPr lang="en-US" sz="1600" dirty="0"/>
          </a:p>
        </p:txBody>
      </p:sp>
      <p:sp>
        <p:nvSpPr>
          <p:cNvPr id="21" name="Shape 19"/>
          <p:cNvSpPr/>
          <p:nvPr/>
        </p:nvSpPr>
        <p:spPr>
          <a:xfrm>
            <a:off x="548640" y="4937760"/>
            <a:ext cx="6080760" cy="932688"/>
          </a:xfrm>
          <a:prstGeom prst="roundRect">
            <a:avLst>
              <a:gd name="adj" fmla="val 13725"/>
            </a:avLst>
          </a:prstGeom>
          <a:solidFill>
            <a:srgbClr val="E3E8ED"/>
          </a:solidFill>
          <a:ln w="12700">
            <a:solidFill>
              <a:srgbClr val="E3E8ED"/>
            </a:solidFill>
            <a:prstDash val="solid"/>
          </a:ln>
        </p:spPr>
      </p:sp>
      <p:sp>
        <p:nvSpPr>
          <p:cNvPr id="22" name="Shape 20"/>
          <p:cNvSpPr/>
          <p:nvPr/>
        </p:nvSpPr>
        <p:spPr>
          <a:xfrm>
            <a:off x="768096" y="5148072"/>
            <a:ext cx="512064" cy="512064"/>
          </a:xfrm>
          <a:prstGeom prst="ellipse">
            <a:avLst/>
          </a:prstGeom>
          <a:solidFill>
            <a:srgbClr val="FF9300"/>
          </a:solidFill>
          <a:ln w="19050">
            <a:solidFill>
              <a:srgbClr val="FFFFFF"/>
            </a:solidFill>
            <a:prstDash val="solid"/>
          </a:ln>
        </p:spPr>
      </p:sp>
      <p:sp>
        <p:nvSpPr>
          <p:cNvPr id="23" name="Text 21"/>
          <p:cNvSpPr txBox="1"/>
          <p:nvPr/>
        </p:nvSpPr>
        <p:spPr>
          <a:xfrm>
            <a:off x="768096" y="5148072"/>
            <a:ext cx="512064" cy="512064"/>
          </a:xfrm>
          <a:prstGeom prst="rect">
            <a:avLst/>
          </a:prstGeom>
          <a:noFill/>
          <a:ln/>
        </p:spPr>
        <p:txBody>
          <a:bodyPr wrap="square" lIns="0" tIns="0" rIns="0" bIns="0" rtlCol="0" anchor="ctr"/>
          <a:lstStyle/>
          <a:p>
            <a:pPr algn="ctr" indent="0" marL="0">
              <a:buNone/>
            </a:pPr>
            <a:r>
              <a:rPr lang="en-US" sz="2000" b="1" dirty="0">
                <a:solidFill>
                  <a:srgbClr val="15181D"/>
                </a:solidFill>
                <a:latin typeface="Arial" pitchFamily="34" charset="0"/>
                <a:ea typeface="Arial" pitchFamily="34" charset="-122"/>
                <a:cs typeface="Arial" pitchFamily="34" charset="-120"/>
              </a:rPr>
              <a:t>4</a:t>
            </a:r>
            <a:endParaRPr lang="en-US" sz="2000" dirty="0"/>
          </a:p>
        </p:txBody>
      </p:sp>
      <p:sp>
        <p:nvSpPr>
          <p:cNvPr id="24" name="Text 22"/>
          <p:cNvSpPr txBox="1"/>
          <p:nvPr/>
        </p:nvSpPr>
        <p:spPr>
          <a:xfrm>
            <a:off x="1463040" y="5047488"/>
            <a:ext cx="4983480" cy="384048"/>
          </a:xfrm>
          <a:prstGeom prst="rect">
            <a:avLst/>
          </a:prstGeom>
          <a:noFill/>
          <a:ln/>
        </p:spPr>
        <p:txBody>
          <a:bodyPr wrap="square" lIns="0" tIns="0" rIns="0" bIns="0" rtlCol="0" anchor="t"/>
          <a:lstStyle/>
          <a:p>
            <a:pPr indent="0" marL="0">
              <a:buNone/>
            </a:pPr>
            <a:r>
              <a:rPr lang="en-US" sz="2200" b="1" dirty="0">
                <a:solidFill>
                  <a:srgbClr val="15181D"/>
                </a:solidFill>
                <a:latin typeface="Arial" pitchFamily="34" charset="0"/>
                <a:ea typeface="Arial" pitchFamily="34" charset="-122"/>
                <a:cs typeface="Arial" pitchFamily="34" charset="-120"/>
              </a:rPr>
              <a:t>Grundregel</a:t>
            </a:r>
            <a:endParaRPr lang="en-US" sz="2200" dirty="0"/>
          </a:p>
        </p:txBody>
      </p:sp>
      <p:sp>
        <p:nvSpPr>
          <p:cNvPr id="25" name="Text 23"/>
          <p:cNvSpPr txBox="1"/>
          <p:nvPr/>
        </p:nvSpPr>
        <p:spPr>
          <a:xfrm>
            <a:off x="1463040" y="5440680"/>
            <a:ext cx="4983480" cy="365760"/>
          </a:xfrm>
          <a:prstGeom prst="rect">
            <a:avLst/>
          </a:prstGeom>
          <a:noFill/>
          <a:ln/>
        </p:spPr>
        <p:txBody>
          <a:bodyPr wrap="square" lIns="0" tIns="0" rIns="0" bIns="0" rtlCol="0" anchor="t"/>
          <a:lstStyle/>
          <a:p>
            <a:pPr indent="0" marL="0">
              <a:buNone/>
            </a:pPr>
            <a:r>
              <a:rPr lang="en-US" sz="1600" dirty="0">
                <a:solidFill>
                  <a:srgbClr val="343B44"/>
                </a:solidFill>
                <a:latin typeface="Arial" pitchFamily="34" charset="0"/>
                <a:ea typeface="Arial" pitchFamily="34" charset="-122"/>
                <a:cs typeface="Arial" pitchFamily="34" charset="-120"/>
              </a:rPr>
              <a:t>Rechts vor links – überall, wo nichts anderes gilt.</a:t>
            </a:r>
            <a:endParaRPr lang="en-US" sz="1600" dirty="0"/>
          </a:p>
        </p:txBody>
      </p:sp>
      <p:sp>
        <p:nvSpPr>
          <p:cNvPr id="26" name="Shape 24"/>
          <p:cNvSpPr/>
          <p:nvPr/>
        </p:nvSpPr>
        <p:spPr>
          <a:xfrm>
            <a:off x="8549640" y="1645920"/>
            <a:ext cx="3090672" cy="4224528"/>
          </a:xfrm>
          <a:prstGeom prst="roundRect">
            <a:avLst>
              <a:gd name="adj" fmla="val 5917"/>
            </a:avLst>
          </a:prstGeom>
          <a:solidFill>
            <a:srgbClr val="FF9300"/>
          </a:solidFill>
          <a:ln w="12700">
            <a:solidFill>
              <a:srgbClr val="FF9300"/>
            </a:solidFill>
            <a:prstDash val="solid"/>
          </a:ln>
        </p:spPr>
      </p:sp>
      <p:sp>
        <p:nvSpPr>
          <p:cNvPr id="27" name="Text 25"/>
          <p:cNvSpPr txBox="1"/>
          <p:nvPr/>
        </p:nvSpPr>
        <p:spPr>
          <a:xfrm>
            <a:off x="8869680" y="1920240"/>
            <a:ext cx="2560320" cy="274320"/>
          </a:xfrm>
          <a:prstGeom prst="rect">
            <a:avLst/>
          </a:prstGeom>
          <a:noFill/>
          <a:ln/>
        </p:spPr>
        <p:txBody>
          <a:bodyPr wrap="square" lIns="0" tIns="0" rIns="0" bIns="0" rtlCol="0" anchor="t"/>
          <a:lstStyle/>
          <a:p>
            <a:pPr indent="0" marL="0">
              <a:buNone/>
            </a:pPr>
            <a:r>
              <a:rPr lang="en-US" sz="1300" b="1" spc="200" kern="0" dirty="0">
                <a:solidFill>
                  <a:srgbClr val="15181D"/>
                </a:solidFill>
                <a:latin typeface="Arial" pitchFamily="34" charset="0"/>
                <a:ea typeface="Arial" pitchFamily="34" charset="-122"/>
                <a:cs typeface="Arial" pitchFamily="34" charset="-120"/>
              </a:rPr>
              <a:t>MERKE</a:t>
            </a:r>
            <a:endParaRPr lang="en-US" sz="1300" dirty="0"/>
          </a:p>
        </p:txBody>
      </p:sp>
      <p:sp>
        <p:nvSpPr>
          <p:cNvPr id="28" name="Text 26"/>
          <p:cNvSpPr txBox="1"/>
          <p:nvPr/>
        </p:nvSpPr>
        <p:spPr>
          <a:xfrm>
            <a:off x="8869680" y="2286000"/>
            <a:ext cx="2514600" cy="1188720"/>
          </a:xfrm>
          <a:prstGeom prst="rect">
            <a:avLst/>
          </a:prstGeom>
          <a:noFill/>
          <a:ln/>
        </p:spPr>
        <p:txBody>
          <a:bodyPr wrap="square" lIns="0" tIns="0" rIns="0" bIns="0" rtlCol="0" anchor="t"/>
          <a:lstStyle/>
          <a:p>
            <a:pPr indent="0" marL="0">
              <a:buNone/>
            </a:pPr>
            <a:r>
              <a:rPr lang="en-US" sz="2600" b="1" dirty="0">
                <a:solidFill>
                  <a:srgbClr val="15181D"/>
                </a:solidFill>
                <a:latin typeface="Arial" pitchFamily="34" charset="0"/>
                <a:ea typeface="Arial" pitchFamily="34" charset="-122"/>
                <a:cs typeface="Arial" pitchFamily="34" charset="-120"/>
              </a:rPr>
              <a:t>Was weiter oben steht, gilt.</a:t>
            </a:r>
            <a:endParaRPr lang="en-US" sz="2600" dirty="0"/>
          </a:p>
        </p:txBody>
      </p:sp>
      <p:sp>
        <p:nvSpPr>
          <p:cNvPr id="29" name="Text 27"/>
          <p:cNvSpPr txBox="1"/>
          <p:nvPr/>
        </p:nvSpPr>
        <p:spPr>
          <a:xfrm>
            <a:off x="8869680" y="3703320"/>
            <a:ext cx="2514600" cy="1920240"/>
          </a:xfrm>
          <a:prstGeom prst="rect">
            <a:avLst/>
          </a:prstGeom>
          <a:noFill/>
          <a:ln/>
        </p:spPr>
        <p:txBody>
          <a:bodyPr wrap="square" lIns="0" tIns="0" rIns="0" bIns="0" rtlCol="0" anchor="t"/>
          <a:lstStyle/>
          <a:p>
            <a:pPr indent="0" marL="0">
              <a:buNone/>
            </a:pPr>
            <a:r>
              <a:rPr lang="en-US" sz="1700" dirty="0">
                <a:solidFill>
                  <a:srgbClr val="15181D"/>
                </a:solidFill>
                <a:latin typeface="Arial" pitchFamily="34" charset="0"/>
                <a:ea typeface="Arial" pitchFamily="34" charset="-122"/>
                <a:cs typeface="Arial" pitchFamily="34" charset="-120"/>
              </a:rPr>
              <a:t>Polizei schlägt Ampel. Ampel schlägt Schild. Schild schlägt „rechts vor links“.</a:t>
            </a:r>
            <a:endParaRPr lang="en-US" sz="17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FRAGE · RANGFOLGE</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Grün – aber der Polizist hebt den Arm. Was tust du?</a:t>
            </a:r>
            <a:endParaRPr lang="en-US" sz="3200" dirty="0"/>
          </a:p>
        </p:txBody>
      </p:sp>
      <p:sp>
        <p:nvSpPr>
          <p:cNvPr id="4" name="Shape 2"/>
          <p:cNvSpPr/>
          <p:nvPr/>
        </p:nvSpPr>
        <p:spPr>
          <a:xfrm>
            <a:off x="548640" y="1645920"/>
            <a:ext cx="4754880" cy="4343400"/>
          </a:xfrm>
          <a:prstGeom prst="roundRect">
            <a:avLst>
              <a:gd name="adj" fmla="val 3789"/>
            </a:avLst>
          </a:prstGeom>
          <a:solidFill>
            <a:srgbClr val="1A1F26"/>
          </a:solidFill>
          <a:ln w="12700">
            <a:solidFill>
              <a:srgbClr val="1A1F26"/>
            </a:solidFill>
            <a:prstDash val="solid"/>
          </a:ln>
        </p:spPr>
      </p:sp>
      <p:sp>
        <p:nvSpPr>
          <p:cNvPr id="5" name="Shape 3"/>
          <p:cNvSpPr/>
          <p:nvPr/>
        </p:nvSpPr>
        <p:spPr>
          <a:xfrm>
            <a:off x="1234440" y="2148840"/>
            <a:ext cx="1111910" cy="2926080"/>
          </a:xfrm>
          <a:prstGeom prst="roundRect">
            <a:avLst>
              <a:gd name="adj" fmla="val 9868"/>
            </a:avLst>
          </a:prstGeom>
          <a:solidFill>
            <a:srgbClr val="1E2228"/>
          </a:solidFill>
          <a:ln w="12700">
            <a:solidFill>
              <a:srgbClr val="3A3F46"/>
            </a:solidFill>
            <a:prstDash val="solid"/>
          </a:ln>
        </p:spPr>
      </p:sp>
      <p:sp>
        <p:nvSpPr>
          <p:cNvPr id="6" name="Shape 4"/>
          <p:cNvSpPr/>
          <p:nvPr/>
        </p:nvSpPr>
        <p:spPr>
          <a:xfrm>
            <a:off x="1412346" y="2356006"/>
            <a:ext cx="756099" cy="756099"/>
          </a:xfrm>
          <a:prstGeom prst="ellipse">
            <a:avLst/>
          </a:prstGeom>
          <a:solidFill>
            <a:srgbClr val="3A3F46"/>
          </a:solidFill>
          <a:ln w="12700">
            <a:solidFill>
              <a:srgbClr val="3A3F46"/>
            </a:solidFill>
            <a:prstDash val="solid"/>
          </a:ln>
        </p:spPr>
      </p:sp>
      <p:sp>
        <p:nvSpPr>
          <p:cNvPr id="7" name="Shape 5"/>
          <p:cNvSpPr/>
          <p:nvPr/>
        </p:nvSpPr>
        <p:spPr>
          <a:xfrm>
            <a:off x="1412346" y="3233830"/>
            <a:ext cx="756099" cy="756099"/>
          </a:xfrm>
          <a:prstGeom prst="ellipse">
            <a:avLst/>
          </a:prstGeom>
          <a:solidFill>
            <a:srgbClr val="3A3F46"/>
          </a:solidFill>
          <a:ln w="12700">
            <a:solidFill>
              <a:srgbClr val="3A3F46"/>
            </a:solidFill>
            <a:prstDash val="solid"/>
          </a:ln>
        </p:spPr>
      </p:sp>
      <p:sp>
        <p:nvSpPr>
          <p:cNvPr id="8" name="Shape 6"/>
          <p:cNvSpPr/>
          <p:nvPr/>
        </p:nvSpPr>
        <p:spPr>
          <a:xfrm>
            <a:off x="1412346" y="4111654"/>
            <a:ext cx="756099" cy="756099"/>
          </a:xfrm>
          <a:prstGeom prst="ellipse">
            <a:avLst/>
          </a:prstGeom>
          <a:solidFill>
            <a:srgbClr val="19B45A"/>
          </a:solidFill>
          <a:ln w="12700">
            <a:solidFill>
              <a:srgbClr val="19B45A"/>
            </a:solidFill>
            <a:prstDash val="solid"/>
          </a:ln>
        </p:spPr>
      </p:sp>
      <p:sp>
        <p:nvSpPr>
          <p:cNvPr id="9" name="Shape 7"/>
          <p:cNvSpPr/>
          <p:nvPr/>
        </p:nvSpPr>
        <p:spPr>
          <a:xfrm>
            <a:off x="3383280" y="2706624"/>
            <a:ext cx="548640" cy="548640"/>
          </a:xfrm>
          <a:prstGeom prst="ellipse">
            <a:avLst/>
          </a:prstGeom>
          <a:solidFill>
            <a:srgbClr val="E9C9A8"/>
          </a:solidFill>
          <a:ln w="12700">
            <a:solidFill>
              <a:srgbClr val="101318"/>
            </a:solidFill>
            <a:prstDash val="solid"/>
          </a:ln>
        </p:spPr>
      </p:sp>
      <p:sp>
        <p:nvSpPr>
          <p:cNvPr id="10" name="Shape 8"/>
          <p:cNvSpPr/>
          <p:nvPr/>
        </p:nvSpPr>
        <p:spPr>
          <a:xfrm>
            <a:off x="3328416" y="2651760"/>
            <a:ext cx="658368" cy="192024"/>
          </a:xfrm>
          <a:prstGeom prst="roundRect">
            <a:avLst>
              <a:gd name="adj" fmla="val 9524"/>
            </a:avLst>
          </a:prstGeom>
          <a:solidFill>
            <a:srgbClr val="2C5282"/>
          </a:solidFill>
          <a:ln w="12700">
            <a:solidFill>
              <a:srgbClr val="2C5282"/>
            </a:solidFill>
            <a:prstDash val="solid"/>
          </a:ln>
        </p:spPr>
      </p:sp>
      <p:sp>
        <p:nvSpPr>
          <p:cNvPr id="11" name="Shape 9"/>
          <p:cNvSpPr/>
          <p:nvPr/>
        </p:nvSpPr>
        <p:spPr>
          <a:xfrm>
            <a:off x="3246120" y="3310128"/>
            <a:ext cx="822960" cy="1152144"/>
          </a:xfrm>
          <a:prstGeom prst="roundRect">
            <a:avLst>
              <a:gd name="adj" fmla="val 6667"/>
            </a:avLst>
          </a:prstGeom>
          <a:solidFill>
            <a:srgbClr val="2C5282"/>
          </a:solidFill>
          <a:ln w="12700">
            <a:solidFill>
              <a:srgbClr val="2C5282"/>
            </a:solidFill>
            <a:prstDash val="solid"/>
          </a:ln>
        </p:spPr>
      </p:sp>
      <p:sp>
        <p:nvSpPr>
          <p:cNvPr id="12" name="Shape 10"/>
          <p:cNvSpPr/>
          <p:nvPr/>
        </p:nvSpPr>
        <p:spPr>
          <a:xfrm>
            <a:off x="3300984" y="4407408"/>
            <a:ext cx="301752" cy="987552"/>
          </a:xfrm>
          <a:prstGeom prst="roundRect">
            <a:avLst>
              <a:gd name="adj" fmla="val 9091"/>
            </a:avLst>
          </a:prstGeom>
          <a:solidFill>
            <a:srgbClr val="22324D"/>
          </a:solidFill>
          <a:ln w="12700">
            <a:solidFill>
              <a:srgbClr val="22324D"/>
            </a:solidFill>
            <a:prstDash val="solid"/>
          </a:ln>
        </p:spPr>
      </p:sp>
      <p:sp>
        <p:nvSpPr>
          <p:cNvPr id="13" name="Shape 11"/>
          <p:cNvSpPr/>
          <p:nvPr/>
        </p:nvSpPr>
        <p:spPr>
          <a:xfrm>
            <a:off x="3712464" y="4407408"/>
            <a:ext cx="301752" cy="987552"/>
          </a:xfrm>
          <a:prstGeom prst="roundRect">
            <a:avLst>
              <a:gd name="adj" fmla="val 9091"/>
            </a:avLst>
          </a:prstGeom>
          <a:solidFill>
            <a:srgbClr val="22324D"/>
          </a:solidFill>
          <a:ln w="12700">
            <a:solidFill>
              <a:srgbClr val="22324D"/>
            </a:solidFill>
            <a:prstDash val="solid"/>
          </a:ln>
        </p:spPr>
      </p:sp>
      <p:sp>
        <p:nvSpPr>
          <p:cNvPr id="14" name="Shape 12"/>
          <p:cNvSpPr/>
          <p:nvPr/>
        </p:nvSpPr>
        <p:spPr>
          <a:xfrm>
            <a:off x="4069080" y="2103120"/>
            <a:ext cx="219456" cy="1371600"/>
          </a:xfrm>
          <a:prstGeom prst="roundRect">
            <a:avLst>
              <a:gd name="adj" fmla="val 12500"/>
            </a:avLst>
          </a:prstGeom>
          <a:solidFill>
            <a:srgbClr val="2C5282"/>
          </a:solidFill>
          <a:ln w="12700">
            <a:solidFill>
              <a:srgbClr val="2C5282"/>
            </a:solidFill>
            <a:prstDash val="solid"/>
          </a:ln>
        </p:spPr>
      </p:sp>
      <p:sp>
        <p:nvSpPr>
          <p:cNvPr id="15" name="Shape 13"/>
          <p:cNvSpPr/>
          <p:nvPr/>
        </p:nvSpPr>
        <p:spPr>
          <a:xfrm>
            <a:off x="3081528" y="3364992"/>
            <a:ext cx="219456" cy="987552"/>
          </a:xfrm>
          <a:prstGeom prst="roundRect">
            <a:avLst>
              <a:gd name="adj" fmla="val 12500"/>
            </a:avLst>
          </a:prstGeom>
          <a:solidFill>
            <a:srgbClr val="2C5282"/>
          </a:solidFill>
          <a:ln w="12700">
            <a:solidFill>
              <a:srgbClr val="2C5282"/>
            </a:solidFill>
            <a:prstDash val="solid"/>
          </a:ln>
        </p:spPr>
      </p:sp>
      <p:sp>
        <p:nvSpPr>
          <p:cNvPr id="16" name="Shape 14"/>
          <p:cNvSpPr/>
          <p:nvPr/>
        </p:nvSpPr>
        <p:spPr>
          <a:xfrm>
            <a:off x="5715000" y="1645920"/>
            <a:ext cx="5925312" cy="1280160"/>
          </a:xfrm>
          <a:prstGeom prst="roundRect">
            <a:avLst>
              <a:gd name="adj" fmla="val 12857"/>
            </a:avLst>
          </a:prstGeom>
          <a:solidFill>
            <a:srgbClr val="1A1F26"/>
          </a:solidFill>
          <a:ln w="12700">
            <a:solidFill>
              <a:srgbClr val="1A1F26"/>
            </a:solidFill>
            <a:prstDash val="solid"/>
          </a:ln>
        </p:spPr>
      </p:sp>
      <p:sp>
        <p:nvSpPr>
          <p:cNvPr id="17" name="Shape 15"/>
          <p:cNvSpPr/>
          <p:nvPr/>
        </p:nvSpPr>
        <p:spPr>
          <a:xfrm>
            <a:off x="6035040" y="1965960"/>
            <a:ext cx="640080" cy="640080"/>
          </a:xfrm>
          <a:prstGeom prst="ellipse">
            <a:avLst/>
          </a:prstGeom>
          <a:solidFill>
            <a:srgbClr val="262C35"/>
          </a:solidFill>
          <a:ln w="12700">
            <a:solidFill>
              <a:srgbClr val="262C35"/>
            </a:solidFill>
            <a:prstDash val="solid"/>
          </a:ln>
        </p:spPr>
      </p:sp>
      <p:sp>
        <p:nvSpPr>
          <p:cNvPr id="18" name="Text 16"/>
          <p:cNvSpPr txBox="1"/>
          <p:nvPr/>
        </p:nvSpPr>
        <p:spPr>
          <a:xfrm>
            <a:off x="6035040" y="1965960"/>
            <a:ext cx="640080" cy="640080"/>
          </a:xfrm>
          <a:prstGeom prst="rect">
            <a:avLst/>
          </a:prstGeom>
          <a:noFill/>
          <a:ln/>
        </p:spPr>
        <p:txBody>
          <a:bodyPr wrap="square" lIns="0" tIns="0" rIns="0" bIns="0" rtlCol="0" anchor="ctr"/>
          <a:lstStyle/>
          <a:p>
            <a:pPr algn="ctr" indent="0" marL="0">
              <a:buNone/>
            </a:pPr>
            <a:r>
              <a:rPr lang="en-US" sz="2400" b="1" dirty="0">
                <a:solidFill>
                  <a:srgbClr val="FF9300"/>
                </a:solidFill>
                <a:latin typeface="Arial" pitchFamily="34" charset="0"/>
                <a:ea typeface="Arial" pitchFamily="34" charset="-122"/>
                <a:cs typeface="Arial" pitchFamily="34" charset="-120"/>
              </a:rPr>
              <a:t>A</a:t>
            </a:r>
            <a:endParaRPr lang="en-US" sz="2400" dirty="0"/>
          </a:p>
        </p:txBody>
      </p:sp>
      <p:sp>
        <p:nvSpPr>
          <p:cNvPr id="19" name="Text 17"/>
          <p:cNvSpPr txBox="1"/>
          <p:nvPr/>
        </p:nvSpPr>
        <p:spPr>
          <a:xfrm>
            <a:off x="6903720" y="1828800"/>
            <a:ext cx="4572000" cy="91440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Ich fahre – Grün ist Grün.</a:t>
            </a:r>
            <a:endParaRPr lang="en-US" sz="2200" dirty="0"/>
          </a:p>
        </p:txBody>
      </p:sp>
      <p:sp>
        <p:nvSpPr>
          <p:cNvPr id="20" name="Shape 18"/>
          <p:cNvSpPr/>
          <p:nvPr/>
        </p:nvSpPr>
        <p:spPr>
          <a:xfrm>
            <a:off x="5715000" y="3127248"/>
            <a:ext cx="5925312" cy="1280160"/>
          </a:xfrm>
          <a:prstGeom prst="roundRect">
            <a:avLst>
              <a:gd name="adj" fmla="val 12857"/>
            </a:avLst>
          </a:prstGeom>
          <a:solidFill>
            <a:srgbClr val="1A1F26"/>
          </a:solidFill>
          <a:ln w="12700">
            <a:solidFill>
              <a:srgbClr val="1A1F26"/>
            </a:solidFill>
            <a:prstDash val="solid"/>
          </a:ln>
        </p:spPr>
      </p:sp>
      <p:sp>
        <p:nvSpPr>
          <p:cNvPr id="21" name="Shape 19"/>
          <p:cNvSpPr/>
          <p:nvPr/>
        </p:nvSpPr>
        <p:spPr>
          <a:xfrm>
            <a:off x="6035040" y="3447288"/>
            <a:ext cx="640080" cy="640080"/>
          </a:xfrm>
          <a:prstGeom prst="ellipse">
            <a:avLst/>
          </a:prstGeom>
          <a:solidFill>
            <a:srgbClr val="262C35"/>
          </a:solidFill>
          <a:ln w="12700">
            <a:solidFill>
              <a:srgbClr val="262C35"/>
            </a:solidFill>
            <a:prstDash val="solid"/>
          </a:ln>
        </p:spPr>
      </p:sp>
      <p:sp>
        <p:nvSpPr>
          <p:cNvPr id="22" name="Text 20"/>
          <p:cNvSpPr txBox="1"/>
          <p:nvPr/>
        </p:nvSpPr>
        <p:spPr>
          <a:xfrm>
            <a:off x="6035040" y="3447288"/>
            <a:ext cx="640080" cy="640080"/>
          </a:xfrm>
          <a:prstGeom prst="rect">
            <a:avLst/>
          </a:prstGeom>
          <a:noFill/>
          <a:ln/>
        </p:spPr>
        <p:txBody>
          <a:bodyPr wrap="square" lIns="0" tIns="0" rIns="0" bIns="0" rtlCol="0" anchor="ctr"/>
          <a:lstStyle/>
          <a:p>
            <a:pPr algn="ctr" indent="0" marL="0">
              <a:buNone/>
            </a:pPr>
            <a:r>
              <a:rPr lang="en-US" sz="2400" b="1" dirty="0">
                <a:solidFill>
                  <a:srgbClr val="FF9300"/>
                </a:solidFill>
                <a:latin typeface="Arial" pitchFamily="34" charset="0"/>
                <a:ea typeface="Arial" pitchFamily="34" charset="-122"/>
                <a:cs typeface="Arial" pitchFamily="34" charset="-120"/>
              </a:rPr>
              <a:t>B</a:t>
            </a:r>
            <a:endParaRPr lang="en-US" sz="2400" dirty="0"/>
          </a:p>
        </p:txBody>
      </p:sp>
      <p:sp>
        <p:nvSpPr>
          <p:cNvPr id="23" name="Text 21"/>
          <p:cNvSpPr txBox="1"/>
          <p:nvPr/>
        </p:nvSpPr>
        <p:spPr>
          <a:xfrm>
            <a:off x="6903720" y="3310128"/>
            <a:ext cx="4572000" cy="91440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Ich warte auf das nächste Zeichen.</a:t>
            </a:r>
            <a:endParaRPr lang="en-US" sz="2200" dirty="0"/>
          </a:p>
        </p:txBody>
      </p:sp>
      <p:sp>
        <p:nvSpPr>
          <p:cNvPr id="24" name="Shape 22"/>
          <p:cNvSpPr/>
          <p:nvPr/>
        </p:nvSpPr>
        <p:spPr>
          <a:xfrm>
            <a:off x="5715000" y="4608576"/>
            <a:ext cx="5925312" cy="1280160"/>
          </a:xfrm>
          <a:prstGeom prst="roundRect">
            <a:avLst>
              <a:gd name="adj" fmla="val 12857"/>
            </a:avLst>
          </a:prstGeom>
          <a:solidFill>
            <a:srgbClr val="1A1F26"/>
          </a:solidFill>
          <a:ln w="12700">
            <a:solidFill>
              <a:srgbClr val="1A1F26"/>
            </a:solidFill>
            <a:prstDash val="solid"/>
          </a:ln>
        </p:spPr>
      </p:sp>
      <p:sp>
        <p:nvSpPr>
          <p:cNvPr id="25" name="Shape 23"/>
          <p:cNvSpPr/>
          <p:nvPr/>
        </p:nvSpPr>
        <p:spPr>
          <a:xfrm>
            <a:off x="6035040" y="4928616"/>
            <a:ext cx="640080" cy="640080"/>
          </a:xfrm>
          <a:prstGeom prst="ellipse">
            <a:avLst/>
          </a:prstGeom>
          <a:solidFill>
            <a:srgbClr val="262C35"/>
          </a:solidFill>
          <a:ln w="12700">
            <a:solidFill>
              <a:srgbClr val="262C35"/>
            </a:solidFill>
            <a:prstDash val="solid"/>
          </a:ln>
        </p:spPr>
      </p:sp>
      <p:sp>
        <p:nvSpPr>
          <p:cNvPr id="26" name="Text 24"/>
          <p:cNvSpPr txBox="1"/>
          <p:nvPr/>
        </p:nvSpPr>
        <p:spPr>
          <a:xfrm>
            <a:off x="6035040" y="4928616"/>
            <a:ext cx="640080" cy="640080"/>
          </a:xfrm>
          <a:prstGeom prst="rect">
            <a:avLst/>
          </a:prstGeom>
          <a:noFill/>
          <a:ln/>
        </p:spPr>
        <p:txBody>
          <a:bodyPr wrap="square" lIns="0" tIns="0" rIns="0" bIns="0" rtlCol="0" anchor="ctr"/>
          <a:lstStyle/>
          <a:p>
            <a:pPr algn="ctr" indent="0" marL="0">
              <a:buNone/>
            </a:pPr>
            <a:r>
              <a:rPr lang="en-US" sz="2400" b="1" dirty="0">
                <a:solidFill>
                  <a:srgbClr val="FF9300"/>
                </a:solidFill>
                <a:latin typeface="Arial" pitchFamily="34" charset="0"/>
                <a:ea typeface="Arial" pitchFamily="34" charset="-122"/>
                <a:cs typeface="Arial" pitchFamily="34" charset="-120"/>
              </a:rPr>
              <a:t>C</a:t>
            </a:r>
            <a:endParaRPr lang="en-US" sz="2400" dirty="0"/>
          </a:p>
        </p:txBody>
      </p:sp>
      <p:sp>
        <p:nvSpPr>
          <p:cNvPr id="27" name="Text 25"/>
          <p:cNvSpPr txBox="1"/>
          <p:nvPr/>
        </p:nvSpPr>
        <p:spPr>
          <a:xfrm>
            <a:off x="6903720" y="4791456"/>
            <a:ext cx="4572000" cy="91440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Ich fahre, wenn die Kreuzung frei ist.</a:t>
            </a:r>
            <a:endParaRPr lang="en-US" sz="2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AUFLÖSUNG</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B – du wartest auf das nächste Zeichen</a:t>
            </a:r>
            <a:endParaRPr lang="en-US" sz="3200" dirty="0"/>
          </a:p>
        </p:txBody>
      </p:sp>
      <p:sp>
        <p:nvSpPr>
          <p:cNvPr id="4" name="Shape 2"/>
          <p:cNvSpPr/>
          <p:nvPr/>
        </p:nvSpPr>
        <p:spPr>
          <a:xfrm>
            <a:off x="548640" y="1645920"/>
            <a:ext cx="4754880" cy="4343400"/>
          </a:xfrm>
          <a:prstGeom prst="roundRect">
            <a:avLst>
              <a:gd name="adj" fmla="val 3789"/>
            </a:avLst>
          </a:prstGeom>
          <a:solidFill>
            <a:srgbClr val="1A1F26"/>
          </a:solidFill>
          <a:ln w="12700">
            <a:solidFill>
              <a:srgbClr val="1A1F26"/>
            </a:solidFill>
            <a:prstDash val="solid"/>
          </a:ln>
        </p:spPr>
      </p:sp>
      <p:sp>
        <p:nvSpPr>
          <p:cNvPr id="5" name="Shape 3"/>
          <p:cNvSpPr/>
          <p:nvPr/>
        </p:nvSpPr>
        <p:spPr>
          <a:xfrm>
            <a:off x="1234440" y="2148840"/>
            <a:ext cx="1111910" cy="2926080"/>
          </a:xfrm>
          <a:prstGeom prst="roundRect">
            <a:avLst>
              <a:gd name="adj" fmla="val 9868"/>
            </a:avLst>
          </a:prstGeom>
          <a:solidFill>
            <a:srgbClr val="1E2228"/>
          </a:solidFill>
          <a:ln w="12700">
            <a:solidFill>
              <a:srgbClr val="3A3F46"/>
            </a:solidFill>
            <a:prstDash val="solid"/>
          </a:ln>
        </p:spPr>
      </p:sp>
      <p:sp>
        <p:nvSpPr>
          <p:cNvPr id="6" name="Shape 4"/>
          <p:cNvSpPr/>
          <p:nvPr/>
        </p:nvSpPr>
        <p:spPr>
          <a:xfrm>
            <a:off x="1412346" y="2356006"/>
            <a:ext cx="756099" cy="756099"/>
          </a:xfrm>
          <a:prstGeom prst="ellipse">
            <a:avLst/>
          </a:prstGeom>
          <a:solidFill>
            <a:srgbClr val="3A3F46"/>
          </a:solidFill>
          <a:ln w="12700">
            <a:solidFill>
              <a:srgbClr val="3A3F46"/>
            </a:solidFill>
            <a:prstDash val="solid"/>
          </a:ln>
        </p:spPr>
      </p:sp>
      <p:sp>
        <p:nvSpPr>
          <p:cNvPr id="7" name="Shape 5"/>
          <p:cNvSpPr/>
          <p:nvPr/>
        </p:nvSpPr>
        <p:spPr>
          <a:xfrm>
            <a:off x="1412346" y="3233830"/>
            <a:ext cx="756099" cy="756099"/>
          </a:xfrm>
          <a:prstGeom prst="ellipse">
            <a:avLst/>
          </a:prstGeom>
          <a:solidFill>
            <a:srgbClr val="3A3F46"/>
          </a:solidFill>
          <a:ln w="12700">
            <a:solidFill>
              <a:srgbClr val="3A3F46"/>
            </a:solidFill>
            <a:prstDash val="solid"/>
          </a:ln>
        </p:spPr>
      </p:sp>
      <p:sp>
        <p:nvSpPr>
          <p:cNvPr id="8" name="Shape 6"/>
          <p:cNvSpPr/>
          <p:nvPr/>
        </p:nvSpPr>
        <p:spPr>
          <a:xfrm>
            <a:off x="1412346" y="4111654"/>
            <a:ext cx="756099" cy="756099"/>
          </a:xfrm>
          <a:prstGeom prst="ellipse">
            <a:avLst/>
          </a:prstGeom>
          <a:solidFill>
            <a:srgbClr val="19B45A"/>
          </a:solidFill>
          <a:ln w="12700">
            <a:solidFill>
              <a:srgbClr val="19B45A"/>
            </a:solidFill>
            <a:prstDash val="solid"/>
          </a:ln>
        </p:spPr>
      </p:sp>
      <p:sp>
        <p:nvSpPr>
          <p:cNvPr id="9" name="Shape 7"/>
          <p:cNvSpPr/>
          <p:nvPr/>
        </p:nvSpPr>
        <p:spPr>
          <a:xfrm>
            <a:off x="3383280" y="2706624"/>
            <a:ext cx="548640" cy="548640"/>
          </a:xfrm>
          <a:prstGeom prst="ellipse">
            <a:avLst/>
          </a:prstGeom>
          <a:solidFill>
            <a:srgbClr val="E9C9A8"/>
          </a:solidFill>
          <a:ln w="12700">
            <a:solidFill>
              <a:srgbClr val="101318"/>
            </a:solidFill>
            <a:prstDash val="solid"/>
          </a:ln>
        </p:spPr>
      </p:sp>
      <p:sp>
        <p:nvSpPr>
          <p:cNvPr id="10" name="Shape 8"/>
          <p:cNvSpPr/>
          <p:nvPr/>
        </p:nvSpPr>
        <p:spPr>
          <a:xfrm>
            <a:off x="3328416" y="2651760"/>
            <a:ext cx="658368" cy="192024"/>
          </a:xfrm>
          <a:prstGeom prst="roundRect">
            <a:avLst>
              <a:gd name="adj" fmla="val 9524"/>
            </a:avLst>
          </a:prstGeom>
          <a:solidFill>
            <a:srgbClr val="2C5282"/>
          </a:solidFill>
          <a:ln w="12700">
            <a:solidFill>
              <a:srgbClr val="2C5282"/>
            </a:solidFill>
            <a:prstDash val="solid"/>
          </a:ln>
        </p:spPr>
      </p:sp>
      <p:sp>
        <p:nvSpPr>
          <p:cNvPr id="11" name="Shape 9"/>
          <p:cNvSpPr/>
          <p:nvPr/>
        </p:nvSpPr>
        <p:spPr>
          <a:xfrm>
            <a:off x="3246120" y="3310128"/>
            <a:ext cx="822960" cy="1152144"/>
          </a:xfrm>
          <a:prstGeom prst="roundRect">
            <a:avLst>
              <a:gd name="adj" fmla="val 6667"/>
            </a:avLst>
          </a:prstGeom>
          <a:solidFill>
            <a:srgbClr val="2C5282"/>
          </a:solidFill>
          <a:ln w="12700">
            <a:solidFill>
              <a:srgbClr val="2C5282"/>
            </a:solidFill>
            <a:prstDash val="solid"/>
          </a:ln>
        </p:spPr>
      </p:sp>
      <p:sp>
        <p:nvSpPr>
          <p:cNvPr id="12" name="Shape 10"/>
          <p:cNvSpPr/>
          <p:nvPr/>
        </p:nvSpPr>
        <p:spPr>
          <a:xfrm>
            <a:off x="3300984" y="4407408"/>
            <a:ext cx="301752" cy="987552"/>
          </a:xfrm>
          <a:prstGeom prst="roundRect">
            <a:avLst>
              <a:gd name="adj" fmla="val 9091"/>
            </a:avLst>
          </a:prstGeom>
          <a:solidFill>
            <a:srgbClr val="22324D"/>
          </a:solidFill>
          <a:ln w="12700">
            <a:solidFill>
              <a:srgbClr val="22324D"/>
            </a:solidFill>
            <a:prstDash val="solid"/>
          </a:ln>
        </p:spPr>
      </p:sp>
      <p:sp>
        <p:nvSpPr>
          <p:cNvPr id="13" name="Shape 11"/>
          <p:cNvSpPr/>
          <p:nvPr/>
        </p:nvSpPr>
        <p:spPr>
          <a:xfrm>
            <a:off x="3712464" y="4407408"/>
            <a:ext cx="301752" cy="987552"/>
          </a:xfrm>
          <a:prstGeom prst="roundRect">
            <a:avLst>
              <a:gd name="adj" fmla="val 9091"/>
            </a:avLst>
          </a:prstGeom>
          <a:solidFill>
            <a:srgbClr val="22324D"/>
          </a:solidFill>
          <a:ln w="12700">
            <a:solidFill>
              <a:srgbClr val="22324D"/>
            </a:solidFill>
            <a:prstDash val="solid"/>
          </a:ln>
        </p:spPr>
      </p:sp>
      <p:sp>
        <p:nvSpPr>
          <p:cNvPr id="14" name="Shape 12"/>
          <p:cNvSpPr/>
          <p:nvPr/>
        </p:nvSpPr>
        <p:spPr>
          <a:xfrm>
            <a:off x="4069080" y="2103120"/>
            <a:ext cx="219456" cy="1371600"/>
          </a:xfrm>
          <a:prstGeom prst="roundRect">
            <a:avLst>
              <a:gd name="adj" fmla="val 12500"/>
            </a:avLst>
          </a:prstGeom>
          <a:solidFill>
            <a:srgbClr val="2C5282"/>
          </a:solidFill>
          <a:ln w="12700">
            <a:solidFill>
              <a:srgbClr val="2C5282"/>
            </a:solidFill>
            <a:prstDash val="solid"/>
          </a:ln>
        </p:spPr>
      </p:sp>
      <p:sp>
        <p:nvSpPr>
          <p:cNvPr id="15" name="Shape 13"/>
          <p:cNvSpPr/>
          <p:nvPr/>
        </p:nvSpPr>
        <p:spPr>
          <a:xfrm>
            <a:off x="3081528" y="3364992"/>
            <a:ext cx="219456" cy="987552"/>
          </a:xfrm>
          <a:prstGeom prst="roundRect">
            <a:avLst>
              <a:gd name="adj" fmla="val 12500"/>
            </a:avLst>
          </a:prstGeom>
          <a:solidFill>
            <a:srgbClr val="2C5282"/>
          </a:solidFill>
          <a:ln w="12700">
            <a:solidFill>
              <a:srgbClr val="2C5282"/>
            </a:solidFill>
            <a:prstDash val="solid"/>
          </a:ln>
        </p:spPr>
      </p:sp>
      <p:sp>
        <p:nvSpPr>
          <p:cNvPr id="16" name="Shape 14"/>
          <p:cNvSpPr/>
          <p:nvPr/>
        </p:nvSpPr>
        <p:spPr>
          <a:xfrm>
            <a:off x="5715000" y="1645920"/>
            <a:ext cx="5925312" cy="1280160"/>
          </a:xfrm>
          <a:prstGeom prst="roundRect">
            <a:avLst>
              <a:gd name="adj" fmla="val 12857"/>
            </a:avLst>
          </a:prstGeom>
          <a:solidFill>
            <a:srgbClr val="FF9300"/>
          </a:solidFill>
          <a:ln w="12700">
            <a:solidFill>
              <a:srgbClr val="FF9300"/>
            </a:solidFill>
            <a:prstDash val="solid"/>
          </a:ln>
        </p:spPr>
      </p:sp>
      <p:sp>
        <p:nvSpPr>
          <p:cNvPr id="17" name="Text 15"/>
          <p:cNvSpPr txBox="1"/>
          <p:nvPr/>
        </p:nvSpPr>
        <p:spPr>
          <a:xfrm>
            <a:off x="6035040" y="1965960"/>
            <a:ext cx="640080" cy="640080"/>
          </a:xfrm>
          <a:prstGeom prst="rect">
            <a:avLst/>
          </a:prstGeom>
          <a:noFill/>
          <a:ln/>
        </p:spPr>
        <p:txBody>
          <a:bodyPr wrap="square" lIns="0" tIns="0" rIns="0" bIns="0" rtlCol="0" anchor="ctr"/>
          <a:lstStyle/>
          <a:p>
            <a:pPr algn="ctr" indent="0" marL="0">
              <a:buNone/>
            </a:pPr>
            <a:r>
              <a:rPr lang="en-US" sz="2600" b="1" dirty="0">
                <a:solidFill>
                  <a:srgbClr val="15181D"/>
                </a:solidFill>
                <a:latin typeface="Arial" pitchFamily="34" charset="0"/>
                <a:ea typeface="Arial" pitchFamily="34" charset="-122"/>
                <a:cs typeface="Arial" pitchFamily="34" charset="-120"/>
              </a:rPr>
              <a:t>B</a:t>
            </a:r>
            <a:endParaRPr lang="en-US" sz="2600" dirty="0"/>
          </a:p>
        </p:txBody>
      </p:sp>
      <p:sp>
        <p:nvSpPr>
          <p:cNvPr id="18" name="Text 16"/>
          <p:cNvSpPr txBox="1"/>
          <p:nvPr/>
        </p:nvSpPr>
        <p:spPr>
          <a:xfrm>
            <a:off x="6903720" y="1828800"/>
            <a:ext cx="4572000" cy="914400"/>
          </a:xfrm>
          <a:prstGeom prst="rect">
            <a:avLst/>
          </a:prstGeom>
          <a:noFill/>
          <a:ln/>
        </p:spPr>
        <p:txBody>
          <a:bodyPr wrap="square" lIns="0" tIns="0" rIns="0" bIns="0" rtlCol="0" anchor="ctr"/>
          <a:lstStyle/>
          <a:p>
            <a:pPr indent="0" marL="0">
              <a:buNone/>
            </a:pPr>
            <a:r>
              <a:rPr lang="en-US" sz="2200" b="1" dirty="0">
                <a:solidFill>
                  <a:srgbClr val="15181D"/>
                </a:solidFill>
                <a:latin typeface="Arial" pitchFamily="34" charset="0"/>
                <a:ea typeface="Arial" pitchFamily="34" charset="-122"/>
                <a:cs typeface="Arial" pitchFamily="34" charset="-120"/>
              </a:rPr>
              <a:t>Ich warte auf das nächste Zeichen.</a:t>
            </a:r>
            <a:endParaRPr lang="en-US" sz="2200" dirty="0"/>
          </a:p>
        </p:txBody>
      </p:sp>
      <p:sp>
        <p:nvSpPr>
          <p:cNvPr id="19" name="Shape 17"/>
          <p:cNvSpPr/>
          <p:nvPr/>
        </p:nvSpPr>
        <p:spPr>
          <a:xfrm>
            <a:off x="5792724" y="3442716"/>
            <a:ext cx="155448" cy="155448"/>
          </a:xfrm>
          <a:prstGeom prst="ellipse">
            <a:avLst/>
          </a:prstGeom>
          <a:solidFill>
            <a:srgbClr val="FF9300"/>
          </a:solidFill>
          <a:ln w="12700">
            <a:solidFill>
              <a:srgbClr val="FF9300"/>
            </a:solidFill>
            <a:prstDash val="solid"/>
          </a:ln>
        </p:spPr>
      </p:sp>
      <p:sp>
        <p:nvSpPr>
          <p:cNvPr id="20" name="Text 18"/>
          <p:cNvSpPr txBox="1"/>
          <p:nvPr/>
        </p:nvSpPr>
        <p:spPr>
          <a:xfrm>
            <a:off x="6144768" y="3337560"/>
            <a:ext cx="5468112" cy="749808"/>
          </a:xfrm>
          <a:prstGeom prst="rect">
            <a:avLst/>
          </a:prstGeom>
          <a:noFill/>
          <a:ln/>
        </p:spPr>
        <p:txBody>
          <a:bodyPr wrap="square" lIns="0" tIns="0" rIns="0" bIns="0" rtlCol="0" anchor="t"/>
          <a:lstStyle/>
          <a:p>
            <a:pPr indent="0" marL="0">
              <a:lnSpc>
                <a:spcPct val="105000"/>
              </a:lnSpc>
              <a:buNone/>
            </a:pPr>
            <a:r>
              <a:rPr lang="en-US" sz="1900" b="1" dirty="0">
                <a:solidFill>
                  <a:srgbClr val="FFFFFF"/>
                </a:solidFill>
                <a:latin typeface="Arial" pitchFamily="34" charset="0"/>
                <a:ea typeface="Arial" pitchFamily="34" charset="-122"/>
                <a:cs typeface="Arial" pitchFamily="34" charset="-120"/>
              </a:rPr>
              <a:t>Arm hoch </a:t>
            </a:r>
            <a:pPr indent="0" marL="0">
              <a:lnSpc>
                <a:spcPct val="105000"/>
              </a:lnSpc>
              <a:buNone/>
            </a:pPr>
            <a:r>
              <a:rPr lang="en-US" sz="1900" dirty="0">
                <a:solidFill>
                  <a:srgbClr val="D5DAE0"/>
                </a:solidFill>
                <a:latin typeface="Arial" pitchFamily="34" charset="0"/>
                <a:ea typeface="Arial" pitchFamily="34" charset="-122"/>
                <a:cs typeface="Arial" pitchFamily="34" charset="-120"/>
              </a:rPr>
              <a:t>heißt: Alle warten auf das nächste Zeichen.</a:t>
            </a:r>
            <a:endParaRPr lang="en-US" sz="1900" dirty="0"/>
          </a:p>
        </p:txBody>
      </p:sp>
      <p:sp>
        <p:nvSpPr>
          <p:cNvPr id="21" name="Shape 19"/>
          <p:cNvSpPr/>
          <p:nvPr/>
        </p:nvSpPr>
        <p:spPr>
          <a:xfrm>
            <a:off x="5792724" y="4265676"/>
            <a:ext cx="155448" cy="155448"/>
          </a:xfrm>
          <a:prstGeom prst="ellipse">
            <a:avLst/>
          </a:prstGeom>
          <a:solidFill>
            <a:srgbClr val="FF9300"/>
          </a:solidFill>
          <a:ln w="12700">
            <a:solidFill>
              <a:srgbClr val="FF9300"/>
            </a:solidFill>
            <a:prstDash val="solid"/>
          </a:ln>
        </p:spPr>
      </p:sp>
      <p:sp>
        <p:nvSpPr>
          <p:cNvPr id="22" name="Text 20"/>
          <p:cNvSpPr txBox="1"/>
          <p:nvPr/>
        </p:nvSpPr>
        <p:spPr>
          <a:xfrm>
            <a:off x="6144768" y="4160520"/>
            <a:ext cx="5468112" cy="749808"/>
          </a:xfrm>
          <a:prstGeom prst="rect">
            <a:avLst/>
          </a:prstGeom>
          <a:noFill/>
          <a:ln/>
        </p:spPr>
        <p:txBody>
          <a:bodyPr wrap="square" lIns="0" tIns="0" rIns="0" bIns="0" rtlCol="0" anchor="t"/>
          <a:lstStyle/>
          <a:p>
            <a:pPr indent="0" marL="0">
              <a:lnSpc>
                <a:spcPct val="105000"/>
              </a:lnSpc>
              <a:buNone/>
            </a:pPr>
            <a:r>
              <a:rPr lang="en-US" sz="1900" b="1" dirty="0">
                <a:solidFill>
                  <a:srgbClr val="FFFFFF"/>
                </a:solidFill>
                <a:latin typeface="Arial" pitchFamily="34" charset="0"/>
                <a:ea typeface="Arial" pitchFamily="34" charset="-122"/>
                <a:cs typeface="Arial" pitchFamily="34" charset="-120"/>
              </a:rPr>
              <a:t>Polizei vor Ampel: </a:t>
            </a:r>
            <a:pPr indent="0" marL="0">
              <a:lnSpc>
                <a:spcPct val="105000"/>
              </a:lnSpc>
              <a:buNone/>
            </a:pPr>
            <a:r>
              <a:rPr lang="en-US" sz="1900" dirty="0">
                <a:solidFill>
                  <a:srgbClr val="D5DAE0"/>
                </a:solidFill>
                <a:latin typeface="Arial" pitchFamily="34" charset="0"/>
                <a:ea typeface="Arial" pitchFamily="34" charset="-122"/>
                <a:cs typeface="Arial" pitchFamily="34" charset="-120"/>
              </a:rPr>
              <a:t>Grün gilt in diesem Moment nicht.</a:t>
            </a:r>
            <a:endParaRPr lang="en-US" sz="1900" dirty="0"/>
          </a:p>
        </p:txBody>
      </p:sp>
      <p:sp>
        <p:nvSpPr>
          <p:cNvPr id="23" name="Shape 21"/>
          <p:cNvSpPr/>
          <p:nvPr/>
        </p:nvSpPr>
        <p:spPr>
          <a:xfrm>
            <a:off x="5792724" y="5088636"/>
            <a:ext cx="155448" cy="155448"/>
          </a:xfrm>
          <a:prstGeom prst="ellipse">
            <a:avLst/>
          </a:prstGeom>
          <a:solidFill>
            <a:srgbClr val="FF9300"/>
          </a:solidFill>
          <a:ln w="12700">
            <a:solidFill>
              <a:srgbClr val="FF9300"/>
            </a:solidFill>
            <a:prstDash val="solid"/>
          </a:ln>
        </p:spPr>
      </p:sp>
      <p:sp>
        <p:nvSpPr>
          <p:cNvPr id="24" name="Text 22"/>
          <p:cNvSpPr txBox="1"/>
          <p:nvPr/>
        </p:nvSpPr>
        <p:spPr>
          <a:xfrm>
            <a:off x="6144768" y="4983480"/>
            <a:ext cx="5468112" cy="749808"/>
          </a:xfrm>
          <a:prstGeom prst="rect">
            <a:avLst/>
          </a:prstGeom>
          <a:noFill/>
          <a:ln/>
        </p:spPr>
        <p:txBody>
          <a:bodyPr wrap="square" lIns="0" tIns="0" rIns="0" bIns="0" rtlCol="0" anchor="t"/>
          <a:lstStyle/>
          <a:p>
            <a:pPr indent="0" marL="0">
              <a:lnSpc>
                <a:spcPct val="105000"/>
              </a:lnSpc>
              <a:buNone/>
            </a:pPr>
            <a:r>
              <a:rPr lang="en-US" sz="1900" b="1" dirty="0">
                <a:solidFill>
                  <a:srgbClr val="FFFFFF"/>
                </a:solidFill>
                <a:latin typeface="Arial" pitchFamily="34" charset="0"/>
                <a:ea typeface="Arial" pitchFamily="34" charset="-122"/>
                <a:cs typeface="Arial" pitchFamily="34" charset="-120"/>
              </a:rPr>
              <a:t>Schon in der Kreuzung? </a:t>
            </a:r>
            <a:pPr indent="0" marL="0">
              <a:lnSpc>
                <a:spcPct val="105000"/>
              </a:lnSpc>
              <a:buNone/>
            </a:pPr>
            <a:r>
              <a:rPr lang="en-US" sz="1900" dirty="0">
                <a:solidFill>
                  <a:srgbClr val="D5DAE0"/>
                </a:solidFill>
                <a:latin typeface="Arial" pitchFamily="34" charset="0"/>
                <a:ea typeface="Arial" pitchFamily="34" charset="-122"/>
                <a:cs typeface="Arial" pitchFamily="34" charset="-120"/>
              </a:rPr>
              <a:t>Dann fährst du sie frei.</a:t>
            </a:r>
            <a:endParaRPr lang="en-US" sz="19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0469880" y="1097280"/>
            <a:ext cx="731520" cy="4206240"/>
          </a:xfrm>
          <a:prstGeom prst="rect">
            <a:avLst/>
          </a:prstGeom>
          <a:solidFill>
            <a:srgbClr val="1A1F26"/>
          </a:solidFill>
          <a:ln w="12700">
            <a:solidFill>
              <a:srgbClr val="1A1F26"/>
            </a:solidFill>
            <a:prstDash val="solid"/>
          </a:ln>
        </p:spPr>
      </p:sp>
      <p:sp>
        <p:nvSpPr>
          <p:cNvPr id="3" name="Shape 1"/>
          <p:cNvSpPr/>
          <p:nvPr/>
        </p:nvSpPr>
        <p:spPr>
          <a:xfrm>
            <a:off x="9646920" y="2834640"/>
            <a:ext cx="2542032" cy="731520"/>
          </a:xfrm>
          <a:prstGeom prst="rect">
            <a:avLst/>
          </a:prstGeom>
          <a:solidFill>
            <a:srgbClr val="1A1F26"/>
          </a:solidFill>
          <a:ln w="12700">
            <a:solidFill>
              <a:srgbClr val="1A1F26"/>
            </a:solidFill>
            <a:prstDash val="solid"/>
          </a:ln>
        </p:spPr>
      </p:sp>
      <p:sp>
        <p:nvSpPr>
          <p:cNvPr id="4" name="Text 2"/>
          <p:cNvSpPr txBox="1"/>
          <p:nvPr/>
        </p:nvSpPr>
        <p:spPr>
          <a:xfrm>
            <a:off x="548640" y="1417320"/>
            <a:ext cx="3657600" cy="1828800"/>
          </a:xfrm>
          <a:prstGeom prst="rect">
            <a:avLst/>
          </a:prstGeom>
          <a:noFill/>
          <a:ln/>
        </p:spPr>
        <p:txBody>
          <a:bodyPr wrap="square" lIns="0" tIns="0" rIns="0" bIns="0" rtlCol="0" anchor="t"/>
          <a:lstStyle/>
          <a:p>
            <a:pPr indent="0" marL="0">
              <a:buNone/>
            </a:pPr>
            <a:r>
              <a:rPr lang="en-US" sz="14000" b="1" dirty="0">
                <a:solidFill>
                  <a:srgbClr val="FF9300"/>
                </a:solidFill>
                <a:latin typeface="Arial" pitchFamily="34" charset="0"/>
                <a:ea typeface="Arial" pitchFamily="34" charset="-122"/>
                <a:cs typeface="Arial" pitchFamily="34" charset="-120"/>
              </a:rPr>
              <a:t>02</a:t>
            </a:r>
            <a:endParaRPr lang="en-US" sz="14000" dirty="0"/>
          </a:p>
        </p:txBody>
      </p:sp>
      <p:sp>
        <p:nvSpPr>
          <p:cNvPr id="5" name="Text 3"/>
          <p:cNvSpPr txBox="1"/>
          <p:nvPr/>
        </p:nvSpPr>
        <p:spPr>
          <a:xfrm>
            <a:off x="548640" y="3246120"/>
            <a:ext cx="8869680" cy="9144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Rechts vor links</a:t>
            </a:r>
            <a:endParaRPr lang="en-US" sz="4400" dirty="0"/>
          </a:p>
        </p:txBody>
      </p:sp>
      <p:sp>
        <p:nvSpPr>
          <p:cNvPr id="6" name="Text 4"/>
          <p:cNvSpPr txBox="1"/>
          <p:nvPr/>
        </p:nvSpPr>
        <p:spPr>
          <a:xfrm>
            <a:off x="566928" y="4251960"/>
            <a:ext cx="8869680" cy="548640"/>
          </a:xfrm>
          <a:prstGeom prst="rect">
            <a:avLst/>
          </a:prstGeom>
          <a:noFill/>
          <a:ln/>
        </p:spPr>
        <p:txBody>
          <a:bodyPr wrap="square" lIns="0" tIns="0" rIns="0" bIns="0" rtlCol="0" anchor="t"/>
          <a:lstStyle/>
          <a:p>
            <a:pPr indent="0" marL="0">
              <a:buNone/>
            </a:pPr>
            <a:r>
              <a:rPr lang="en-US" sz="2200" dirty="0">
                <a:solidFill>
                  <a:srgbClr val="A3ACB7"/>
                </a:solidFill>
                <a:latin typeface="Arial" pitchFamily="34" charset="0"/>
                <a:ea typeface="Arial" pitchFamily="34" charset="-122"/>
                <a:cs typeface="Arial" pitchFamily="34" charset="-120"/>
              </a:rPr>
              <a:t>Die Grundregel – immer dann, wenn nichts anderes geregelt ist</a:t>
            </a:r>
            <a:endParaRPr lang="en-US" sz="2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02 · GRUNDREGEL</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Rechts vor links</a:t>
            </a:r>
            <a:endParaRPr lang="en-US" sz="3200" dirty="0"/>
          </a:p>
        </p:txBody>
      </p:sp>
      <p:sp>
        <p:nvSpPr>
          <p:cNvPr id="4" name="Shape 2"/>
          <p:cNvSpPr/>
          <p:nvPr/>
        </p:nvSpPr>
        <p:spPr>
          <a:xfrm>
            <a:off x="9882835" y="457200"/>
            <a:ext cx="1760220"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882835" y="457200"/>
            <a:ext cx="1760220"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8 Abs. 1 StVO</a:t>
            </a:r>
            <a:endParaRPr lang="en-US" sz="1200" dirty="0"/>
          </a:p>
        </p:txBody>
      </p:sp>
      <p:sp>
        <p:nvSpPr>
          <p:cNvPr id="6" name="Shape 4"/>
          <p:cNvSpPr/>
          <p:nvPr/>
        </p:nvSpPr>
        <p:spPr>
          <a:xfrm>
            <a:off x="580644" y="1888236"/>
            <a:ext cx="155448" cy="155448"/>
          </a:xfrm>
          <a:prstGeom prst="ellipse">
            <a:avLst/>
          </a:prstGeom>
          <a:solidFill>
            <a:srgbClr val="FF9300"/>
          </a:solidFill>
          <a:ln w="12700">
            <a:solidFill>
              <a:srgbClr val="FF9300"/>
            </a:solidFill>
            <a:prstDash val="solid"/>
          </a:ln>
        </p:spPr>
      </p:sp>
      <p:sp>
        <p:nvSpPr>
          <p:cNvPr id="7" name="Text 5"/>
          <p:cNvSpPr txBox="1"/>
          <p:nvPr/>
        </p:nvSpPr>
        <p:spPr>
          <a:xfrm>
            <a:off x="932688" y="1783080"/>
            <a:ext cx="4828032" cy="950976"/>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Wo?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An Kreuzungen und Einmündungen ohne Polizei, Ampel oder Vorfahrtszeichen.</a:t>
            </a:r>
            <a:endParaRPr lang="en-US" sz="1900" dirty="0"/>
          </a:p>
        </p:txBody>
      </p:sp>
      <p:sp>
        <p:nvSpPr>
          <p:cNvPr id="8" name="Shape 6"/>
          <p:cNvSpPr/>
          <p:nvPr/>
        </p:nvSpPr>
        <p:spPr>
          <a:xfrm>
            <a:off x="580644" y="2912364"/>
            <a:ext cx="155448" cy="155448"/>
          </a:xfrm>
          <a:prstGeom prst="ellipse">
            <a:avLst/>
          </a:prstGeom>
          <a:solidFill>
            <a:srgbClr val="FF9300"/>
          </a:solidFill>
          <a:ln w="12700">
            <a:solidFill>
              <a:srgbClr val="FF9300"/>
            </a:solidFill>
            <a:prstDash val="solid"/>
          </a:ln>
        </p:spPr>
      </p:sp>
      <p:sp>
        <p:nvSpPr>
          <p:cNvPr id="9" name="Text 7"/>
          <p:cNvSpPr txBox="1"/>
          <p:nvPr/>
        </p:nvSpPr>
        <p:spPr>
          <a:xfrm>
            <a:off x="932688" y="2807208"/>
            <a:ext cx="4828032" cy="950976"/>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Wer?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Wer von rechts kommt, fährt zuerst – egal, wohin er will.</a:t>
            </a:r>
            <a:endParaRPr lang="en-US" sz="1900" dirty="0"/>
          </a:p>
        </p:txBody>
      </p:sp>
      <p:sp>
        <p:nvSpPr>
          <p:cNvPr id="10" name="Shape 8"/>
          <p:cNvSpPr/>
          <p:nvPr/>
        </p:nvSpPr>
        <p:spPr>
          <a:xfrm>
            <a:off x="580644" y="3936492"/>
            <a:ext cx="155448" cy="155448"/>
          </a:xfrm>
          <a:prstGeom prst="ellipse">
            <a:avLst/>
          </a:prstGeom>
          <a:solidFill>
            <a:srgbClr val="FF9300"/>
          </a:solidFill>
          <a:ln w="12700">
            <a:solidFill>
              <a:srgbClr val="FF9300"/>
            </a:solidFill>
            <a:prstDash val="solid"/>
          </a:ln>
        </p:spPr>
      </p:sp>
      <p:sp>
        <p:nvSpPr>
          <p:cNvPr id="11" name="Text 9"/>
          <p:cNvSpPr txBox="1"/>
          <p:nvPr/>
        </p:nvSpPr>
        <p:spPr>
          <a:xfrm>
            <a:off x="932688" y="3831336"/>
            <a:ext cx="4828032" cy="950976"/>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Auch Radfahrer: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Kommt ein Rad von rechts, hat es Vorfahrt.</a:t>
            </a:r>
            <a:endParaRPr lang="en-US" sz="1900" dirty="0"/>
          </a:p>
        </p:txBody>
      </p:sp>
      <p:sp>
        <p:nvSpPr>
          <p:cNvPr id="12" name="Shape 10"/>
          <p:cNvSpPr/>
          <p:nvPr/>
        </p:nvSpPr>
        <p:spPr>
          <a:xfrm>
            <a:off x="580644" y="4960620"/>
            <a:ext cx="155448" cy="155448"/>
          </a:xfrm>
          <a:prstGeom prst="ellipse">
            <a:avLst/>
          </a:prstGeom>
          <a:solidFill>
            <a:srgbClr val="FF9300"/>
          </a:solidFill>
          <a:ln w="12700">
            <a:solidFill>
              <a:srgbClr val="FF9300"/>
            </a:solidFill>
            <a:prstDash val="solid"/>
          </a:ln>
        </p:spPr>
      </p:sp>
      <p:sp>
        <p:nvSpPr>
          <p:cNvPr id="13" name="Text 11"/>
          <p:cNvSpPr txBox="1"/>
          <p:nvPr/>
        </p:nvSpPr>
        <p:spPr>
          <a:xfrm>
            <a:off x="932688" y="4855464"/>
            <a:ext cx="4828032" cy="950976"/>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Egal: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Breite, Belag oder Verkehrsmenge der Straße zählen nicht.</a:t>
            </a:r>
            <a:endParaRPr lang="en-US" sz="1900" dirty="0"/>
          </a:p>
        </p:txBody>
      </p:sp>
      <p:sp>
        <p:nvSpPr>
          <p:cNvPr id="14" name="Shape 12"/>
          <p:cNvSpPr/>
          <p:nvPr/>
        </p:nvSpPr>
        <p:spPr>
          <a:xfrm>
            <a:off x="6126480" y="1600200"/>
            <a:ext cx="5513832" cy="4526280"/>
          </a:xfrm>
          <a:prstGeom prst="roundRect">
            <a:avLst>
              <a:gd name="adj" fmla="val 4444"/>
            </a:avLst>
          </a:prstGeom>
          <a:solidFill>
            <a:srgbClr val="E3E8ED"/>
          </a:solidFill>
          <a:ln w="12700">
            <a:solidFill>
              <a:srgbClr val="E3E8ED"/>
            </a:solidFill>
            <a:prstDash val="solid"/>
          </a:ln>
        </p:spPr>
      </p:sp>
      <p:sp>
        <p:nvSpPr>
          <p:cNvPr id="15" name="Shape 13"/>
          <p:cNvSpPr/>
          <p:nvPr/>
        </p:nvSpPr>
        <p:spPr>
          <a:xfrm>
            <a:off x="8083296" y="1600200"/>
            <a:ext cx="1600200" cy="4526280"/>
          </a:xfrm>
          <a:prstGeom prst="rect">
            <a:avLst/>
          </a:prstGeom>
          <a:solidFill>
            <a:srgbClr val="3B414A"/>
          </a:solidFill>
          <a:ln w="12700">
            <a:solidFill>
              <a:srgbClr val="3B414A"/>
            </a:solidFill>
            <a:prstDash val="solid"/>
          </a:ln>
        </p:spPr>
      </p:sp>
      <p:sp>
        <p:nvSpPr>
          <p:cNvPr id="16" name="Shape 14"/>
          <p:cNvSpPr/>
          <p:nvPr/>
        </p:nvSpPr>
        <p:spPr>
          <a:xfrm>
            <a:off x="6126480" y="3063240"/>
            <a:ext cx="5513832" cy="1600200"/>
          </a:xfrm>
          <a:prstGeom prst="rect">
            <a:avLst/>
          </a:prstGeom>
          <a:solidFill>
            <a:srgbClr val="3B414A"/>
          </a:solidFill>
          <a:ln w="12700">
            <a:solidFill>
              <a:srgbClr val="3B414A"/>
            </a:solidFill>
            <a:prstDash val="solid"/>
          </a:ln>
        </p:spPr>
      </p:sp>
      <p:sp>
        <p:nvSpPr>
          <p:cNvPr id="17" name="Shape 15"/>
          <p:cNvSpPr/>
          <p:nvPr/>
        </p:nvSpPr>
        <p:spPr>
          <a:xfrm>
            <a:off x="8883396" y="1709928"/>
            <a:ext cx="0" cy="1243584"/>
          </a:xfrm>
          <a:prstGeom prst="line">
            <a:avLst/>
          </a:prstGeom>
          <a:noFill/>
          <a:ln w="22225">
            <a:solidFill>
              <a:srgbClr val="F2F4F6"/>
            </a:solidFill>
            <a:prstDash val="dash"/>
          </a:ln>
        </p:spPr>
      </p:sp>
      <p:sp>
        <p:nvSpPr>
          <p:cNvPr id="18" name="Shape 16"/>
          <p:cNvSpPr/>
          <p:nvPr/>
        </p:nvSpPr>
        <p:spPr>
          <a:xfrm>
            <a:off x="8883396" y="4773168"/>
            <a:ext cx="0" cy="1243584"/>
          </a:xfrm>
          <a:prstGeom prst="line">
            <a:avLst/>
          </a:prstGeom>
          <a:noFill/>
          <a:ln w="22225">
            <a:solidFill>
              <a:srgbClr val="F2F4F6"/>
            </a:solidFill>
            <a:prstDash val="dash"/>
          </a:ln>
        </p:spPr>
      </p:sp>
      <p:sp>
        <p:nvSpPr>
          <p:cNvPr id="19" name="Shape 17"/>
          <p:cNvSpPr/>
          <p:nvPr/>
        </p:nvSpPr>
        <p:spPr>
          <a:xfrm>
            <a:off x="6236208" y="3863340"/>
            <a:ext cx="1737360" cy="0"/>
          </a:xfrm>
          <a:prstGeom prst="line">
            <a:avLst/>
          </a:prstGeom>
          <a:noFill/>
          <a:ln w="22225">
            <a:solidFill>
              <a:srgbClr val="F2F4F6"/>
            </a:solidFill>
            <a:prstDash val="dash"/>
          </a:ln>
        </p:spPr>
      </p:sp>
      <p:sp>
        <p:nvSpPr>
          <p:cNvPr id="20" name="Shape 18"/>
          <p:cNvSpPr/>
          <p:nvPr/>
        </p:nvSpPr>
        <p:spPr>
          <a:xfrm>
            <a:off x="9793224" y="3863340"/>
            <a:ext cx="1737360" cy="0"/>
          </a:xfrm>
          <a:prstGeom prst="line">
            <a:avLst/>
          </a:prstGeom>
          <a:noFill/>
          <a:ln w="22225">
            <a:solidFill>
              <a:srgbClr val="F2F4F6"/>
            </a:solidFill>
            <a:prstDash val="dash"/>
          </a:ln>
        </p:spPr>
      </p:sp>
      <p:sp>
        <p:nvSpPr>
          <p:cNvPr id="21" name="Shape 19"/>
          <p:cNvSpPr/>
          <p:nvPr/>
        </p:nvSpPr>
        <p:spPr>
          <a:xfrm>
            <a:off x="9045702" y="4901184"/>
            <a:ext cx="475488" cy="896112"/>
          </a:xfrm>
          <a:prstGeom prst="roundRect">
            <a:avLst>
              <a:gd name="adj" fmla="val 25000"/>
            </a:avLst>
          </a:prstGeom>
          <a:solidFill>
            <a:srgbClr val="FF9300"/>
          </a:solidFill>
          <a:ln w="15875">
            <a:solidFill>
              <a:srgbClr val="FFFFFF"/>
            </a:solidFill>
            <a:prstDash val="solid"/>
          </a:ln>
        </p:spPr>
      </p:sp>
      <p:sp>
        <p:nvSpPr>
          <p:cNvPr id="22" name="Shape 20"/>
          <p:cNvSpPr/>
          <p:nvPr/>
        </p:nvSpPr>
        <p:spPr>
          <a:xfrm>
            <a:off x="9118854" y="5084064"/>
            <a:ext cx="329184" cy="182880"/>
          </a:xfrm>
          <a:prstGeom prst="roundRect">
            <a:avLst>
              <a:gd name="adj" fmla="val 30000"/>
            </a:avLst>
          </a:prstGeom>
          <a:solidFill>
            <a:srgbClr val="1B1F24"/>
          </a:solidFill>
          <a:ln w="12700">
            <a:solidFill>
              <a:srgbClr val="1B1F24"/>
            </a:solidFill>
            <a:prstDash val="solid"/>
          </a:ln>
        </p:spPr>
      </p:sp>
      <p:sp>
        <p:nvSpPr>
          <p:cNvPr id="23" name="Text 21"/>
          <p:cNvSpPr txBox="1"/>
          <p:nvPr/>
        </p:nvSpPr>
        <p:spPr>
          <a:xfrm>
            <a:off x="9009126" y="536752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24" name="Shape 22"/>
          <p:cNvSpPr/>
          <p:nvPr/>
        </p:nvSpPr>
        <p:spPr>
          <a:xfrm>
            <a:off x="10012680" y="3225546"/>
            <a:ext cx="896112" cy="475488"/>
          </a:xfrm>
          <a:prstGeom prst="roundRect">
            <a:avLst>
              <a:gd name="adj" fmla="val 25000"/>
            </a:avLst>
          </a:prstGeom>
          <a:solidFill>
            <a:srgbClr val="3B82F6"/>
          </a:solidFill>
          <a:ln w="15875">
            <a:solidFill>
              <a:srgbClr val="FFFFFF"/>
            </a:solidFill>
            <a:prstDash val="solid"/>
          </a:ln>
        </p:spPr>
      </p:sp>
      <p:sp>
        <p:nvSpPr>
          <p:cNvPr id="25" name="Shape 23"/>
          <p:cNvSpPr/>
          <p:nvPr/>
        </p:nvSpPr>
        <p:spPr>
          <a:xfrm>
            <a:off x="10195560" y="3298698"/>
            <a:ext cx="182880" cy="329184"/>
          </a:xfrm>
          <a:prstGeom prst="roundRect">
            <a:avLst>
              <a:gd name="adj" fmla="val 30000"/>
            </a:avLst>
          </a:prstGeom>
          <a:solidFill>
            <a:srgbClr val="1B1F24"/>
          </a:solidFill>
          <a:ln w="12700">
            <a:solidFill>
              <a:srgbClr val="1B1F24"/>
            </a:solidFill>
            <a:prstDash val="solid"/>
          </a:ln>
        </p:spPr>
      </p:sp>
      <p:sp>
        <p:nvSpPr>
          <p:cNvPr id="26" name="Shape 24"/>
          <p:cNvSpPr/>
          <p:nvPr/>
        </p:nvSpPr>
        <p:spPr>
          <a:xfrm>
            <a:off x="7736738" y="3463290"/>
            <a:ext cx="2221078" cy="18288"/>
          </a:xfrm>
          <a:custGeom>
            <a:avLst/>
            <a:gdLst/>
            <a:ahLst/>
            <a:cxnLst/>
            <a:rect l="l" t="t" r="r" b="b"/>
            <a:pathLst>
              <a:path w="2221078" h="18288">
                <a:moveTo>
                  <a:pt x="2221078" y="0"/>
                </a:moveTo>
                <a:lnTo>
                  <a:pt x="0" y="0"/>
                </a:lnTo>
              </a:path>
            </a:pathLst>
          </a:custGeom>
          <a:noFill/>
          <a:ln w="44450">
            <a:solidFill>
              <a:srgbClr val="FFFFFF"/>
            </a:solidFill>
            <a:prstDash val="solid"/>
          </a:ln>
        </p:spPr>
      </p:sp>
      <p:sp>
        <p:nvSpPr>
          <p:cNvPr id="27" name="Shape 25"/>
          <p:cNvSpPr/>
          <p:nvPr/>
        </p:nvSpPr>
        <p:spPr>
          <a:xfrm rot="16200000">
            <a:off x="7534656" y="3344418"/>
            <a:ext cx="237744" cy="237744"/>
          </a:xfrm>
          <a:prstGeom prst="triangle">
            <a:avLst/>
          </a:prstGeom>
          <a:solidFill>
            <a:srgbClr val="FFFFFF"/>
          </a:solidFill>
          <a:ln w="12700">
            <a:solidFill>
              <a:srgbClr val="FFFFFF"/>
            </a:solidFill>
            <a:prstDash val="solid"/>
          </a:ln>
        </p:spPr>
      </p:sp>
      <p:sp>
        <p:nvSpPr>
          <p:cNvPr id="28" name="Shape 26"/>
          <p:cNvSpPr/>
          <p:nvPr/>
        </p:nvSpPr>
        <p:spPr>
          <a:xfrm>
            <a:off x="9283446" y="2716682"/>
            <a:ext cx="18288" cy="2129638"/>
          </a:xfrm>
          <a:custGeom>
            <a:avLst/>
            <a:gdLst/>
            <a:ahLst/>
            <a:cxnLst/>
            <a:rect l="l" t="t" r="r" b="b"/>
            <a:pathLst>
              <a:path w="18288" h="2129638">
                <a:moveTo>
                  <a:pt x="0" y="2129638"/>
                </a:moveTo>
                <a:lnTo>
                  <a:pt x="0" y="0"/>
                </a:lnTo>
              </a:path>
            </a:pathLst>
          </a:custGeom>
          <a:noFill/>
          <a:ln w="44450">
            <a:solidFill>
              <a:srgbClr val="FF9300"/>
            </a:solidFill>
            <a:prstDash val="dash"/>
          </a:ln>
        </p:spPr>
      </p:sp>
      <p:sp>
        <p:nvSpPr>
          <p:cNvPr id="29" name="Shape 27"/>
          <p:cNvSpPr/>
          <p:nvPr/>
        </p:nvSpPr>
        <p:spPr>
          <a:xfrm>
            <a:off x="9164574" y="2514600"/>
            <a:ext cx="237744" cy="237744"/>
          </a:xfrm>
          <a:prstGeom prst="triangle">
            <a:avLst/>
          </a:prstGeom>
          <a:solidFill>
            <a:srgbClr val="FF9300"/>
          </a:solidFill>
          <a:ln w="12700">
            <a:solidFill>
              <a:srgbClr val="FF9300"/>
            </a:solidFill>
            <a:prstDash val="solid"/>
          </a:ln>
        </p:spPr>
      </p:sp>
      <p:sp>
        <p:nvSpPr>
          <p:cNvPr id="30" name="Shape 28"/>
          <p:cNvSpPr/>
          <p:nvPr/>
        </p:nvSpPr>
        <p:spPr>
          <a:xfrm>
            <a:off x="10296144" y="2704338"/>
            <a:ext cx="420624" cy="420624"/>
          </a:xfrm>
          <a:prstGeom prst="ellipse">
            <a:avLst/>
          </a:prstGeom>
          <a:solidFill>
            <a:srgbClr val="FF9300"/>
          </a:solidFill>
          <a:ln w="19050">
            <a:solidFill>
              <a:srgbClr val="FFFFFF"/>
            </a:solidFill>
            <a:prstDash val="solid"/>
          </a:ln>
        </p:spPr>
      </p:sp>
      <p:sp>
        <p:nvSpPr>
          <p:cNvPr id="31" name="Text 29"/>
          <p:cNvSpPr txBox="1"/>
          <p:nvPr/>
        </p:nvSpPr>
        <p:spPr>
          <a:xfrm>
            <a:off x="10296144" y="270433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1</a:t>
            </a:r>
            <a:endParaRPr lang="en-US" sz="1700" dirty="0"/>
          </a:p>
        </p:txBody>
      </p:sp>
      <p:sp>
        <p:nvSpPr>
          <p:cNvPr id="32" name="Shape 30"/>
          <p:cNvSpPr/>
          <p:nvPr/>
        </p:nvSpPr>
        <p:spPr>
          <a:xfrm>
            <a:off x="9640062" y="5230368"/>
            <a:ext cx="420624" cy="420624"/>
          </a:xfrm>
          <a:prstGeom prst="ellipse">
            <a:avLst/>
          </a:prstGeom>
          <a:solidFill>
            <a:srgbClr val="FF9300"/>
          </a:solidFill>
          <a:ln w="19050">
            <a:solidFill>
              <a:srgbClr val="FFFFFF"/>
            </a:solidFill>
            <a:prstDash val="solid"/>
          </a:ln>
        </p:spPr>
      </p:sp>
      <p:sp>
        <p:nvSpPr>
          <p:cNvPr id="33" name="Text 31"/>
          <p:cNvSpPr txBox="1"/>
          <p:nvPr/>
        </p:nvSpPr>
        <p:spPr>
          <a:xfrm>
            <a:off x="9640062" y="523036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2</a:t>
            </a:r>
            <a:endParaRPr lang="en-US" sz="17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02 · GRUNDREGEL</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Auch an Einmündungen</a:t>
            </a:r>
            <a:endParaRPr lang="en-US" sz="3200" dirty="0"/>
          </a:p>
        </p:txBody>
      </p:sp>
      <p:sp>
        <p:nvSpPr>
          <p:cNvPr id="4" name="Shape 2"/>
          <p:cNvSpPr/>
          <p:nvPr/>
        </p:nvSpPr>
        <p:spPr>
          <a:xfrm>
            <a:off x="9882835" y="457200"/>
            <a:ext cx="1760220"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882835" y="457200"/>
            <a:ext cx="1760220"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8 Abs. 1 StVO</a:t>
            </a:r>
            <a:endParaRPr lang="en-US" sz="1200" dirty="0"/>
          </a:p>
        </p:txBody>
      </p:sp>
      <p:sp>
        <p:nvSpPr>
          <p:cNvPr id="6" name="Shape 4"/>
          <p:cNvSpPr/>
          <p:nvPr/>
        </p:nvSpPr>
        <p:spPr>
          <a:xfrm>
            <a:off x="548640" y="1600200"/>
            <a:ext cx="5513832" cy="4526280"/>
          </a:xfrm>
          <a:prstGeom prst="roundRect">
            <a:avLst>
              <a:gd name="adj" fmla="val 4444"/>
            </a:avLst>
          </a:prstGeom>
          <a:solidFill>
            <a:srgbClr val="E3E8ED"/>
          </a:solidFill>
          <a:ln w="12700">
            <a:solidFill>
              <a:srgbClr val="E3E8ED"/>
            </a:solidFill>
            <a:prstDash val="solid"/>
          </a:ln>
        </p:spPr>
      </p:sp>
      <p:sp>
        <p:nvSpPr>
          <p:cNvPr id="7" name="Shape 5"/>
          <p:cNvSpPr/>
          <p:nvPr/>
        </p:nvSpPr>
        <p:spPr>
          <a:xfrm>
            <a:off x="2505456" y="2446020"/>
            <a:ext cx="1600200" cy="3680460"/>
          </a:xfrm>
          <a:prstGeom prst="rect">
            <a:avLst/>
          </a:prstGeom>
          <a:solidFill>
            <a:srgbClr val="3B414A"/>
          </a:solidFill>
          <a:ln w="12700">
            <a:solidFill>
              <a:srgbClr val="3B414A"/>
            </a:solidFill>
            <a:prstDash val="solid"/>
          </a:ln>
        </p:spPr>
      </p:sp>
      <p:sp>
        <p:nvSpPr>
          <p:cNvPr id="8" name="Shape 6"/>
          <p:cNvSpPr/>
          <p:nvPr/>
        </p:nvSpPr>
        <p:spPr>
          <a:xfrm>
            <a:off x="548640" y="2446020"/>
            <a:ext cx="5513832" cy="1600200"/>
          </a:xfrm>
          <a:prstGeom prst="rect">
            <a:avLst/>
          </a:prstGeom>
          <a:solidFill>
            <a:srgbClr val="3B414A"/>
          </a:solidFill>
          <a:ln w="12700">
            <a:solidFill>
              <a:srgbClr val="3B414A"/>
            </a:solidFill>
            <a:prstDash val="solid"/>
          </a:ln>
        </p:spPr>
      </p:sp>
      <p:sp>
        <p:nvSpPr>
          <p:cNvPr id="9" name="Shape 7"/>
          <p:cNvSpPr/>
          <p:nvPr/>
        </p:nvSpPr>
        <p:spPr>
          <a:xfrm>
            <a:off x="3305556" y="4155948"/>
            <a:ext cx="0" cy="1860804"/>
          </a:xfrm>
          <a:prstGeom prst="line">
            <a:avLst/>
          </a:prstGeom>
          <a:noFill/>
          <a:ln w="22225">
            <a:solidFill>
              <a:srgbClr val="F2F4F6"/>
            </a:solidFill>
            <a:prstDash val="dash"/>
          </a:ln>
        </p:spPr>
      </p:sp>
      <p:sp>
        <p:nvSpPr>
          <p:cNvPr id="10" name="Shape 8"/>
          <p:cNvSpPr/>
          <p:nvPr/>
        </p:nvSpPr>
        <p:spPr>
          <a:xfrm>
            <a:off x="658368" y="3246120"/>
            <a:ext cx="1737360" cy="0"/>
          </a:xfrm>
          <a:prstGeom prst="line">
            <a:avLst/>
          </a:prstGeom>
          <a:noFill/>
          <a:ln w="22225">
            <a:solidFill>
              <a:srgbClr val="F2F4F6"/>
            </a:solidFill>
            <a:prstDash val="dash"/>
          </a:ln>
        </p:spPr>
      </p:sp>
      <p:sp>
        <p:nvSpPr>
          <p:cNvPr id="11" name="Shape 9"/>
          <p:cNvSpPr/>
          <p:nvPr/>
        </p:nvSpPr>
        <p:spPr>
          <a:xfrm>
            <a:off x="4215384" y="3246120"/>
            <a:ext cx="1737360" cy="0"/>
          </a:xfrm>
          <a:prstGeom prst="line">
            <a:avLst/>
          </a:prstGeom>
          <a:noFill/>
          <a:ln w="22225">
            <a:solidFill>
              <a:srgbClr val="F2F4F6"/>
            </a:solidFill>
            <a:prstDash val="dash"/>
          </a:ln>
        </p:spPr>
      </p:sp>
      <p:sp>
        <p:nvSpPr>
          <p:cNvPr id="12" name="Shape 10"/>
          <p:cNvSpPr/>
          <p:nvPr/>
        </p:nvSpPr>
        <p:spPr>
          <a:xfrm>
            <a:off x="1234440" y="3408426"/>
            <a:ext cx="896112" cy="475488"/>
          </a:xfrm>
          <a:prstGeom prst="roundRect">
            <a:avLst>
              <a:gd name="adj" fmla="val 25000"/>
            </a:avLst>
          </a:prstGeom>
          <a:solidFill>
            <a:srgbClr val="FF9300"/>
          </a:solidFill>
          <a:ln w="15875">
            <a:solidFill>
              <a:srgbClr val="FFFFFF"/>
            </a:solidFill>
            <a:prstDash val="solid"/>
          </a:ln>
        </p:spPr>
      </p:sp>
      <p:sp>
        <p:nvSpPr>
          <p:cNvPr id="13" name="Shape 11"/>
          <p:cNvSpPr/>
          <p:nvPr/>
        </p:nvSpPr>
        <p:spPr>
          <a:xfrm>
            <a:off x="1764792" y="3481578"/>
            <a:ext cx="182880" cy="329184"/>
          </a:xfrm>
          <a:prstGeom prst="roundRect">
            <a:avLst>
              <a:gd name="adj" fmla="val 30000"/>
            </a:avLst>
          </a:prstGeom>
          <a:solidFill>
            <a:srgbClr val="1B1F24"/>
          </a:solidFill>
          <a:ln w="12700">
            <a:solidFill>
              <a:srgbClr val="1B1F24"/>
            </a:solidFill>
            <a:prstDash val="solid"/>
          </a:ln>
        </p:spPr>
      </p:sp>
      <p:sp>
        <p:nvSpPr>
          <p:cNvPr id="14" name="Text 12"/>
          <p:cNvSpPr txBox="1"/>
          <p:nvPr/>
        </p:nvSpPr>
        <p:spPr>
          <a:xfrm>
            <a:off x="1252728" y="352729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5" name="Shape 13"/>
          <p:cNvSpPr/>
          <p:nvPr/>
        </p:nvSpPr>
        <p:spPr>
          <a:xfrm>
            <a:off x="3467862" y="4283964"/>
            <a:ext cx="475488" cy="896112"/>
          </a:xfrm>
          <a:prstGeom prst="roundRect">
            <a:avLst>
              <a:gd name="adj" fmla="val 25000"/>
            </a:avLst>
          </a:prstGeom>
          <a:solidFill>
            <a:srgbClr val="3B82F6"/>
          </a:solidFill>
          <a:ln w="15875">
            <a:solidFill>
              <a:srgbClr val="FFFFFF"/>
            </a:solidFill>
            <a:prstDash val="solid"/>
          </a:ln>
        </p:spPr>
      </p:sp>
      <p:sp>
        <p:nvSpPr>
          <p:cNvPr id="16" name="Shape 14"/>
          <p:cNvSpPr/>
          <p:nvPr/>
        </p:nvSpPr>
        <p:spPr>
          <a:xfrm>
            <a:off x="3541014" y="4466844"/>
            <a:ext cx="329184" cy="182880"/>
          </a:xfrm>
          <a:prstGeom prst="roundRect">
            <a:avLst>
              <a:gd name="adj" fmla="val 30000"/>
            </a:avLst>
          </a:prstGeom>
          <a:solidFill>
            <a:srgbClr val="1B1F24"/>
          </a:solidFill>
          <a:ln w="12700">
            <a:solidFill>
              <a:srgbClr val="1B1F24"/>
            </a:solidFill>
            <a:prstDash val="solid"/>
          </a:ln>
        </p:spPr>
      </p:sp>
      <p:sp>
        <p:nvSpPr>
          <p:cNvPr id="17" name="Shape 15"/>
          <p:cNvSpPr/>
          <p:nvPr/>
        </p:nvSpPr>
        <p:spPr>
          <a:xfrm>
            <a:off x="2158898" y="2846070"/>
            <a:ext cx="1546708" cy="1383030"/>
          </a:xfrm>
          <a:custGeom>
            <a:avLst/>
            <a:gdLst/>
            <a:ahLst/>
            <a:cxnLst/>
            <a:rect l="l" t="t" r="r" b="b"/>
            <a:pathLst>
              <a:path w="1546708" h="1383030">
                <a:moveTo>
                  <a:pt x="1546708" y="1383030"/>
                </a:moveTo>
                <a:quadBezTo>
                  <a:pt x="1546708" y="0"/>
                  <a:pt x="0" y="0"/>
                </a:quadBezTo>
              </a:path>
            </a:pathLst>
          </a:custGeom>
          <a:noFill/>
          <a:ln w="44450">
            <a:solidFill>
              <a:srgbClr val="FFFFFF"/>
            </a:solidFill>
            <a:prstDash val="solid"/>
          </a:ln>
        </p:spPr>
      </p:sp>
      <p:sp>
        <p:nvSpPr>
          <p:cNvPr id="18" name="Shape 16"/>
          <p:cNvSpPr/>
          <p:nvPr/>
        </p:nvSpPr>
        <p:spPr>
          <a:xfrm rot="16200000">
            <a:off x="1956816" y="2727198"/>
            <a:ext cx="237744" cy="237744"/>
          </a:xfrm>
          <a:prstGeom prst="triangle">
            <a:avLst/>
          </a:prstGeom>
          <a:solidFill>
            <a:srgbClr val="FFFFFF"/>
          </a:solidFill>
          <a:ln w="12700">
            <a:solidFill>
              <a:srgbClr val="FFFFFF"/>
            </a:solidFill>
            <a:prstDash val="solid"/>
          </a:ln>
        </p:spPr>
      </p:sp>
      <p:sp>
        <p:nvSpPr>
          <p:cNvPr id="19" name="Shape 17"/>
          <p:cNvSpPr/>
          <p:nvPr/>
        </p:nvSpPr>
        <p:spPr>
          <a:xfrm>
            <a:off x="2185416" y="3646170"/>
            <a:ext cx="2266798" cy="18288"/>
          </a:xfrm>
          <a:custGeom>
            <a:avLst/>
            <a:gdLst/>
            <a:ahLst/>
            <a:cxnLst/>
            <a:rect l="l" t="t" r="r" b="b"/>
            <a:pathLst>
              <a:path w="2266798" h="18288">
                <a:moveTo>
                  <a:pt x="0" y="0"/>
                </a:moveTo>
                <a:lnTo>
                  <a:pt x="2266798" y="0"/>
                </a:lnTo>
              </a:path>
            </a:pathLst>
          </a:custGeom>
          <a:noFill/>
          <a:ln w="44450">
            <a:solidFill>
              <a:srgbClr val="FF9300"/>
            </a:solidFill>
            <a:prstDash val="dash"/>
          </a:ln>
        </p:spPr>
      </p:sp>
      <p:sp>
        <p:nvSpPr>
          <p:cNvPr id="20" name="Shape 18"/>
          <p:cNvSpPr/>
          <p:nvPr/>
        </p:nvSpPr>
        <p:spPr>
          <a:xfrm rot="5400000">
            <a:off x="4416552" y="3527298"/>
            <a:ext cx="237744" cy="237744"/>
          </a:xfrm>
          <a:prstGeom prst="triangle">
            <a:avLst/>
          </a:prstGeom>
          <a:solidFill>
            <a:srgbClr val="FF9300"/>
          </a:solidFill>
          <a:ln w="12700">
            <a:solidFill>
              <a:srgbClr val="FF9300"/>
            </a:solidFill>
            <a:prstDash val="solid"/>
          </a:ln>
        </p:spPr>
      </p:sp>
      <p:sp>
        <p:nvSpPr>
          <p:cNvPr id="21" name="Shape 19"/>
          <p:cNvSpPr/>
          <p:nvPr/>
        </p:nvSpPr>
        <p:spPr>
          <a:xfrm>
            <a:off x="4043934" y="4613148"/>
            <a:ext cx="420624" cy="420624"/>
          </a:xfrm>
          <a:prstGeom prst="ellipse">
            <a:avLst/>
          </a:prstGeom>
          <a:solidFill>
            <a:srgbClr val="FF9300"/>
          </a:solidFill>
          <a:ln w="19050">
            <a:solidFill>
              <a:srgbClr val="FFFFFF"/>
            </a:solidFill>
            <a:prstDash val="solid"/>
          </a:ln>
        </p:spPr>
      </p:sp>
      <p:sp>
        <p:nvSpPr>
          <p:cNvPr id="22" name="Text 20"/>
          <p:cNvSpPr txBox="1"/>
          <p:nvPr/>
        </p:nvSpPr>
        <p:spPr>
          <a:xfrm>
            <a:off x="4043934" y="461314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1</a:t>
            </a:r>
            <a:endParaRPr lang="en-US" sz="1700" dirty="0"/>
          </a:p>
        </p:txBody>
      </p:sp>
      <p:sp>
        <p:nvSpPr>
          <p:cNvPr id="23" name="Shape 21"/>
          <p:cNvSpPr/>
          <p:nvPr/>
        </p:nvSpPr>
        <p:spPr>
          <a:xfrm>
            <a:off x="1472184" y="2887218"/>
            <a:ext cx="420624" cy="420624"/>
          </a:xfrm>
          <a:prstGeom prst="ellipse">
            <a:avLst/>
          </a:prstGeom>
          <a:solidFill>
            <a:srgbClr val="FF9300"/>
          </a:solidFill>
          <a:ln w="19050">
            <a:solidFill>
              <a:srgbClr val="FFFFFF"/>
            </a:solidFill>
            <a:prstDash val="solid"/>
          </a:ln>
        </p:spPr>
      </p:sp>
      <p:sp>
        <p:nvSpPr>
          <p:cNvPr id="24" name="Text 22"/>
          <p:cNvSpPr txBox="1"/>
          <p:nvPr/>
        </p:nvSpPr>
        <p:spPr>
          <a:xfrm>
            <a:off x="1472184" y="288721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2</a:t>
            </a:r>
            <a:endParaRPr lang="en-US" sz="1700" dirty="0"/>
          </a:p>
        </p:txBody>
      </p:sp>
      <p:sp>
        <p:nvSpPr>
          <p:cNvPr id="25" name="Shape 23"/>
          <p:cNvSpPr/>
          <p:nvPr/>
        </p:nvSpPr>
        <p:spPr>
          <a:xfrm>
            <a:off x="6478524" y="1888236"/>
            <a:ext cx="155448" cy="155448"/>
          </a:xfrm>
          <a:prstGeom prst="ellipse">
            <a:avLst/>
          </a:prstGeom>
          <a:solidFill>
            <a:srgbClr val="FF9300"/>
          </a:solidFill>
          <a:ln w="12700">
            <a:solidFill>
              <a:srgbClr val="FF9300"/>
            </a:solidFill>
            <a:prstDash val="solid"/>
          </a:ln>
        </p:spPr>
      </p:sp>
      <p:sp>
        <p:nvSpPr>
          <p:cNvPr id="26" name="Text 24"/>
          <p:cNvSpPr txBox="1"/>
          <p:nvPr/>
        </p:nvSpPr>
        <p:spPr>
          <a:xfrm>
            <a:off x="6830568" y="1783080"/>
            <a:ext cx="4828032" cy="120700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Die Falle: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Du fährst auf der „großen“ Straße, von rechts mündet eine kleine Straße ein.</a:t>
            </a:r>
            <a:endParaRPr lang="en-US" sz="1900" dirty="0"/>
          </a:p>
        </p:txBody>
      </p:sp>
      <p:sp>
        <p:nvSpPr>
          <p:cNvPr id="27" name="Shape 25"/>
          <p:cNvSpPr/>
          <p:nvPr/>
        </p:nvSpPr>
        <p:spPr>
          <a:xfrm>
            <a:off x="6478524" y="3168396"/>
            <a:ext cx="155448" cy="155448"/>
          </a:xfrm>
          <a:prstGeom prst="ellipse">
            <a:avLst/>
          </a:prstGeom>
          <a:solidFill>
            <a:srgbClr val="FF9300"/>
          </a:solidFill>
          <a:ln w="12700">
            <a:solidFill>
              <a:srgbClr val="FF9300"/>
            </a:solidFill>
            <a:prstDash val="solid"/>
          </a:ln>
        </p:spPr>
      </p:sp>
      <p:sp>
        <p:nvSpPr>
          <p:cNvPr id="28" name="Text 26"/>
          <p:cNvSpPr txBox="1"/>
          <p:nvPr/>
        </p:nvSpPr>
        <p:spPr>
          <a:xfrm>
            <a:off x="6830568" y="3063240"/>
            <a:ext cx="4828032" cy="120700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Trotzdem: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Kommt dort jemand, hat er Vorfahrt – wenn kein Schild etwas anderes sagt.</a:t>
            </a:r>
            <a:endParaRPr lang="en-US" sz="1900" dirty="0"/>
          </a:p>
        </p:txBody>
      </p:sp>
      <p:sp>
        <p:nvSpPr>
          <p:cNvPr id="29" name="Shape 27"/>
          <p:cNvSpPr/>
          <p:nvPr/>
        </p:nvSpPr>
        <p:spPr>
          <a:xfrm>
            <a:off x="6478524" y="4448556"/>
            <a:ext cx="155448" cy="155448"/>
          </a:xfrm>
          <a:prstGeom prst="ellipse">
            <a:avLst/>
          </a:prstGeom>
          <a:solidFill>
            <a:srgbClr val="FF9300"/>
          </a:solidFill>
          <a:ln w="12700">
            <a:solidFill>
              <a:srgbClr val="FF9300"/>
            </a:solidFill>
            <a:prstDash val="solid"/>
          </a:ln>
        </p:spPr>
      </p:sp>
      <p:sp>
        <p:nvSpPr>
          <p:cNvPr id="30" name="Text 28"/>
          <p:cNvSpPr txBox="1"/>
          <p:nvPr/>
        </p:nvSpPr>
        <p:spPr>
          <a:xfrm>
            <a:off x="6830568" y="4343400"/>
            <a:ext cx="4828032" cy="120700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Darum: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An jeder Einmündung ohne Schild nach rechts schauen und bremsbereit sein.</a:t>
            </a:r>
            <a:endParaRPr lang="en-US" sz="19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02 · GRUNDREGEL</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Einfahren heißt: alle durchlassen</a:t>
            </a:r>
            <a:endParaRPr lang="en-US" sz="3200" dirty="0"/>
          </a:p>
        </p:txBody>
      </p:sp>
      <p:sp>
        <p:nvSpPr>
          <p:cNvPr id="4" name="Shape 2"/>
          <p:cNvSpPr/>
          <p:nvPr/>
        </p:nvSpPr>
        <p:spPr>
          <a:xfrm>
            <a:off x="9361627" y="457200"/>
            <a:ext cx="2281428"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361627" y="457200"/>
            <a:ext cx="2281428"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8 Abs. 1, § 10 StVO</a:t>
            </a:r>
            <a:endParaRPr lang="en-US" sz="1200" dirty="0"/>
          </a:p>
        </p:txBody>
      </p:sp>
      <p:sp>
        <p:nvSpPr>
          <p:cNvPr id="6" name="Shape 4"/>
          <p:cNvSpPr/>
          <p:nvPr/>
        </p:nvSpPr>
        <p:spPr>
          <a:xfrm>
            <a:off x="548640" y="1645920"/>
            <a:ext cx="3520440" cy="3931920"/>
          </a:xfrm>
          <a:prstGeom prst="roundRect">
            <a:avLst>
              <a:gd name="adj" fmla="val 4675"/>
            </a:avLst>
          </a:prstGeom>
          <a:solidFill>
            <a:srgbClr val="F1F3F6"/>
          </a:solidFill>
          <a:ln w="12700">
            <a:solidFill>
              <a:srgbClr val="F1F3F6"/>
            </a:solidFill>
            <a:prstDash val="solid"/>
          </a:ln>
        </p:spPr>
      </p:sp>
      <p:sp>
        <p:nvSpPr>
          <p:cNvPr id="7" name="Shape 5"/>
          <p:cNvSpPr/>
          <p:nvPr/>
        </p:nvSpPr>
        <p:spPr>
          <a:xfrm>
            <a:off x="868680" y="1965960"/>
            <a:ext cx="2880360" cy="1600200"/>
          </a:xfrm>
          <a:prstGeom prst="roundRect">
            <a:avLst>
              <a:gd name="adj" fmla="val 6857"/>
            </a:avLst>
          </a:prstGeom>
          <a:solidFill>
            <a:srgbClr val="E3E8ED"/>
          </a:solidFill>
          <a:ln w="12700">
            <a:solidFill>
              <a:srgbClr val="E3E8ED"/>
            </a:solidFill>
            <a:prstDash val="solid"/>
          </a:ln>
        </p:spPr>
      </p:sp>
      <p:sp>
        <p:nvSpPr>
          <p:cNvPr id="8" name="Shape 6"/>
          <p:cNvSpPr/>
          <p:nvPr/>
        </p:nvSpPr>
        <p:spPr>
          <a:xfrm>
            <a:off x="868680" y="2194560"/>
            <a:ext cx="2880360" cy="685800"/>
          </a:xfrm>
          <a:prstGeom prst="rect">
            <a:avLst/>
          </a:prstGeom>
          <a:solidFill>
            <a:srgbClr val="3B414A"/>
          </a:solidFill>
          <a:ln w="12700">
            <a:solidFill>
              <a:srgbClr val="3B414A"/>
            </a:solidFill>
            <a:prstDash val="solid"/>
          </a:ln>
        </p:spPr>
      </p:sp>
      <p:sp>
        <p:nvSpPr>
          <p:cNvPr id="9" name="Shape 7"/>
          <p:cNvSpPr/>
          <p:nvPr/>
        </p:nvSpPr>
        <p:spPr>
          <a:xfrm>
            <a:off x="1988820" y="2880360"/>
            <a:ext cx="640080" cy="685800"/>
          </a:xfrm>
          <a:prstGeom prst="rect">
            <a:avLst/>
          </a:prstGeom>
          <a:solidFill>
            <a:srgbClr val="9C7B4F"/>
          </a:solidFill>
          <a:ln w="12700">
            <a:solidFill>
              <a:srgbClr val="9C7B4F"/>
            </a:solidFill>
            <a:prstDash val="solid"/>
          </a:ln>
        </p:spPr>
      </p:sp>
      <p:sp>
        <p:nvSpPr>
          <p:cNvPr id="10" name="Shape 8"/>
          <p:cNvSpPr/>
          <p:nvPr/>
        </p:nvSpPr>
        <p:spPr>
          <a:xfrm>
            <a:off x="2144268" y="2916936"/>
            <a:ext cx="329184" cy="566928"/>
          </a:xfrm>
          <a:prstGeom prst="roundRect">
            <a:avLst>
              <a:gd name="adj" fmla="val 36111"/>
            </a:avLst>
          </a:prstGeom>
          <a:solidFill>
            <a:srgbClr val="FF9300"/>
          </a:solidFill>
          <a:ln w="15875">
            <a:solidFill>
              <a:srgbClr val="FFFFFF"/>
            </a:solidFill>
            <a:prstDash val="solid"/>
          </a:ln>
        </p:spPr>
      </p:sp>
      <p:sp>
        <p:nvSpPr>
          <p:cNvPr id="11" name="Shape 9"/>
          <p:cNvSpPr/>
          <p:nvPr/>
        </p:nvSpPr>
        <p:spPr>
          <a:xfrm>
            <a:off x="2217420" y="3099816"/>
            <a:ext cx="182880" cy="182880"/>
          </a:xfrm>
          <a:prstGeom prst="roundRect">
            <a:avLst>
              <a:gd name="adj" fmla="val 30000"/>
            </a:avLst>
          </a:prstGeom>
          <a:solidFill>
            <a:srgbClr val="1B1F24"/>
          </a:solidFill>
          <a:ln w="12700">
            <a:solidFill>
              <a:srgbClr val="1B1F24"/>
            </a:solidFill>
            <a:prstDash val="solid"/>
          </a:ln>
        </p:spPr>
      </p:sp>
      <p:sp>
        <p:nvSpPr>
          <p:cNvPr id="12" name="Shape 10"/>
          <p:cNvSpPr/>
          <p:nvPr/>
        </p:nvSpPr>
        <p:spPr>
          <a:xfrm>
            <a:off x="1225296" y="2532888"/>
            <a:ext cx="566928" cy="329184"/>
          </a:xfrm>
          <a:prstGeom prst="roundRect">
            <a:avLst>
              <a:gd name="adj" fmla="val 36111"/>
            </a:avLst>
          </a:prstGeom>
          <a:solidFill>
            <a:srgbClr val="3B82F6"/>
          </a:solidFill>
          <a:ln w="15875">
            <a:solidFill>
              <a:srgbClr val="FFFFFF"/>
            </a:solidFill>
            <a:prstDash val="solid"/>
          </a:ln>
        </p:spPr>
      </p:sp>
      <p:sp>
        <p:nvSpPr>
          <p:cNvPr id="13" name="Shape 11"/>
          <p:cNvSpPr/>
          <p:nvPr/>
        </p:nvSpPr>
        <p:spPr>
          <a:xfrm>
            <a:off x="1426464" y="2606040"/>
            <a:ext cx="182880" cy="182880"/>
          </a:xfrm>
          <a:prstGeom prst="roundRect">
            <a:avLst>
              <a:gd name="adj" fmla="val 30000"/>
            </a:avLst>
          </a:prstGeom>
          <a:solidFill>
            <a:srgbClr val="1B1F24"/>
          </a:solidFill>
          <a:ln w="12700">
            <a:solidFill>
              <a:srgbClr val="1B1F24"/>
            </a:solidFill>
            <a:prstDash val="solid"/>
          </a:ln>
        </p:spPr>
      </p:sp>
      <p:sp>
        <p:nvSpPr>
          <p:cNvPr id="14" name="Shape 12"/>
          <p:cNvSpPr/>
          <p:nvPr/>
        </p:nvSpPr>
        <p:spPr>
          <a:xfrm>
            <a:off x="1828800" y="2697480"/>
            <a:ext cx="1551737" cy="18288"/>
          </a:xfrm>
          <a:custGeom>
            <a:avLst/>
            <a:gdLst/>
            <a:ahLst/>
            <a:cxnLst/>
            <a:rect l="l" t="t" r="r" b="b"/>
            <a:pathLst>
              <a:path w="1551737" h="18288">
                <a:moveTo>
                  <a:pt x="0" y="0"/>
                </a:moveTo>
                <a:lnTo>
                  <a:pt x="1551737" y="0"/>
                </a:lnTo>
              </a:path>
            </a:pathLst>
          </a:custGeom>
          <a:noFill/>
          <a:ln w="31750">
            <a:solidFill>
              <a:srgbClr val="FFFFFF"/>
            </a:solidFill>
            <a:prstDash val="solid"/>
          </a:ln>
        </p:spPr>
      </p:sp>
      <p:sp>
        <p:nvSpPr>
          <p:cNvPr id="15" name="Shape 13"/>
          <p:cNvSpPr/>
          <p:nvPr/>
        </p:nvSpPr>
        <p:spPr>
          <a:xfrm rot="5400000">
            <a:off x="3355848" y="2615184"/>
            <a:ext cx="164592" cy="164592"/>
          </a:xfrm>
          <a:prstGeom prst="triangle">
            <a:avLst/>
          </a:prstGeom>
          <a:solidFill>
            <a:srgbClr val="FFFFFF"/>
          </a:solidFill>
          <a:ln w="12700">
            <a:solidFill>
              <a:srgbClr val="FFFFFF"/>
            </a:solidFill>
            <a:prstDash val="solid"/>
          </a:ln>
        </p:spPr>
      </p:sp>
      <p:sp>
        <p:nvSpPr>
          <p:cNvPr id="16" name="Text 14"/>
          <p:cNvSpPr txBox="1"/>
          <p:nvPr/>
        </p:nvSpPr>
        <p:spPr>
          <a:xfrm>
            <a:off x="868680" y="3749040"/>
            <a:ext cx="2880360" cy="685800"/>
          </a:xfrm>
          <a:prstGeom prst="rect">
            <a:avLst/>
          </a:prstGeom>
          <a:noFill/>
          <a:ln/>
        </p:spPr>
        <p:txBody>
          <a:bodyPr wrap="square" lIns="0" tIns="0" rIns="0" bIns="0" rtlCol="0" anchor="t"/>
          <a:lstStyle/>
          <a:p>
            <a:pPr indent="0" marL="0">
              <a:buNone/>
            </a:pPr>
            <a:r>
              <a:rPr lang="en-US" sz="1800" b="1" dirty="0">
                <a:solidFill>
                  <a:srgbClr val="15181D"/>
                </a:solidFill>
                <a:latin typeface="Arial" pitchFamily="34" charset="0"/>
                <a:ea typeface="Arial" pitchFamily="34" charset="-122"/>
                <a:cs typeface="Arial" pitchFamily="34" charset="-120"/>
              </a:rPr>
              <a:t>Feld- und Waldwege</a:t>
            </a:r>
            <a:endParaRPr lang="en-US" sz="1800" dirty="0"/>
          </a:p>
        </p:txBody>
      </p:sp>
      <p:sp>
        <p:nvSpPr>
          <p:cNvPr id="17" name="Text 15"/>
          <p:cNvSpPr txBox="1"/>
          <p:nvPr/>
        </p:nvSpPr>
        <p:spPr>
          <a:xfrm>
            <a:off x="868680" y="4480560"/>
            <a:ext cx="2880360" cy="1005840"/>
          </a:xfrm>
          <a:prstGeom prst="rect">
            <a:avLst/>
          </a:prstGeom>
          <a:noFill/>
          <a:ln/>
        </p:spPr>
        <p:txBody>
          <a:bodyPr wrap="square" lIns="0" tIns="0" rIns="0" bIns="0" rtlCol="0" anchor="t"/>
          <a:lstStyle/>
          <a:p>
            <a:pPr indent="0" marL="0">
              <a:buNone/>
            </a:pPr>
            <a:r>
              <a:rPr lang="en-US" sz="1500" dirty="0">
                <a:solidFill>
                  <a:srgbClr val="56606B"/>
                </a:solidFill>
                <a:latin typeface="Arial" pitchFamily="34" charset="0"/>
                <a:ea typeface="Arial" pitchFamily="34" charset="-122"/>
                <a:cs typeface="Arial" pitchFamily="34" charset="-120"/>
              </a:rPr>
              <a:t>Wer aus einem Feld- oder Waldweg auf eine andere Straße fährt, hat keine Vorfahrt.</a:t>
            </a:r>
            <a:endParaRPr lang="en-US" sz="1500" dirty="0"/>
          </a:p>
        </p:txBody>
      </p:sp>
      <p:sp>
        <p:nvSpPr>
          <p:cNvPr id="18" name="Shape 16"/>
          <p:cNvSpPr/>
          <p:nvPr/>
        </p:nvSpPr>
        <p:spPr>
          <a:xfrm>
            <a:off x="4325112" y="1645920"/>
            <a:ext cx="3520440" cy="3931920"/>
          </a:xfrm>
          <a:prstGeom prst="roundRect">
            <a:avLst>
              <a:gd name="adj" fmla="val 4675"/>
            </a:avLst>
          </a:prstGeom>
          <a:solidFill>
            <a:srgbClr val="F1F3F6"/>
          </a:solidFill>
          <a:ln w="12700">
            <a:solidFill>
              <a:srgbClr val="F1F3F6"/>
            </a:solidFill>
            <a:prstDash val="solid"/>
          </a:ln>
        </p:spPr>
      </p:sp>
      <p:sp>
        <p:nvSpPr>
          <p:cNvPr id="19" name="Shape 17"/>
          <p:cNvSpPr/>
          <p:nvPr/>
        </p:nvSpPr>
        <p:spPr>
          <a:xfrm>
            <a:off x="4645152" y="1965960"/>
            <a:ext cx="2880360" cy="1600200"/>
          </a:xfrm>
          <a:prstGeom prst="roundRect">
            <a:avLst>
              <a:gd name="adj" fmla="val 6857"/>
            </a:avLst>
          </a:prstGeom>
          <a:solidFill>
            <a:srgbClr val="E3E8ED"/>
          </a:solidFill>
          <a:ln w="12700">
            <a:solidFill>
              <a:srgbClr val="E3E8ED"/>
            </a:solidFill>
            <a:prstDash val="solid"/>
          </a:ln>
        </p:spPr>
      </p:sp>
      <p:sp>
        <p:nvSpPr>
          <p:cNvPr id="20" name="Shape 18"/>
          <p:cNvSpPr/>
          <p:nvPr/>
        </p:nvSpPr>
        <p:spPr>
          <a:xfrm>
            <a:off x="4645152" y="2194560"/>
            <a:ext cx="2880360" cy="685800"/>
          </a:xfrm>
          <a:prstGeom prst="rect">
            <a:avLst/>
          </a:prstGeom>
          <a:solidFill>
            <a:srgbClr val="3B414A"/>
          </a:solidFill>
          <a:ln w="12700">
            <a:solidFill>
              <a:srgbClr val="3B414A"/>
            </a:solidFill>
            <a:prstDash val="solid"/>
          </a:ln>
        </p:spPr>
      </p:sp>
      <p:sp>
        <p:nvSpPr>
          <p:cNvPr id="21" name="Shape 19"/>
          <p:cNvSpPr/>
          <p:nvPr/>
        </p:nvSpPr>
        <p:spPr>
          <a:xfrm>
            <a:off x="5765292" y="2880360"/>
            <a:ext cx="640080" cy="685800"/>
          </a:xfrm>
          <a:prstGeom prst="rect">
            <a:avLst/>
          </a:prstGeom>
          <a:solidFill>
            <a:srgbClr val="8D97A3"/>
          </a:solidFill>
          <a:ln w="12700">
            <a:solidFill>
              <a:srgbClr val="8D97A3"/>
            </a:solidFill>
            <a:prstDash val="solid"/>
          </a:ln>
        </p:spPr>
      </p:sp>
      <p:sp>
        <p:nvSpPr>
          <p:cNvPr id="22" name="Shape 20"/>
          <p:cNvSpPr/>
          <p:nvPr/>
        </p:nvSpPr>
        <p:spPr>
          <a:xfrm>
            <a:off x="5628132" y="3456432"/>
            <a:ext cx="914400" cy="109728"/>
          </a:xfrm>
          <a:prstGeom prst="rect">
            <a:avLst/>
          </a:prstGeom>
          <a:solidFill>
            <a:srgbClr val="5B6571"/>
          </a:solidFill>
          <a:ln w="12700">
            <a:solidFill>
              <a:srgbClr val="5B6571"/>
            </a:solidFill>
            <a:prstDash val="solid"/>
          </a:ln>
        </p:spPr>
      </p:sp>
      <p:sp>
        <p:nvSpPr>
          <p:cNvPr id="23" name="Shape 21"/>
          <p:cNvSpPr/>
          <p:nvPr/>
        </p:nvSpPr>
        <p:spPr>
          <a:xfrm>
            <a:off x="5920740" y="2916936"/>
            <a:ext cx="329184" cy="566928"/>
          </a:xfrm>
          <a:prstGeom prst="roundRect">
            <a:avLst>
              <a:gd name="adj" fmla="val 36111"/>
            </a:avLst>
          </a:prstGeom>
          <a:solidFill>
            <a:srgbClr val="FF9300"/>
          </a:solidFill>
          <a:ln w="15875">
            <a:solidFill>
              <a:srgbClr val="FFFFFF"/>
            </a:solidFill>
            <a:prstDash val="solid"/>
          </a:ln>
        </p:spPr>
      </p:sp>
      <p:sp>
        <p:nvSpPr>
          <p:cNvPr id="24" name="Shape 22"/>
          <p:cNvSpPr/>
          <p:nvPr/>
        </p:nvSpPr>
        <p:spPr>
          <a:xfrm>
            <a:off x="5993892" y="3099816"/>
            <a:ext cx="182880" cy="182880"/>
          </a:xfrm>
          <a:prstGeom prst="roundRect">
            <a:avLst>
              <a:gd name="adj" fmla="val 30000"/>
            </a:avLst>
          </a:prstGeom>
          <a:solidFill>
            <a:srgbClr val="1B1F24"/>
          </a:solidFill>
          <a:ln w="12700">
            <a:solidFill>
              <a:srgbClr val="1B1F24"/>
            </a:solidFill>
            <a:prstDash val="solid"/>
          </a:ln>
        </p:spPr>
      </p:sp>
      <p:sp>
        <p:nvSpPr>
          <p:cNvPr id="25" name="Shape 23"/>
          <p:cNvSpPr/>
          <p:nvPr/>
        </p:nvSpPr>
        <p:spPr>
          <a:xfrm>
            <a:off x="5001768" y="2532888"/>
            <a:ext cx="566928" cy="329184"/>
          </a:xfrm>
          <a:prstGeom prst="roundRect">
            <a:avLst>
              <a:gd name="adj" fmla="val 36111"/>
            </a:avLst>
          </a:prstGeom>
          <a:solidFill>
            <a:srgbClr val="3B82F6"/>
          </a:solidFill>
          <a:ln w="15875">
            <a:solidFill>
              <a:srgbClr val="FFFFFF"/>
            </a:solidFill>
            <a:prstDash val="solid"/>
          </a:ln>
        </p:spPr>
      </p:sp>
      <p:sp>
        <p:nvSpPr>
          <p:cNvPr id="26" name="Shape 24"/>
          <p:cNvSpPr/>
          <p:nvPr/>
        </p:nvSpPr>
        <p:spPr>
          <a:xfrm>
            <a:off x="5202936" y="2606040"/>
            <a:ext cx="182880" cy="182880"/>
          </a:xfrm>
          <a:prstGeom prst="roundRect">
            <a:avLst>
              <a:gd name="adj" fmla="val 30000"/>
            </a:avLst>
          </a:prstGeom>
          <a:solidFill>
            <a:srgbClr val="1B1F24"/>
          </a:solidFill>
          <a:ln w="12700">
            <a:solidFill>
              <a:srgbClr val="1B1F24"/>
            </a:solidFill>
            <a:prstDash val="solid"/>
          </a:ln>
        </p:spPr>
      </p:sp>
      <p:sp>
        <p:nvSpPr>
          <p:cNvPr id="27" name="Shape 25"/>
          <p:cNvSpPr/>
          <p:nvPr/>
        </p:nvSpPr>
        <p:spPr>
          <a:xfrm>
            <a:off x="5605272" y="2697480"/>
            <a:ext cx="1551737" cy="18288"/>
          </a:xfrm>
          <a:custGeom>
            <a:avLst/>
            <a:gdLst/>
            <a:ahLst/>
            <a:cxnLst/>
            <a:rect l="l" t="t" r="r" b="b"/>
            <a:pathLst>
              <a:path w="1551737" h="18288">
                <a:moveTo>
                  <a:pt x="0" y="0"/>
                </a:moveTo>
                <a:lnTo>
                  <a:pt x="1551737" y="0"/>
                </a:lnTo>
              </a:path>
            </a:pathLst>
          </a:custGeom>
          <a:noFill/>
          <a:ln w="31750">
            <a:solidFill>
              <a:srgbClr val="FFFFFF"/>
            </a:solidFill>
            <a:prstDash val="solid"/>
          </a:ln>
        </p:spPr>
      </p:sp>
      <p:sp>
        <p:nvSpPr>
          <p:cNvPr id="28" name="Shape 26"/>
          <p:cNvSpPr/>
          <p:nvPr/>
        </p:nvSpPr>
        <p:spPr>
          <a:xfrm rot="5400000">
            <a:off x="7132320" y="2615184"/>
            <a:ext cx="164592" cy="164592"/>
          </a:xfrm>
          <a:prstGeom prst="triangle">
            <a:avLst/>
          </a:prstGeom>
          <a:solidFill>
            <a:srgbClr val="FFFFFF"/>
          </a:solidFill>
          <a:ln w="12700">
            <a:solidFill>
              <a:srgbClr val="FFFFFF"/>
            </a:solidFill>
            <a:prstDash val="solid"/>
          </a:ln>
        </p:spPr>
      </p:sp>
      <p:sp>
        <p:nvSpPr>
          <p:cNvPr id="29" name="Text 27"/>
          <p:cNvSpPr txBox="1"/>
          <p:nvPr/>
        </p:nvSpPr>
        <p:spPr>
          <a:xfrm>
            <a:off x="4645152" y="3749040"/>
            <a:ext cx="2880360" cy="685800"/>
          </a:xfrm>
          <a:prstGeom prst="rect">
            <a:avLst/>
          </a:prstGeom>
          <a:noFill/>
          <a:ln/>
        </p:spPr>
        <p:txBody>
          <a:bodyPr wrap="square" lIns="0" tIns="0" rIns="0" bIns="0" rtlCol="0" anchor="t"/>
          <a:lstStyle/>
          <a:p>
            <a:pPr indent="0" marL="0">
              <a:buNone/>
            </a:pPr>
            <a:r>
              <a:rPr lang="en-US" sz="1800" b="1" dirty="0">
                <a:solidFill>
                  <a:srgbClr val="15181D"/>
                </a:solidFill>
                <a:latin typeface="Arial" pitchFamily="34" charset="0"/>
                <a:ea typeface="Arial" pitchFamily="34" charset="-122"/>
                <a:cs typeface="Arial" pitchFamily="34" charset="-120"/>
              </a:rPr>
              <a:t>Grundstück, Parkplatz, Tankstelle</a:t>
            </a:r>
            <a:endParaRPr lang="en-US" sz="1800" dirty="0"/>
          </a:p>
        </p:txBody>
      </p:sp>
      <p:sp>
        <p:nvSpPr>
          <p:cNvPr id="30" name="Text 28"/>
          <p:cNvSpPr txBox="1"/>
          <p:nvPr/>
        </p:nvSpPr>
        <p:spPr>
          <a:xfrm>
            <a:off x="4645152" y="4480560"/>
            <a:ext cx="2880360" cy="1005840"/>
          </a:xfrm>
          <a:prstGeom prst="rect">
            <a:avLst/>
          </a:prstGeom>
          <a:noFill/>
          <a:ln/>
        </p:spPr>
        <p:txBody>
          <a:bodyPr wrap="square" lIns="0" tIns="0" rIns="0" bIns="0" rtlCol="0" anchor="t"/>
          <a:lstStyle/>
          <a:p>
            <a:pPr indent="0" marL="0">
              <a:buNone/>
            </a:pPr>
            <a:r>
              <a:rPr lang="en-US" sz="1500" dirty="0">
                <a:solidFill>
                  <a:srgbClr val="56606B"/>
                </a:solidFill>
                <a:latin typeface="Arial" pitchFamily="34" charset="0"/>
                <a:ea typeface="Arial" pitchFamily="34" charset="-122"/>
                <a:cs typeface="Arial" pitchFamily="34" charset="-120"/>
              </a:rPr>
              <a:t>Beim Einfahren auf die Straße darfst du niemanden gefährden.</a:t>
            </a:r>
            <a:endParaRPr lang="en-US" sz="1500" dirty="0"/>
          </a:p>
        </p:txBody>
      </p:sp>
      <p:sp>
        <p:nvSpPr>
          <p:cNvPr id="31" name="Shape 29"/>
          <p:cNvSpPr/>
          <p:nvPr/>
        </p:nvSpPr>
        <p:spPr>
          <a:xfrm>
            <a:off x="8101584" y="1645920"/>
            <a:ext cx="3520440" cy="3931920"/>
          </a:xfrm>
          <a:prstGeom prst="roundRect">
            <a:avLst>
              <a:gd name="adj" fmla="val 4675"/>
            </a:avLst>
          </a:prstGeom>
          <a:solidFill>
            <a:srgbClr val="F1F3F6"/>
          </a:solidFill>
          <a:ln w="12700">
            <a:solidFill>
              <a:srgbClr val="F1F3F6"/>
            </a:solidFill>
            <a:prstDash val="solid"/>
          </a:ln>
        </p:spPr>
      </p:sp>
      <p:sp>
        <p:nvSpPr>
          <p:cNvPr id="32" name="Shape 30"/>
          <p:cNvSpPr/>
          <p:nvPr/>
        </p:nvSpPr>
        <p:spPr>
          <a:xfrm>
            <a:off x="8421624" y="1965960"/>
            <a:ext cx="2880360" cy="1600200"/>
          </a:xfrm>
          <a:prstGeom prst="roundRect">
            <a:avLst>
              <a:gd name="adj" fmla="val 6857"/>
            </a:avLst>
          </a:prstGeom>
          <a:solidFill>
            <a:srgbClr val="E3E8ED"/>
          </a:solidFill>
          <a:ln w="12700">
            <a:solidFill>
              <a:srgbClr val="E3E8ED"/>
            </a:solidFill>
            <a:prstDash val="solid"/>
          </a:ln>
        </p:spPr>
      </p:sp>
      <p:sp>
        <p:nvSpPr>
          <p:cNvPr id="33" name="Shape 31"/>
          <p:cNvSpPr/>
          <p:nvPr/>
        </p:nvSpPr>
        <p:spPr>
          <a:xfrm>
            <a:off x="8421624" y="2194560"/>
            <a:ext cx="2880360" cy="685800"/>
          </a:xfrm>
          <a:prstGeom prst="rect">
            <a:avLst/>
          </a:prstGeom>
          <a:solidFill>
            <a:srgbClr val="3B414A"/>
          </a:solidFill>
          <a:ln w="12700">
            <a:solidFill>
              <a:srgbClr val="3B414A"/>
            </a:solidFill>
            <a:prstDash val="solid"/>
          </a:ln>
        </p:spPr>
      </p:sp>
      <p:sp>
        <p:nvSpPr>
          <p:cNvPr id="34" name="Shape 32"/>
          <p:cNvSpPr/>
          <p:nvPr/>
        </p:nvSpPr>
        <p:spPr>
          <a:xfrm>
            <a:off x="9541764" y="2880360"/>
            <a:ext cx="640080" cy="685800"/>
          </a:xfrm>
          <a:prstGeom prst="rect">
            <a:avLst/>
          </a:prstGeom>
          <a:solidFill>
            <a:srgbClr val="B9C1CA"/>
          </a:solidFill>
          <a:ln w="12700">
            <a:solidFill>
              <a:srgbClr val="B9C1CA"/>
            </a:solidFill>
            <a:prstDash val="solid"/>
          </a:ln>
        </p:spPr>
      </p:sp>
      <p:sp>
        <p:nvSpPr>
          <p:cNvPr id="35" name="Shape 33"/>
          <p:cNvSpPr/>
          <p:nvPr/>
        </p:nvSpPr>
        <p:spPr>
          <a:xfrm>
            <a:off x="9450324" y="2862072"/>
            <a:ext cx="822960" cy="54864"/>
          </a:xfrm>
          <a:prstGeom prst="rect">
            <a:avLst/>
          </a:prstGeom>
          <a:solidFill>
            <a:srgbClr val="FFFFFF"/>
          </a:solidFill>
          <a:ln w="12700">
            <a:solidFill>
              <a:srgbClr val="FFFFFF"/>
            </a:solidFill>
            <a:prstDash val="solid"/>
          </a:ln>
        </p:spPr>
      </p:sp>
      <p:sp>
        <p:nvSpPr>
          <p:cNvPr id="36" name="Shape 34"/>
          <p:cNvSpPr/>
          <p:nvPr/>
        </p:nvSpPr>
        <p:spPr>
          <a:xfrm>
            <a:off x="9697212" y="2916936"/>
            <a:ext cx="329184" cy="566928"/>
          </a:xfrm>
          <a:prstGeom prst="roundRect">
            <a:avLst>
              <a:gd name="adj" fmla="val 36111"/>
            </a:avLst>
          </a:prstGeom>
          <a:solidFill>
            <a:srgbClr val="FF9300"/>
          </a:solidFill>
          <a:ln w="15875">
            <a:solidFill>
              <a:srgbClr val="FFFFFF"/>
            </a:solidFill>
            <a:prstDash val="solid"/>
          </a:ln>
        </p:spPr>
      </p:sp>
      <p:sp>
        <p:nvSpPr>
          <p:cNvPr id="37" name="Shape 35"/>
          <p:cNvSpPr/>
          <p:nvPr/>
        </p:nvSpPr>
        <p:spPr>
          <a:xfrm>
            <a:off x="9770364" y="3099816"/>
            <a:ext cx="182880" cy="182880"/>
          </a:xfrm>
          <a:prstGeom prst="roundRect">
            <a:avLst>
              <a:gd name="adj" fmla="val 30000"/>
            </a:avLst>
          </a:prstGeom>
          <a:solidFill>
            <a:srgbClr val="1B1F24"/>
          </a:solidFill>
          <a:ln w="12700">
            <a:solidFill>
              <a:srgbClr val="1B1F24"/>
            </a:solidFill>
            <a:prstDash val="solid"/>
          </a:ln>
        </p:spPr>
      </p:sp>
      <p:sp>
        <p:nvSpPr>
          <p:cNvPr id="38" name="Shape 36"/>
          <p:cNvSpPr/>
          <p:nvPr/>
        </p:nvSpPr>
        <p:spPr>
          <a:xfrm>
            <a:off x="8778240" y="2532888"/>
            <a:ext cx="566928" cy="329184"/>
          </a:xfrm>
          <a:prstGeom prst="roundRect">
            <a:avLst>
              <a:gd name="adj" fmla="val 36111"/>
            </a:avLst>
          </a:prstGeom>
          <a:solidFill>
            <a:srgbClr val="3B82F6"/>
          </a:solidFill>
          <a:ln w="15875">
            <a:solidFill>
              <a:srgbClr val="FFFFFF"/>
            </a:solidFill>
            <a:prstDash val="solid"/>
          </a:ln>
        </p:spPr>
      </p:sp>
      <p:sp>
        <p:nvSpPr>
          <p:cNvPr id="39" name="Shape 37"/>
          <p:cNvSpPr/>
          <p:nvPr/>
        </p:nvSpPr>
        <p:spPr>
          <a:xfrm>
            <a:off x="8979408" y="2606040"/>
            <a:ext cx="182880" cy="182880"/>
          </a:xfrm>
          <a:prstGeom prst="roundRect">
            <a:avLst>
              <a:gd name="adj" fmla="val 30000"/>
            </a:avLst>
          </a:prstGeom>
          <a:solidFill>
            <a:srgbClr val="1B1F24"/>
          </a:solidFill>
          <a:ln w="12700">
            <a:solidFill>
              <a:srgbClr val="1B1F24"/>
            </a:solidFill>
            <a:prstDash val="solid"/>
          </a:ln>
        </p:spPr>
      </p:sp>
      <p:sp>
        <p:nvSpPr>
          <p:cNvPr id="40" name="Shape 38"/>
          <p:cNvSpPr/>
          <p:nvPr/>
        </p:nvSpPr>
        <p:spPr>
          <a:xfrm>
            <a:off x="9381744" y="2697480"/>
            <a:ext cx="1551737" cy="18288"/>
          </a:xfrm>
          <a:custGeom>
            <a:avLst/>
            <a:gdLst/>
            <a:ahLst/>
            <a:cxnLst/>
            <a:rect l="l" t="t" r="r" b="b"/>
            <a:pathLst>
              <a:path w="1551737" h="18288">
                <a:moveTo>
                  <a:pt x="0" y="0"/>
                </a:moveTo>
                <a:lnTo>
                  <a:pt x="1551737" y="0"/>
                </a:lnTo>
              </a:path>
            </a:pathLst>
          </a:custGeom>
          <a:noFill/>
          <a:ln w="31750">
            <a:solidFill>
              <a:srgbClr val="FFFFFF"/>
            </a:solidFill>
            <a:prstDash val="solid"/>
          </a:ln>
        </p:spPr>
      </p:sp>
      <p:sp>
        <p:nvSpPr>
          <p:cNvPr id="41" name="Shape 39"/>
          <p:cNvSpPr/>
          <p:nvPr/>
        </p:nvSpPr>
        <p:spPr>
          <a:xfrm rot="5400000">
            <a:off x="10908792" y="2615184"/>
            <a:ext cx="164592" cy="164592"/>
          </a:xfrm>
          <a:prstGeom prst="triangle">
            <a:avLst/>
          </a:prstGeom>
          <a:solidFill>
            <a:srgbClr val="FFFFFF"/>
          </a:solidFill>
          <a:ln w="12700">
            <a:solidFill>
              <a:srgbClr val="FFFFFF"/>
            </a:solidFill>
            <a:prstDash val="solid"/>
          </a:ln>
        </p:spPr>
      </p:sp>
      <p:sp>
        <p:nvSpPr>
          <p:cNvPr id="42" name="Text 40"/>
          <p:cNvSpPr txBox="1"/>
          <p:nvPr/>
        </p:nvSpPr>
        <p:spPr>
          <a:xfrm>
            <a:off x="8421624" y="3749040"/>
            <a:ext cx="2880360" cy="685800"/>
          </a:xfrm>
          <a:prstGeom prst="rect">
            <a:avLst/>
          </a:prstGeom>
          <a:noFill/>
          <a:ln/>
        </p:spPr>
        <p:txBody>
          <a:bodyPr wrap="square" lIns="0" tIns="0" rIns="0" bIns="0" rtlCol="0" anchor="t"/>
          <a:lstStyle/>
          <a:p>
            <a:pPr indent="0" marL="0">
              <a:buNone/>
            </a:pPr>
            <a:r>
              <a:rPr lang="en-US" sz="1800" b="1" dirty="0">
                <a:solidFill>
                  <a:srgbClr val="15181D"/>
                </a:solidFill>
                <a:latin typeface="Arial" pitchFamily="34" charset="0"/>
                <a:ea typeface="Arial" pitchFamily="34" charset="-122"/>
                <a:cs typeface="Arial" pitchFamily="34" charset="-120"/>
              </a:rPr>
              <a:t>Verkehrsberuhigter Bereich</a:t>
            </a:r>
            <a:endParaRPr lang="en-US" sz="1800" dirty="0"/>
          </a:p>
        </p:txBody>
      </p:sp>
      <p:sp>
        <p:nvSpPr>
          <p:cNvPr id="43" name="Text 41"/>
          <p:cNvSpPr txBox="1"/>
          <p:nvPr/>
        </p:nvSpPr>
        <p:spPr>
          <a:xfrm>
            <a:off x="8421624" y="4480560"/>
            <a:ext cx="2880360" cy="1005840"/>
          </a:xfrm>
          <a:prstGeom prst="rect">
            <a:avLst/>
          </a:prstGeom>
          <a:noFill/>
          <a:ln/>
        </p:spPr>
        <p:txBody>
          <a:bodyPr wrap="square" lIns="0" tIns="0" rIns="0" bIns="0" rtlCol="0" anchor="t"/>
          <a:lstStyle/>
          <a:p>
            <a:pPr indent="0" marL="0">
              <a:buNone/>
            </a:pPr>
            <a:r>
              <a:rPr lang="en-US" sz="1500" dirty="0">
                <a:solidFill>
                  <a:srgbClr val="56606B"/>
                </a:solidFill>
                <a:latin typeface="Arial" pitchFamily="34" charset="0"/>
                <a:ea typeface="Arial" pitchFamily="34" charset="-122"/>
                <a:cs typeface="Arial" pitchFamily="34" charset="-120"/>
              </a:rPr>
              <a:t>Auch hier und über einen abgesenkten Bordstein wartest du auf alle – Fußgänger eingeschlossen.</a:t>
            </a:r>
            <a:endParaRPr lang="en-US" sz="1500" dirty="0"/>
          </a:p>
        </p:txBody>
      </p:sp>
      <p:sp>
        <p:nvSpPr>
          <p:cNvPr id="44" name="Text 42"/>
          <p:cNvSpPr txBox="1"/>
          <p:nvPr/>
        </p:nvSpPr>
        <p:spPr>
          <a:xfrm>
            <a:off x="548640" y="5760720"/>
            <a:ext cx="11064240" cy="411480"/>
          </a:xfrm>
          <a:prstGeom prst="rect">
            <a:avLst/>
          </a:prstGeom>
          <a:noFill/>
          <a:ln/>
        </p:spPr>
        <p:txBody>
          <a:bodyPr wrap="square" lIns="0" tIns="0" rIns="0" bIns="0" rtlCol="0" anchor="t"/>
          <a:lstStyle/>
          <a:p>
            <a:pPr indent="0" marL="0">
              <a:buNone/>
            </a:pPr>
            <a:r>
              <a:rPr lang="en-US" sz="1800" b="1" dirty="0">
                <a:solidFill>
                  <a:srgbClr val="15181D"/>
                </a:solidFill>
                <a:latin typeface="Arial" pitchFamily="34" charset="0"/>
                <a:ea typeface="Arial" pitchFamily="34" charset="-122"/>
                <a:cs typeface="Arial" pitchFamily="34" charset="-120"/>
              </a:rPr>
              <a:t>Eine Gefährdung muss ausgeschlossen sein – wenn nötig, lässt du dich einweisen.</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FRAGE · RECHTS VOR LINKS</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Wer fährt zuerst?</a:t>
            </a:r>
            <a:endParaRPr lang="en-US" sz="3200" dirty="0"/>
          </a:p>
        </p:txBody>
      </p:sp>
      <p:sp>
        <p:nvSpPr>
          <p:cNvPr id="4" name="Shape 2"/>
          <p:cNvSpPr/>
          <p:nvPr/>
        </p:nvSpPr>
        <p:spPr>
          <a:xfrm>
            <a:off x="5669280" y="1600200"/>
            <a:ext cx="5971032" cy="4526280"/>
          </a:xfrm>
          <a:prstGeom prst="roundRect">
            <a:avLst>
              <a:gd name="adj" fmla="val 4444"/>
            </a:avLst>
          </a:prstGeom>
          <a:solidFill>
            <a:srgbClr val="1C2129"/>
          </a:solidFill>
          <a:ln w="12700">
            <a:solidFill>
              <a:srgbClr val="1C2129"/>
            </a:solidFill>
            <a:prstDash val="solid"/>
          </a:ln>
        </p:spPr>
      </p:sp>
      <p:sp>
        <p:nvSpPr>
          <p:cNvPr id="5" name="Shape 3"/>
          <p:cNvSpPr/>
          <p:nvPr/>
        </p:nvSpPr>
        <p:spPr>
          <a:xfrm>
            <a:off x="7854696" y="1600200"/>
            <a:ext cx="1600200" cy="4526280"/>
          </a:xfrm>
          <a:prstGeom prst="rect">
            <a:avLst/>
          </a:prstGeom>
          <a:solidFill>
            <a:srgbClr val="3B414A"/>
          </a:solidFill>
          <a:ln w="12700">
            <a:solidFill>
              <a:srgbClr val="3B414A"/>
            </a:solidFill>
            <a:prstDash val="solid"/>
          </a:ln>
        </p:spPr>
      </p:sp>
      <p:sp>
        <p:nvSpPr>
          <p:cNvPr id="6" name="Shape 4"/>
          <p:cNvSpPr/>
          <p:nvPr/>
        </p:nvSpPr>
        <p:spPr>
          <a:xfrm>
            <a:off x="5669280" y="3063240"/>
            <a:ext cx="5971032" cy="1600200"/>
          </a:xfrm>
          <a:prstGeom prst="rect">
            <a:avLst/>
          </a:prstGeom>
          <a:solidFill>
            <a:srgbClr val="3B414A"/>
          </a:solidFill>
          <a:ln w="12700">
            <a:solidFill>
              <a:srgbClr val="3B414A"/>
            </a:solidFill>
            <a:prstDash val="solid"/>
          </a:ln>
        </p:spPr>
      </p:sp>
      <p:sp>
        <p:nvSpPr>
          <p:cNvPr id="7" name="Shape 5"/>
          <p:cNvSpPr/>
          <p:nvPr/>
        </p:nvSpPr>
        <p:spPr>
          <a:xfrm>
            <a:off x="8654796" y="1709928"/>
            <a:ext cx="0" cy="1243584"/>
          </a:xfrm>
          <a:prstGeom prst="line">
            <a:avLst/>
          </a:prstGeom>
          <a:noFill/>
          <a:ln w="22225">
            <a:solidFill>
              <a:srgbClr val="F2F4F6"/>
            </a:solidFill>
            <a:prstDash val="dash"/>
          </a:ln>
        </p:spPr>
      </p:sp>
      <p:sp>
        <p:nvSpPr>
          <p:cNvPr id="8" name="Shape 6"/>
          <p:cNvSpPr/>
          <p:nvPr/>
        </p:nvSpPr>
        <p:spPr>
          <a:xfrm>
            <a:off x="8654796" y="4773168"/>
            <a:ext cx="0" cy="1243584"/>
          </a:xfrm>
          <a:prstGeom prst="line">
            <a:avLst/>
          </a:prstGeom>
          <a:noFill/>
          <a:ln w="22225">
            <a:solidFill>
              <a:srgbClr val="F2F4F6"/>
            </a:solidFill>
            <a:prstDash val="dash"/>
          </a:ln>
        </p:spPr>
      </p:sp>
      <p:sp>
        <p:nvSpPr>
          <p:cNvPr id="9" name="Shape 7"/>
          <p:cNvSpPr/>
          <p:nvPr/>
        </p:nvSpPr>
        <p:spPr>
          <a:xfrm>
            <a:off x="5779008" y="3863340"/>
            <a:ext cx="1965960" cy="0"/>
          </a:xfrm>
          <a:prstGeom prst="line">
            <a:avLst/>
          </a:prstGeom>
          <a:noFill/>
          <a:ln w="22225">
            <a:solidFill>
              <a:srgbClr val="F2F4F6"/>
            </a:solidFill>
            <a:prstDash val="dash"/>
          </a:ln>
        </p:spPr>
      </p:sp>
      <p:sp>
        <p:nvSpPr>
          <p:cNvPr id="10" name="Shape 8"/>
          <p:cNvSpPr/>
          <p:nvPr/>
        </p:nvSpPr>
        <p:spPr>
          <a:xfrm>
            <a:off x="9564624" y="3863340"/>
            <a:ext cx="1965960" cy="0"/>
          </a:xfrm>
          <a:prstGeom prst="line">
            <a:avLst/>
          </a:prstGeom>
          <a:noFill/>
          <a:ln w="22225">
            <a:solidFill>
              <a:srgbClr val="F2F4F6"/>
            </a:solidFill>
            <a:prstDash val="dash"/>
          </a:ln>
        </p:spPr>
      </p:sp>
      <p:sp>
        <p:nvSpPr>
          <p:cNvPr id="11" name="Shape 9"/>
          <p:cNvSpPr/>
          <p:nvPr/>
        </p:nvSpPr>
        <p:spPr>
          <a:xfrm>
            <a:off x="8817102" y="4901184"/>
            <a:ext cx="475488" cy="896112"/>
          </a:xfrm>
          <a:prstGeom prst="roundRect">
            <a:avLst>
              <a:gd name="adj" fmla="val 25000"/>
            </a:avLst>
          </a:prstGeom>
          <a:solidFill>
            <a:srgbClr val="FF9300"/>
          </a:solidFill>
          <a:ln w="15875">
            <a:solidFill>
              <a:srgbClr val="FFFFFF"/>
            </a:solidFill>
            <a:prstDash val="solid"/>
          </a:ln>
        </p:spPr>
      </p:sp>
      <p:sp>
        <p:nvSpPr>
          <p:cNvPr id="12" name="Shape 10"/>
          <p:cNvSpPr/>
          <p:nvPr/>
        </p:nvSpPr>
        <p:spPr>
          <a:xfrm>
            <a:off x="8890254" y="5084064"/>
            <a:ext cx="329184" cy="182880"/>
          </a:xfrm>
          <a:prstGeom prst="roundRect">
            <a:avLst>
              <a:gd name="adj" fmla="val 30000"/>
            </a:avLst>
          </a:prstGeom>
          <a:solidFill>
            <a:srgbClr val="1B1F24"/>
          </a:solidFill>
          <a:ln w="12700">
            <a:solidFill>
              <a:srgbClr val="1B1F24"/>
            </a:solidFill>
            <a:prstDash val="solid"/>
          </a:ln>
        </p:spPr>
      </p:sp>
      <p:sp>
        <p:nvSpPr>
          <p:cNvPr id="13" name="Text 11"/>
          <p:cNvSpPr txBox="1"/>
          <p:nvPr/>
        </p:nvSpPr>
        <p:spPr>
          <a:xfrm>
            <a:off x="8780526" y="536752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4" name="Shape 12"/>
          <p:cNvSpPr/>
          <p:nvPr/>
        </p:nvSpPr>
        <p:spPr>
          <a:xfrm>
            <a:off x="9829800" y="3225546"/>
            <a:ext cx="896112" cy="475488"/>
          </a:xfrm>
          <a:prstGeom prst="roundRect">
            <a:avLst>
              <a:gd name="adj" fmla="val 25000"/>
            </a:avLst>
          </a:prstGeom>
          <a:solidFill>
            <a:srgbClr val="3B82F6"/>
          </a:solidFill>
          <a:ln w="15875">
            <a:solidFill>
              <a:srgbClr val="FFFFFF"/>
            </a:solidFill>
            <a:prstDash val="solid"/>
          </a:ln>
        </p:spPr>
      </p:sp>
      <p:sp>
        <p:nvSpPr>
          <p:cNvPr id="15" name="Shape 13"/>
          <p:cNvSpPr/>
          <p:nvPr/>
        </p:nvSpPr>
        <p:spPr>
          <a:xfrm>
            <a:off x="10012680" y="3298698"/>
            <a:ext cx="182880" cy="329184"/>
          </a:xfrm>
          <a:prstGeom prst="roundRect">
            <a:avLst>
              <a:gd name="adj" fmla="val 30000"/>
            </a:avLst>
          </a:prstGeom>
          <a:solidFill>
            <a:srgbClr val="1B1F24"/>
          </a:solidFill>
          <a:ln w="12700">
            <a:solidFill>
              <a:srgbClr val="1B1F24"/>
            </a:solidFill>
            <a:prstDash val="solid"/>
          </a:ln>
        </p:spPr>
      </p:sp>
      <p:sp>
        <p:nvSpPr>
          <p:cNvPr id="16" name="Shape 14"/>
          <p:cNvSpPr/>
          <p:nvPr/>
        </p:nvSpPr>
        <p:spPr>
          <a:xfrm>
            <a:off x="6583680" y="4025646"/>
            <a:ext cx="896112" cy="475488"/>
          </a:xfrm>
          <a:prstGeom prst="roundRect">
            <a:avLst>
              <a:gd name="adj" fmla="val 25000"/>
            </a:avLst>
          </a:prstGeom>
          <a:solidFill>
            <a:srgbClr val="12A150"/>
          </a:solidFill>
          <a:ln w="15875">
            <a:solidFill>
              <a:srgbClr val="FFFFFF"/>
            </a:solidFill>
            <a:prstDash val="solid"/>
          </a:ln>
        </p:spPr>
      </p:sp>
      <p:sp>
        <p:nvSpPr>
          <p:cNvPr id="17" name="Shape 15"/>
          <p:cNvSpPr/>
          <p:nvPr/>
        </p:nvSpPr>
        <p:spPr>
          <a:xfrm>
            <a:off x="7114032" y="4098798"/>
            <a:ext cx="182880" cy="329184"/>
          </a:xfrm>
          <a:prstGeom prst="roundRect">
            <a:avLst>
              <a:gd name="adj" fmla="val 30000"/>
            </a:avLst>
          </a:prstGeom>
          <a:solidFill>
            <a:srgbClr val="1B1F24"/>
          </a:solidFill>
          <a:ln w="12700">
            <a:solidFill>
              <a:srgbClr val="1B1F24"/>
            </a:solidFill>
            <a:prstDash val="solid"/>
          </a:ln>
        </p:spPr>
      </p:sp>
      <p:sp>
        <p:nvSpPr>
          <p:cNvPr id="18" name="Shape 16"/>
          <p:cNvSpPr/>
          <p:nvPr/>
        </p:nvSpPr>
        <p:spPr>
          <a:xfrm>
            <a:off x="7553858" y="3463290"/>
            <a:ext cx="2221078" cy="18288"/>
          </a:xfrm>
          <a:custGeom>
            <a:avLst/>
            <a:gdLst/>
            <a:ahLst/>
            <a:cxnLst/>
            <a:rect l="l" t="t" r="r" b="b"/>
            <a:pathLst>
              <a:path w="2221078" h="18288">
                <a:moveTo>
                  <a:pt x="2221078" y="0"/>
                </a:moveTo>
                <a:lnTo>
                  <a:pt x="0" y="0"/>
                </a:lnTo>
              </a:path>
            </a:pathLst>
          </a:custGeom>
          <a:noFill/>
          <a:ln w="44450">
            <a:solidFill>
              <a:srgbClr val="FFFFFF"/>
            </a:solidFill>
            <a:prstDash val="solid"/>
          </a:ln>
        </p:spPr>
      </p:sp>
      <p:sp>
        <p:nvSpPr>
          <p:cNvPr id="19" name="Shape 17"/>
          <p:cNvSpPr/>
          <p:nvPr/>
        </p:nvSpPr>
        <p:spPr>
          <a:xfrm rot="16200000">
            <a:off x="7351776" y="3344418"/>
            <a:ext cx="237744" cy="237744"/>
          </a:xfrm>
          <a:prstGeom prst="triangle">
            <a:avLst/>
          </a:prstGeom>
          <a:solidFill>
            <a:srgbClr val="FFFFFF"/>
          </a:solidFill>
          <a:ln w="12700">
            <a:solidFill>
              <a:srgbClr val="FFFFFF"/>
            </a:solidFill>
            <a:prstDash val="solid"/>
          </a:ln>
        </p:spPr>
      </p:sp>
      <p:sp>
        <p:nvSpPr>
          <p:cNvPr id="20" name="Shape 18"/>
          <p:cNvSpPr/>
          <p:nvPr/>
        </p:nvSpPr>
        <p:spPr>
          <a:xfrm>
            <a:off x="9054846" y="2762402"/>
            <a:ext cx="18288" cy="2083918"/>
          </a:xfrm>
          <a:custGeom>
            <a:avLst/>
            <a:gdLst/>
            <a:ahLst/>
            <a:cxnLst/>
            <a:rect l="l" t="t" r="r" b="b"/>
            <a:pathLst>
              <a:path w="18288" h="2083918">
                <a:moveTo>
                  <a:pt x="0" y="2083918"/>
                </a:moveTo>
                <a:lnTo>
                  <a:pt x="0" y="0"/>
                </a:lnTo>
              </a:path>
            </a:pathLst>
          </a:custGeom>
          <a:noFill/>
          <a:ln w="44450">
            <a:solidFill>
              <a:srgbClr val="FF9300"/>
            </a:solidFill>
            <a:prstDash val="dash"/>
          </a:ln>
        </p:spPr>
      </p:sp>
      <p:sp>
        <p:nvSpPr>
          <p:cNvPr id="21" name="Shape 19"/>
          <p:cNvSpPr/>
          <p:nvPr/>
        </p:nvSpPr>
        <p:spPr>
          <a:xfrm>
            <a:off x="8935974" y="2560320"/>
            <a:ext cx="237744" cy="237744"/>
          </a:xfrm>
          <a:prstGeom prst="triangle">
            <a:avLst/>
          </a:prstGeom>
          <a:solidFill>
            <a:srgbClr val="FF9300"/>
          </a:solidFill>
          <a:ln w="12700">
            <a:solidFill>
              <a:srgbClr val="FF9300"/>
            </a:solidFill>
            <a:prstDash val="solid"/>
          </a:ln>
        </p:spPr>
      </p:sp>
      <p:sp>
        <p:nvSpPr>
          <p:cNvPr id="22" name="Shape 20"/>
          <p:cNvSpPr/>
          <p:nvPr/>
        </p:nvSpPr>
        <p:spPr>
          <a:xfrm>
            <a:off x="7534656" y="4263390"/>
            <a:ext cx="2221078" cy="18288"/>
          </a:xfrm>
          <a:custGeom>
            <a:avLst/>
            <a:gdLst/>
            <a:ahLst/>
            <a:cxnLst/>
            <a:rect l="l" t="t" r="r" b="b"/>
            <a:pathLst>
              <a:path w="2221078" h="18288">
                <a:moveTo>
                  <a:pt x="0" y="0"/>
                </a:moveTo>
                <a:lnTo>
                  <a:pt x="2221078" y="0"/>
                </a:lnTo>
              </a:path>
            </a:pathLst>
          </a:custGeom>
          <a:noFill/>
          <a:ln w="44450">
            <a:solidFill>
              <a:srgbClr val="FFFFFF"/>
            </a:solidFill>
            <a:prstDash val="solid"/>
          </a:ln>
        </p:spPr>
      </p:sp>
      <p:sp>
        <p:nvSpPr>
          <p:cNvPr id="23" name="Shape 21"/>
          <p:cNvSpPr/>
          <p:nvPr/>
        </p:nvSpPr>
        <p:spPr>
          <a:xfrm rot="5400000">
            <a:off x="9720072" y="4144518"/>
            <a:ext cx="237744" cy="237744"/>
          </a:xfrm>
          <a:prstGeom prst="triangle">
            <a:avLst/>
          </a:prstGeom>
          <a:solidFill>
            <a:srgbClr val="FFFFFF"/>
          </a:solidFill>
          <a:ln w="12700">
            <a:solidFill>
              <a:srgbClr val="FFFFFF"/>
            </a:solidFill>
            <a:prstDash val="solid"/>
          </a:ln>
        </p:spPr>
      </p:sp>
      <p:sp>
        <p:nvSpPr>
          <p:cNvPr id="24" name="Shape 22"/>
          <p:cNvSpPr/>
          <p:nvPr/>
        </p:nvSpPr>
        <p:spPr>
          <a:xfrm>
            <a:off x="580644" y="1888236"/>
            <a:ext cx="155448" cy="155448"/>
          </a:xfrm>
          <a:prstGeom prst="ellipse">
            <a:avLst/>
          </a:prstGeom>
          <a:solidFill>
            <a:srgbClr val="FF9300"/>
          </a:solidFill>
          <a:ln w="12700">
            <a:solidFill>
              <a:srgbClr val="FF9300"/>
            </a:solidFill>
            <a:prstDash val="solid"/>
          </a:ln>
        </p:spPr>
      </p:sp>
      <p:sp>
        <p:nvSpPr>
          <p:cNvPr id="25" name="Text 23"/>
          <p:cNvSpPr txBox="1"/>
          <p:nvPr/>
        </p:nvSpPr>
        <p:spPr>
          <a:xfrm>
            <a:off x="932688" y="1783080"/>
            <a:ext cx="4370832" cy="97840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Keine Schilder,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keine Ampel, keine Polizei.</a:t>
            </a:r>
            <a:endParaRPr lang="en-US" sz="2100" dirty="0"/>
          </a:p>
        </p:txBody>
      </p:sp>
      <p:sp>
        <p:nvSpPr>
          <p:cNvPr id="26" name="Shape 24"/>
          <p:cNvSpPr/>
          <p:nvPr/>
        </p:nvSpPr>
        <p:spPr>
          <a:xfrm>
            <a:off x="580644" y="2939796"/>
            <a:ext cx="155448" cy="155448"/>
          </a:xfrm>
          <a:prstGeom prst="ellipse">
            <a:avLst/>
          </a:prstGeom>
          <a:solidFill>
            <a:srgbClr val="FF9300"/>
          </a:solidFill>
          <a:ln w="12700">
            <a:solidFill>
              <a:srgbClr val="FF9300"/>
            </a:solidFill>
            <a:prstDash val="solid"/>
          </a:ln>
        </p:spPr>
      </p:sp>
      <p:sp>
        <p:nvSpPr>
          <p:cNvPr id="27" name="Text 25"/>
          <p:cNvSpPr txBox="1"/>
          <p:nvPr/>
        </p:nvSpPr>
        <p:spPr>
          <a:xfrm>
            <a:off x="932688" y="2834640"/>
            <a:ext cx="4370832" cy="97840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Alle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wollen geradeaus.</a:t>
            </a:r>
            <a:endParaRPr lang="en-US" sz="2100" dirty="0"/>
          </a:p>
        </p:txBody>
      </p:sp>
      <p:sp>
        <p:nvSpPr>
          <p:cNvPr id="28" name="Shape 26"/>
          <p:cNvSpPr/>
          <p:nvPr/>
        </p:nvSpPr>
        <p:spPr>
          <a:xfrm>
            <a:off x="580644" y="3991356"/>
            <a:ext cx="155448" cy="155448"/>
          </a:xfrm>
          <a:prstGeom prst="ellipse">
            <a:avLst/>
          </a:prstGeom>
          <a:solidFill>
            <a:srgbClr val="FF9300"/>
          </a:solidFill>
          <a:ln w="12700">
            <a:solidFill>
              <a:srgbClr val="FF9300"/>
            </a:solidFill>
            <a:prstDash val="solid"/>
          </a:ln>
        </p:spPr>
      </p:sp>
      <p:sp>
        <p:nvSpPr>
          <p:cNvPr id="29" name="Text 27"/>
          <p:cNvSpPr txBox="1"/>
          <p:nvPr/>
        </p:nvSpPr>
        <p:spPr>
          <a:xfrm>
            <a:off x="932688" y="3886200"/>
            <a:ext cx="4370832" cy="97840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Ordne: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Blau, Grün und du – in welcher Reihenfolge?</a:t>
            </a:r>
            <a:endParaRPr lang="en-US" sz="2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AUFLÖSUNG</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Blau, dann du, dann Grün</a:t>
            </a:r>
            <a:endParaRPr lang="en-US" sz="3200" dirty="0"/>
          </a:p>
        </p:txBody>
      </p:sp>
      <p:sp>
        <p:nvSpPr>
          <p:cNvPr id="4" name="Shape 2"/>
          <p:cNvSpPr/>
          <p:nvPr/>
        </p:nvSpPr>
        <p:spPr>
          <a:xfrm>
            <a:off x="5669280" y="1600200"/>
            <a:ext cx="5971032" cy="4526280"/>
          </a:xfrm>
          <a:prstGeom prst="roundRect">
            <a:avLst>
              <a:gd name="adj" fmla="val 4444"/>
            </a:avLst>
          </a:prstGeom>
          <a:solidFill>
            <a:srgbClr val="1C2129"/>
          </a:solidFill>
          <a:ln w="12700">
            <a:solidFill>
              <a:srgbClr val="1C2129"/>
            </a:solidFill>
            <a:prstDash val="solid"/>
          </a:ln>
        </p:spPr>
      </p:sp>
      <p:sp>
        <p:nvSpPr>
          <p:cNvPr id="5" name="Shape 3"/>
          <p:cNvSpPr/>
          <p:nvPr/>
        </p:nvSpPr>
        <p:spPr>
          <a:xfrm>
            <a:off x="7854696" y="1600200"/>
            <a:ext cx="1600200" cy="4526280"/>
          </a:xfrm>
          <a:prstGeom prst="rect">
            <a:avLst/>
          </a:prstGeom>
          <a:solidFill>
            <a:srgbClr val="3B414A"/>
          </a:solidFill>
          <a:ln w="12700">
            <a:solidFill>
              <a:srgbClr val="3B414A"/>
            </a:solidFill>
            <a:prstDash val="solid"/>
          </a:ln>
        </p:spPr>
      </p:sp>
      <p:sp>
        <p:nvSpPr>
          <p:cNvPr id="6" name="Shape 4"/>
          <p:cNvSpPr/>
          <p:nvPr/>
        </p:nvSpPr>
        <p:spPr>
          <a:xfrm>
            <a:off x="5669280" y="3063240"/>
            <a:ext cx="5971032" cy="1600200"/>
          </a:xfrm>
          <a:prstGeom prst="rect">
            <a:avLst/>
          </a:prstGeom>
          <a:solidFill>
            <a:srgbClr val="3B414A"/>
          </a:solidFill>
          <a:ln w="12700">
            <a:solidFill>
              <a:srgbClr val="3B414A"/>
            </a:solidFill>
            <a:prstDash val="solid"/>
          </a:ln>
        </p:spPr>
      </p:sp>
      <p:sp>
        <p:nvSpPr>
          <p:cNvPr id="7" name="Shape 5"/>
          <p:cNvSpPr/>
          <p:nvPr/>
        </p:nvSpPr>
        <p:spPr>
          <a:xfrm>
            <a:off x="8654796" y="1709928"/>
            <a:ext cx="0" cy="1243584"/>
          </a:xfrm>
          <a:prstGeom prst="line">
            <a:avLst/>
          </a:prstGeom>
          <a:noFill/>
          <a:ln w="22225">
            <a:solidFill>
              <a:srgbClr val="F2F4F6"/>
            </a:solidFill>
            <a:prstDash val="dash"/>
          </a:ln>
        </p:spPr>
      </p:sp>
      <p:sp>
        <p:nvSpPr>
          <p:cNvPr id="8" name="Shape 6"/>
          <p:cNvSpPr/>
          <p:nvPr/>
        </p:nvSpPr>
        <p:spPr>
          <a:xfrm>
            <a:off x="8654796" y="4773168"/>
            <a:ext cx="0" cy="1243584"/>
          </a:xfrm>
          <a:prstGeom prst="line">
            <a:avLst/>
          </a:prstGeom>
          <a:noFill/>
          <a:ln w="22225">
            <a:solidFill>
              <a:srgbClr val="F2F4F6"/>
            </a:solidFill>
            <a:prstDash val="dash"/>
          </a:ln>
        </p:spPr>
      </p:sp>
      <p:sp>
        <p:nvSpPr>
          <p:cNvPr id="9" name="Shape 7"/>
          <p:cNvSpPr/>
          <p:nvPr/>
        </p:nvSpPr>
        <p:spPr>
          <a:xfrm>
            <a:off x="5779008" y="3863340"/>
            <a:ext cx="1965960" cy="0"/>
          </a:xfrm>
          <a:prstGeom prst="line">
            <a:avLst/>
          </a:prstGeom>
          <a:noFill/>
          <a:ln w="22225">
            <a:solidFill>
              <a:srgbClr val="F2F4F6"/>
            </a:solidFill>
            <a:prstDash val="dash"/>
          </a:ln>
        </p:spPr>
      </p:sp>
      <p:sp>
        <p:nvSpPr>
          <p:cNvPr id="10" name="Shape 8"/>
          <p:cNvSpPr/>
          <p:nvPr/>
        </p:nvSpPr>
        <p:spPr>
          <a:xfrm>
            <a:off x="9564624" y="3863340"/>
            <a:ext cx="1965960" cy="0"/>
          </a:xfrm>
          <a:prstGeom prst="line">
            <a:avLst/>
          </a:prstGeom>
          <a:noFill/>
          <a:ln w="22225">
            <a:solidFill>
              <a:srgbClr val="F2F4F6"/>
            </a:solidFill>
            <a:prstDash val="dash"/>
          </a:ln>
        </p:spPr>
      </p:sp>
      <p:sp>
        <p:nvSpPr>
          <p:cNvPr id="11" name="Shape 9"/>
          <p:cNvSpPr/>
          <p:nvPr/>
        </p:nvSpPr>
        <p:spPr>
          <a:xfrm>
            <a:off x="8817102" y="4901184"/>
            <a:ext cx="475488" cy="896112"/>
          </a:xfrm>
          <a:prstGeom prst="roundRect">
            <a:avLst>
              <a:gd name="adj" fmla="val 25000"/>
            </a:avLst>
          </a:prstGeom>
          <a:solidFill>
            <a:srgbClr val="FF9300"/>
          </a:solidFill>
          <a:ln w="15875">
            <a:solidFill>
              <a:srgbClr val="FFFFFF"/>
            </a:solidFill>
            <a:prstDash val="solid"/>
          </a:ln>
        </p:spPr>
      </p:sp>
      <p:sp>
        <p:nvSpPr>
          <p:cNvPr id="12" name="Shape 10"/>
          <p:cNvSpPr/>
          <p:nvPr/>
        </p:nvSpPr>
        <p:spPr>
          <a:xfrm>
            <a:off x="8890254" y="5084064"/>
            <a:ext cx="329184" cy="182880"/>
          </a:xfrm>
          <a:prstGeom prst="roundRect">
            <a:avLst>
              <a:gd name="adj" fmla="val 30000"/>
            </a:avLst>
          </a:prstGeom>
          <a:solidFill>
            <a:srgbClr val="1B1F24"/>
          </a:solidFill>
          <a:ln w="12700">
            <a:solidFill>
              <a:srgbClr val="1B1F24"/>
            </a:solidFill>
            <a:prstDash val="solid"/>
          </a:ln>
        </p:spPr>
      </p:sp>
      <p:sp>
        <p:nvSpPr>
          <p:cNvPr id="13" name="Text 11"/>
          <p:cNvSpPr txBox="1"/>
          <p:nvPr/>
        </p:nvSpPr>
        <p:spPr>
          <a:xfrm>
            <a:off x="8780526" y="536752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4" name="Shape 12"/>
          <p:cNvSpPr/>
          <p:nvPr/>
        </p:nvSpPr>
        <p:spPr>
          <a:xfrm>
            <a:off x="9829800" y="3225546"/>
            <a:ext cx="896112" cy="475488"/>
          </a:xfrm>
          <a:prstGeom prst="roundRect">
            <a:avLst>
              <a:gd name="adj" fmla="val 25000"/>
            </a:avLst>
          </a:prstGeom>
          <a:solidFill>
            <a:srgbClr val="3B82F6"/>
          </a:solidFill>
          <a:ln w="15875">
            <a:solidFill>
              <a:srgbClr val="FFFFFF"/>
            </a:solidFill>
            <a:prstDash val="solid"/>
          </a:ln>
        </p:spPr>
      </p:sp>
      <p:sp>
        <p:nvSpPr>
          <p:cNvPr id="15" name="Shape 13"/>
          <p:cNvSpPr/>
          <p:nvPr/>
        </p:nvSpPr>
        <p:spPr>
          <a:xfrm>
            <a:off x="10012680" y="3298698"/>
            <a:ext cx="182880" cy="329184"/>
          </a:xfrm>
          <a:prstGeom prst="roundRect">
            <a:avLst>
              <a:gd name="adj" fmla="val 30000"/>
            </a:avLst>
          </a:prstGeom>
          <a:solidFill>
            <a:srgbClr val="1B1F24"/>
          </a:solidFill>
          <a:ln w="12700">
            <a:solidFill>
              <a:srgbClr val="1B1F24"/>
            </a:solidFill>
            <a:prstDash val="solid"/>
          </a:ln>
        </p:spPr>
      </p:sp>
      <p:sp>
        <p:nvSpPr>
          <p:cNvPr id="16" name="Shape 14"/>
          <p:cNvSpPr/>
          <p:nvPr/>
        </p:nvSpPr>
        <p:spPr>
          <a:xfrm>
            <a:off x="6583680" y="4025646"/>
            <a:ext cx="896112" cy="475488"/>
          </a:xfrm>
          <a:prstGeom prst="roundRect">
            <a:avLst>
              <a:gd name="adj" fmla="val 25000"/>
            </a:avLst>
          </a:prstGeom>
          <a:solidFill>
            <a:srgbClr val="12A150"/>
          </a:solidFill>
          <a:ln w="15875">
            <a:solidFill>
              <a:srgbClr val="FFFFFF"/>
            </a:solidFill>
            <a:prstDash val="solid"/>
          </a:ln>
        </p:spPr>
      </p:sp>
      <p:sp>
        <p:nvSpPr>
          <p:cNvPr id="17" name="Shape 15"/>
          <p:cNvSpPr/>
          <p:nvPr/>
        </p:nvSpPr>
        <p:spPr>
          <a:xfrm>
            <a:off x="7114032" y="4098798"/>
            <a:ext cx="182880" cy="329184"/>
          </a:xfrm>
          <a:prstGeom prst="roundRect">
            <a:avLst>
              <a:gd name="adj" fmla="val 30000"/>
            </a:avLst>
          </a:prstGeom>
          <a:solidFill>
            <a:srgbClr val="1B1F24"/>
          </a:solidFill>
          <a:ln w="12700">
            <a:solidFill>
              <a:srgbClr val="1B1F24"/>
            </a:solidFill>
            <a:prstDash val="solid"/>
          </a:ln>
        </p:spPr>
      </p:sp>
      <p:sp>
        <p:nvSpPr>
          <p:cNvPr id="18" name="Shape 16"/>
          <p:cNvSpPr/>
          <p:nvPr/>
        </p:nvSpPr>
        <p:spPr>
          <a:xfrm>
            <a:off x="7553858" y="3463290"/>
            <a:ext cx="2221078" cy="18288"/>
          </a:xfrm>
          <a:custGeom>
            <a:avLst/>
            <a:gdLst/>
            <a:ahLst/>
            <a:cxnLst/>
            <a:rect l="l" t="t" r="r" b="b"/>
            <a:pathLst>
              <a:path w="2221078" h="18288">
                <a:moveTo>
                  <a:pt x="2221078" y="0"/>
                </a:moveTo>
                <a:lnTo>
                  <a:pt x="0" y="0"/>
                </a:lnTo>
              </a:path>
            </a:pathLst>
          </a:custGeom>
          <a:noFill/>
          <a:ln w="44450">
            <a:solidFill>
              <a:srgbClr val="FFFFFF"/>
            </a:solidFill>
            <a:prstDash val="solid"/>
          </a:ln>
        </p:spPr>
      </p:sp>
      <p:sp>
        <p:nvSpPr>
          <p:cNvPr id="19" name="Shape 17"/>
          <p:cNvSpPr/>
          <p:nvPr/>
        </p:nvSpPr>
        <p:spPr>
          <a:xfrm rot="16200000">
            <a:off x="7351776" y="3344418"/>
            <a:ext cx="237744" cy="237744"/>
          </a:xfrm>
          <a:prstGeom prst="triangle">
            <a:avLst/>
          </a:prstGeom>
          <a:solidFill>
            <a:srgbClr val="FFFFFF"/>
          </a:solidFill>
          <a:ln w="12700">
            <a:solidFill>
              <a:srgbClr val="FFFFFF"/>
            </a:solidFill>
            <a:prstDash val="solid"/>
          </a:ln>
        </p:spPr>
      </p:sp>
      <p:sp>
        <p:nvSpPr>
          <p:cNvPr id="20" name="Shape 18"/>
          <p:cNvSpPr/>
          <p:nvPr/>
        </p:nvSpPr>
        <p:spPr>
          <a:xfrm>
            <a:off x="9054846" y="2762402"/>
            <a:ext cx="18288" cy="2083918"/>
          </a:xfrm>
          <a:custGeom>
            <a:avLst/>
            <a:gdLst/>
            <a:ahLst/>
            <a:cxnLst/>
            <a:rect l="l" t="t" r="r" b="b"/>
            <a:pathLst>
              <a:path w="18288" h="2083918">
                <a:moveTo>
                  <a:pt x="0" y="2083918"/>
                </a:moveTo>
                <a:lnTo>
                  <a:pt x="0" y="0"/>
                </a:lnTo>
              </a:path>
            </a:pathLst>
          </a:custGeom>
          <a:noFill/>
          <a:ln w="44450">
            <a:solidFill>
              <a:srgbClr val="FF9300"/>
            </a:solidFill>
            <a:prstDash val="dash"/>
          </a:ln>
        </p:spPr>
      </p:sp>
      <p:sp>
        <p:nvSpPr>
          <p:cNvPr id="21" name="Shape 19"/>
          <p:cNvSpPr/>
          <p:nvPr/>
        </p:nvSpPr>
        <p:spPr>
          <a:xfrm>
            <a:off x="8935974" y="2560320"/>
            <a:ext cx="237744" cy="237744"/>
          </a:xfrm>
          <a:prstGeom prst="triangle">
            <a:avLst/>
          </a:prstGeom>
          <a:solidFill>
            <a:srgbClr val="FF9300"/>
          </a:solidFill>
          <a:ln w="12700">
            <a:solidFill>
              <a:srgbClr val="FF9300"/>
            </a:solidFill>
            <a:prstDash val="solid"/>
          </a:ln>
        </p:spPr>
      </p:sp>
      <p:sp>
        <p:nvSpPr>
          <p:cNvPr id="22" name="Shape 20"/>
          <p:cNvSpPr/>
          <p:nvPr/>
        </p:nvSpPr>
        <p:spPr>
          <a:xfrm>
            <a:off x="7534656" y="4263390"/>
            <a:ext cx="2221078" cy="18288"/>
          </a:xfrm>
          <a:custGeom>
            <a:avLst/>
            <a:gdLst/>
            <a:ahLst/>
            <a:cxnLst/>
            <a:rect l="l" t="t" r="r" b="b"/>
            <a:pathLst>
              <a:path w="2221078" h="18288">
                <a:moveTo>
                  <a:pt x="0" y="0"/>
                </a:moveTo>
                <a:lnTo>
                  <a:pt x="2221078" y="0"/>
                </a:lnTo>
              </a:path>
            </a:pathLst>
          </a:custGeom>
          <a:noFill/>
          <a:ln w="44450">
            <a:solidFill>
              <a:srgbClr val="FFFFFF"/>
            </a:solidFill>
            <a:prstDash val="solid"/>
          </a:ln>
        </p:spPr>
      </p:sp>
      <p:sp>
        <p:nvSpPr>
          <p:cNvPr id="23" name="Shape 21"/>
          <p:cNvSpPr/>
          <p:nvPr/>
        </p:nvSpPr>
        <p:spPr>
          <a:xfrm rot="5400000">
            <a:off x="9720072" y="4144518"/>
            <a:ext cx="237744" cy="237744"/>
          </a:xfrm>
          <a:prstGeom prst="triangle">
            <a:avLst/>
          </a:prstGeom>
          <a:solidFill>
            <a:srgbClr val="FFFFFF"/>
          </a:solidFill>
          <a:ln w="12700">
            <a:solidFill>
              <a:srgbClr val="FFFFFF"/>
            </a:solidFill>
            <a:prstDash val="solid"/>
          </a:ln>
        </p:spPr>
      </p:sp>
      <p:sp>
        <p:nvSpPr>
          <p:cNvPr id="24" name="Shape 22"/>
          <p:cNvSpPr/>
          <p:nvPr/>
        </p:nvSpPr>
        <p:spPr>
          <a:xfrm>
            <a:off x="10067544" y="2704338"/>
            <a:ext cx="420624" cy="420624"/>
          </a:xfrm>
          <a:prstGeom prst="ellipse">
            <a:avLst/>
          </a:prstGeom>
          <a:solidFill>
            <a:srgbClr val="FF9300"/>
          </a:solidFill>
          <a:ln w="19050">
            <a:solidFill>
              <a:srgbClr val="FFFFFF"/>
            </a:solidFill>
            <a:prstDash val="solid"/>
          </a:ln>
        </p:spPr>
      </p:sp>
      <p:sp>
        <p:nvSpPr>
          <p:cNvPr id="25" name="Text 23"/>
          <p:cNvSpPr txBox="1"/>
          <p:nvPr/>
        </p:nvSpPr>
        <p:spPr>
          <a:xfrm>
            <a:off x="10067544" y="270433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1</a:t>
            </a:r>
            <a:endParaRPr lang="en-US" sz="1700" dirty="0"/>
          </a:p>
        </p:txBody>
      </p:sp>
      <p:sp>
        <p:nvSpPr>
          <p:cNvPr id="26" name="Shape 24"/>
          <p:cNvSpPr/>
          <p:nvPr/>
        </p:nvSpPr>
        <p:spPr>
          <a:xfrm>
            <a:off x="9411462" y="5230368"/>
            <a:ext cx="420624" cy="420624"/>
          </a:xfrm>
          <a:prstGeom prst="ellipse">
            <a:avLst/>
          </a:prstGeom>
          <a:solidFill>
            <a:srgbClr val="FF9300"/>
          </a:solidFill>
          <a:ln w="19050">
            <a:solidFill>
              <a:srgbClr val="FFFFFF"/>
            </a:solidFill>
            <a:prstDash val="solid"/>
          </a:ln>
        </p:spPr>
      </p:sp>
      <p:sp>
        <p:nvSpPr>
          <p:cNvPr id="27" name="Text 25"/>
          <p:cNvSpPr txBox="1"/>
          <p:nvPr/>
        </p:nvSpPr>
        <p:spPr>
          <a:xfrm>
            <a:off x="9411462" y="523036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2</a:t>
            </a:r>
            <a:endParaRPr lang="en-US" sz="1700" dirty="0"/>
          </a:p>
        </p:txBody>
      </p:sp>
      <p:sp>
        <p:nvSpPr>
          <p:cNvPr id="28" name="Shape 26"/>
          <p:cNvSpPr/>
          <p:nvPr/>
        </p:nvSpPr>
        <p:spPr>
          <a:xfrm>
            <a:off x="6821424" y="4601718"/>
            <a:ext cx="420624" cy="420624"/>
          </a:xfrm>
          <a:prstGeom prst="ellipse">
            <a:avLst/>
          </a:prstGeom>
          <a:solidFill>
            <a:srgbClr val="FF9300"/>
          </a:solidFill>
          <a:ln w="19050">
            <a:solidFill>
              <a:srgbClr val="FFFFFF"/>
            </a:solidFill>
            <a:prstDash val="solid"/>
          </a:ln>
        </p:spPr>
      </p:sp>
      <p:sp>
        <p:nvSpPr>
          <p:cNvPr id="29" name="Text 27"/>
          <p:cNvSpPr txBox="1"/>
          <p:nvPr/>
        </p:nvSpPr>
        <p:spPr>
          <a:xfrm>
            <a:off x="6821424" y="460171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3</a:t>
            </a:r>
            <a:endParaRPr lang="en-US" sz="1700" dirty="0"/>
          </a:p>
        </p:txBody>
      </p:sp>
      <p:sp>
        <p:nvSpPr>
          <p:cNvPr id="30" name="Shape 28"/>
          <p:cNvSpPr/>
          <p:nvPr/>
        </p:nvSpPr>
        <p:spPr>
          <a:xfrm>
            <a:off x="580644" y="1888236"/>
            <a:ext cx="155448" cy="155448"/>
          </a:xfrm>
          <a:prstGeom prst="ellipse">
            <a:avLst/>
          </a:prstGeom>
          <a:solidFill>
            <a:srgbClr val="FF9300"/>
          </a:solidFill>
          <a:ln w="12700">
            <a:solidFill>
              <a:srgbClr val="FF9300"/>
            </a:solidFill>
            <a:prstDash val="solid"/>
          </a:ln>
        </p:spPr>
      </p:sp>
      <p:sp>
        <p:nvSpPr>
          <p:cNvPr id="31" name="Text 29"/>
          <p:cNvSpPr txBox="1"/>
          <p:nvPr/>
        </p:nvSpPr>
        <p:spPr>
          <a:xfrm>
            <a:off x="932688" y="1783080"/>
            <a:ext cx="4370832" cy="97840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1 Blau: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Rechts von Blau ist frei.</a:t>
            </a:r>
            <a:endParaRPr lang="en-US" sz="2100" dirty="0"/>
          </a:p>
        </p:txBody>
      </p:sp>
      <p:sp>
        <p:nvSpPr>
          <p:cNvPr id="32" name="Shape 30"/>
          <p:cNvSpPr/>
          <p:nvPr/>
        </p:nvSpPr>
        <p:spPr>
          <a:xfrm>
            <a:off x="580644" y="2939796"/>
            <a:ext cx="155448" cy="155448"/>
          </a:xfrm>
          <a:prstGeom prst="ellipse">
            <a:avLst/>
          </a:prstGeom>
          <a:solidFill>
            <a:srgbClr val="FF9300"/>
          </a:solidFill>
          <a:ln w="12700">
            <a:solidFill>
              <a:srgbClr val="FF9300"/>
            </a:solidFill>
            <a:prstDash val="solid"/>
          </a:ln>
        </p:spPr>
      </p:sp>
      <p:sp>
        <p:nvSpPr>
          <p:cNvPr id="33" name="Text 31"/>
          <p:cNvSpPr txBox="1"/>
          <p:nvPr/>
        </p:nvSpPr>
        <p:spPr>
          <a:xfrm>
            <a:off x="932688" y="2834640"/>
            <a:ext cx="4370832" cy="97840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2 Du: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Blau kam von rechts – jetzt bist du dran.</a:t>
            </a:r>
            <a:endParaRPr lang="en-US" sz="2100" dirty="0"/>
          </a:p>
        </p:txBody>
      </p:sp>
      <p:sp>
        <p:nvSpPr>
          <p:cNvPr id="34" name="Shape 32"/>
          <p:cNvSpPr/>
          <p:nvPr/>
        </p:nvSpPr>
        <p:spPr>
          <a:xfrm>
            <a:off x="580644" y="3991356"/>
            <a:ext cx="155448" cy="155448"/>
          </a:xfrm>
          <a:prstGeom prst="ellipse">
            <a:avLst/>
          </a:prstGeom>
          <a:solidFill>
            <a:srgbClr val="FF9300"/>
          </a:solidFill>
          <a:ln w="12700">
            <a:solidFill>
              <a:srgbClr val="FF9300"/>
            </a:solidFill>
            <a:prstDash val="solid"/>
          </a:ln>
        </p:spPr>
      </p:sp>
      <p:sp>
        <p:nvSpPr>
          <p:cNvPr id="35" name="Text 33"/>
          <p:cNvSpPr txBox="1"/>
          <p:nvPr/>
        </p:nvSpPr>
        <p:spPr>
          <a:xfrm>
            <a:off x="932688" y="3886200"/>
            <a:ext cx="4370832" cy="97840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3 Grün: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Du kamst von rechts – Grün wartet auf dich.</a:t>
            </a:r>
            <a:endParaRPr lang="en-US" sz="2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02 · GRUNDREGEL</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Alle vier gleichzeitig?</a:t>
            </a:r>
            <a:endParaRPr lang="en-US" sz="3200" dirty="0"/>
          </a:p>
        </p:txBody>
      </p:sp>
      <p:sp>
        <p:nvSpPr>
          <p:cNvPr id="4" name="Shape 2"/>
          <p:cNvSpPr/>
          <p:nvPr/>
        </p:nvSpPr>
        <p:spPr>
          <a:xfrm>
            <a:off x="9795967" y="457200"/>
            <a:ext cx="1847088"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795967" y="457200"/>
            <a:ext cx="1847088"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11 Abs. 3 StVO</a:t>
            </a:r>
            <a:endParaRPr lang="en-US" sz="1200" dirty="0"/>
          </a:p>
        </p:txBody>
      </p:sp>
      <p:sp>
        <p:nvSpPr>
          <p:cNvPr id="6" name="Shape 4"/>
          <p:cNvSpPr/>
          <p:nvPr/>
        </p:nvSpPr>
        <p:spPr>
          <a:xfrm>
            <a:off x="6126480" y="1600200"/>
            <a:ext cx="5513832" cy="4526280"/>
          </a:xfrm>
          <a:prstGeom prst="roundRect">
            <a:avLst>
              <a:gd name="adj" fmla="val 4444"/>
            </a:avLst>
          </a:prstGeom>
          <a:solidFill>
            <a:srgbClr val="E3E8ED"/>
          </a:solidFill>
          <a:ln w="12700">
            <a:solidFill>
              <a:srgbClr val="E3E8ED"/>
            </a:solidFill>
            <a:prstDash val="solid"/>
          </a:ln>
        </p:spPr>
      </p:sp>
      <p:sp>
        <p:nvSpPr>
          <p:cNvPr id="7" name="Shape 5"/>
          <p:cNvSpPr/>
          <p:nvPr/>
        </p:nvSpPr>
        <p:spPr>
          <a:xfrm>
            <a:off x="8083296" y="1600200"/>
            <a:ext cx="1600200" cy="4526280"/>
          </a:xfrm>
          <a:prstGeom prst="rect">
            <a:avLst/>
          </a:prstGeom>
          <a:solidFill>
            <a:srgbClr val="3B414A"/>
          </a:solidFill>
          <a:ln w="12700">
            <a:solidFill>
              <a:srgbClr val="3B414A"/>
            </a:solidFill>
            <a:prstDash val="solid"/>
          </a:ln>
        </p:spPr>
      </p:sp>
      <p:sp>
        <p:nvSpPr>
          <p:cNvPr id="8" name="Shape 6"/>
          <p:cNvSpPr/>
          <p:nvPr/>
        </p:nvSpPr>
        <p:spPr>
          <a:xfrm>
            <a:off x="6126480" y="3063240"/>
            <a:ext cx="5513832" cy="1600200"/>
          </a:xfrm>
          <a:prstGeom prst="rect">
            <a:avLst/>
          </a:prstGeom>
          <a:solidFill>
            <a:srgbClr val="3B414A"/>
          </a:solidFill>
          <a:ln w="12700">
            <a:solidFill>
              <a:srgbClr val="3B414A"/>
            </a:solidFill>
            <a:prstDash val="solid"/>
          </a:ln>
        </p:spPr>
      </p:sp>
      <p:sp>
        <p:nvSpPr>
          <p:cNvPr id="9" name="Shape 7"/>
          <p:cNvSpPr/>
          <p:nvPr/>
        </p:nvSpPr>
        <p:spPr>
          <a:xfrm>
            <a:off x="8883396" y="1709928"/>
            <a:ext cx="0" cy="1243584"/>
          </a:xfrm>
          <a:prstGeom prst="line">
            <a:avLst/>
          </a:prstGeom>
          <a:noFill/>
          <a:ln w="22225">
            <a:solidFill>
              <a:srgbClr val="F2F4F6"/>
            </a:solidFill>
            <a:prstDash val="dash"/>
          </a:ln>
        </p:spPr>
      </p:sp>
      <p:sp>
        <p:nvSpPr>
          <p:cNvPr id="10" name="Shape 8"/>
          <p:cNvSpPr/>
          <p:nvPr/>
        </p:nvSpPr>
        <p:spPr>
          <a:xfrm>
            <a:off x="8883396" y="4773168"/>
            <a:ext cx="0" cy="1243584"/>
          </a:xfrm>
          <a:prstGeom prst="line">
            <a:avLst/>
          </a:prstGeom>
          <a:noFill/>
          <a:ln w="22225">
            <a:solidFill>
              <a:srgbClr val="F2F4F6"/>
            </a:solidFill>
            <a:prstDash val="dash"/>
          </a:ln>
        </p:spPr>
      </p:sp>
      <p:sp>
        <p:nvSpPr>
          <p:cNvPr id="11" name="Shape 9"/>
          <p:cNvSpPr/>
          <p:nvPr/>
        </p:nvSpPr>
        <p:spPr>
          <a:xfrm>
            <a:off x="6236208" y="3863340"/>
            <a:ext cx="1737360" cy="0"/>
          </a:xfrm>
          <a:prstGeom prst="line">
            <a:avLst/>
          </a:prstGeom>
          <a:noFill/>
          <a:ln w="22225">
            <a:solidFill>
              <a:srgbClr val="F2F4F6"/>
            </a:solidFill>
            <a:prstDash val="dash"/>
          </a:ln>
        </p:spPr>
      </p:sp>
      <p:sp>
        <p:nvSpPr>
          <p:cNvPr id="12" name="Shape 10"/>
          <p:cNvSpPr/>
          <p:nvPr/>
        </p:nvSpPr>
        <p:spPr>
          <a:xfrm>
            <a:off x="9793224" y="3863340"/>
            <a:ext cx="1737360" cy="0"/>
          </a:xfrm>
          <a:prstGeom prst="line">
            <a:avLst/>
          </a:prstGeom>
          <a:noFill/>
          <a:ln w="22225">
            <a:solidFill>
              <a:srgbClr val="F2F4F6"/>
            </a:solidFill>
            <a:prstDash val="dash"/>
          </a:ln>
        </p:spPr>
      </p:sp>
      <p:sp>
        <p:nvSpPr>
          <p:cNvPr id="13" name="Shape 11"/>
          <p:cNvSpPr/>
          <p:nvPr/>
        </p:nvSpPr>
        <p:spPr>
          <a:xfrm>
            <a:off x="9045702" y="4901184"/>
            <a:ext cx="475488" cy="896112"/>
          </a:xfrm>
          <a:prstGeom prst="roundRect">
            <a:avLst>
              <a:gd name="adj" fmla="val 25000"/>
            </a:avLst>
          </a:prstGeom>
          <a:solidFill>
            <a:srgbClr val="FF9300"/>
          </a:solidFill>
          <a:ln w="15875">
            <a:solidFill>
              <a:srgbClr val="FFFFFF"/>
            </a:solidFill>
            <a:prstDash val="solid"/>
          </a:ln>
        </p:spPr>
      </p:sp>
      <p:sp>
        <p:nvSpPr>
          <p:cNvPr id="14" name="Shape 12"/>
          <p:cNvSpPr/>
          <p:nvPr/>
        </p:nvSpPr>
        <p:spPr>
          <a:xfrm>
            <a:off x="9118854" y="5084064"/>
            <a:ext cx="329184" cy="182880"/>
          </a:xfrm>
          <a:prstGeom prst="roundRect">
            <a:avLst>
              <a:gd name="adj" fmla="val 30000"/>
            </a:avLst>
          </a:prstGeom>
          <a:solidFill>
            <a:srgbClr val="1B1F24"/>
          </a:solidFill>
          <a:ln w="12700">
            <a:solidFill>
              <a:srgbClr val="1B1F24"/>
            </a:solidFill>
            <a:prstDash val="solid"/>
          </a:ln>
        </p:spPr>
      </p:sp>
      <p:sp>
        <p:nvSpPr>
          <p:cNvPr id="15" name="Text 13"/>
          <p:cNvSpPr txBox="1"/>
          <p:nvPr/>
        </p:nvSpPr>
        <p:spPr>
          <a:xfrm>
            <a:off x="9009126" y="536752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6" name="Shape 14"/>
          <p:cNvSpPr/>
          <p:nvPr/>
        </p:nvSpPr>
        <p:spPr>
          <a:xfrm>
            <a:off x="8245602" y="1929384"/>
            <a:ext cx="475488" cy="896112"/>
          </a:xfrm>
          <a:prstGeom prst="roundRect">
            <a:avLst>
              <a:gd name="adj" fmla="val 25000"/>
            </a:avLst>
          </a:prstGeom>
          <a:solidFill>
            <a:srgbClr val="8B5CF6"/>
          </a:solidFill>
          <a:ln w="15875">
            <a:solidFill>
              <a:srgbClr val="FFFFFF"/>
            </a:solidFill>
            <a:prstDash val="solid"/>
          </a:ln>
        </p:spPr>
      </p:sp>
      <p:sp>
        <p:nvSpPr>
          <p:cNvPr id="17" name="Shape 15"/>
          <p:cNvSpPr/>
          <p:nvPr/>
        </p:nvSpPr>
        <p:spPr>
          <a:xfrm>
            <a:off x="8318754" y="2459736"/>
            <a:ext cx="329184" cy="182880"/>
          </a:xfrm>
          <a:prstGeom prst="roundRect">
            <a:avLst>
              <a:gd name="adj" fmla="val 30000"/>
            </a:avLst>
          </a:prstGeom>
          <a:solidFill>
            <a:srgbClr val="1B1F24"/>
          </a:solidFill>
          <a:ln w="12700">
            <a:solidFill>
              <a:srgbClr val="1B1F24"/>
            </a:solidFill>
            <a:prstDash val="solid"/>
          </a:ln>
        </p:spPr>
      </p:sp>
      <p:sp>
        <p:nvSpPr>
          <p:cNvPr id="18" name="Shape 16"/>
          <p:cNvSpPr/>
          <p:nvPr/>
        </p:nvSpPr>
        <p:spPr>
          <a:xfrm>
            <a:off x="10012680" y="3225546"/>
            <a:ext cx="896112" cy="475488"/>
          </a:xfrm>
          <a:prstGeom prst="roundRect">
            <a:avLst>
              <a:gd name="adj" fmla="val 25000"/>
            </a:avLst>
          </a:prstGeom>
          <a:solidFill>
            <a:srgbClr val="3B82F6"/>
          </a:solidFill>
          <a:ln w="15875">
            <a:solidFill>
              <a:srgbClr val="FFFFFF"/>
            </a:solidFill>
            <a:prstDash val="solid"/>
          </a:ln>
        </p:spPr>
      </p:sp>
      <p:sp>
        <p:nvSpPr>
          <p:cNvPr id="19" name="Shape 17"/>
          <p:cNvSpPr/>
          <p:nvPr/>
        </p:nvSpPr>
        <p:spPr>
          <a:xfrm>
            <a:off x="10195560" y="3298698"/>
            <a:ext cx="182880" cy="329184"/>
          </a:xfrm>
          <a:prstGeom prst="roundRect">
            <a:avLst>
              <a:gd name="adj" fmla="val 30000"/>
            </a:avLst>
          </a:prstGeom>
          <a:solidFill>
            <a:srgbClr val="1B1F24"/>
          </a:solidFill>
          <a:ln w="12700">
            <a:solidFill>
              <a:srgbClr val="1B1F24"/>
            </a:solidFill>
            <a:prstDash val="solid"/>
          </a:ln>
        </p:spPr>
      </p:sp>
      <p:sp>
        <p:nvSpPr>
          <p:cNvPr id="20" name="Shape 18"/>
          <p:cNvSpPr/>
          <p:nvPr/>
        </p:nvSpPr>
        <p:spPr>
          <a:xfrm>
            <a:off x="6858000" y="4025646"/>
            <a:ext cx="896112" cy="475488"/>
          </a:xfrm>
          <a:prstGeom prst="roundRect">
            <a:avLst>
              <a:gd name="adj" fmla="val 25000"/>
            </a:avLst>
          </a:prstGeom>
          <a:solidFill>
            <a:srgbClr val="12A150"/>
          </a:solidFill>
          <a:ln w="15875">
            <a:solidFill>
              <a:srgbClr val="FFFFFF"/>
            </a:solidFill>
            <a:prstDash val="solid"/>
          </a:ln>
        </p:spPr>
      </p:sp>
      <p:sp>
        <p:nvSpPr>
          <p:cNvPr id="21" name="Shape 19"/>
          <p:cNvSpPr/>
          <p:nvPr/>
        </p:nvSpPr>
        <p:spPr>
          <a:xfrm>
            <a:off x="7388352" y="4098798"/>
            <a:ext cx="182880" cy="329184"/>
          </a:xfrm>
          <a:prstGeom prst="roundRect">
            <a:avLst>
              <a:gd name="adj" fmla="val 30000"/>
            </a:avLst>
          </a:prstGeom>
          <a:solidFill>
            <a:srgbClr val="1B1F24"/>
          </a:solidFill>
          <a:ln w="12700">
            <a:solidFill>
              <a:srgbClr val="1B1F24"/>
            </a:solidFill>
            <a:prstDash val="solid"/>
          </a:ln>
        </p:spPr>
      </p:sp>
      <p:sp>
        <p:nvSpPr>
          <p:cNvPr id="22" name="Shape 20"/>
          <p:cNvSpPr/>
          <p:nvPr/>
        </p:nvSpPr>
        <p:spPr>
          <a:xfrm>
            <a:off x="8517636" y="3497580"/>
            <a:ext cx="731520" cy="731520"/>
          </a:xfrm>
          <a:prstGeom prst="ellipse">
            <a:avLst/>
          </a:prstGeom>
          <a:solidFill>
            <a:srgbClr val="FF9300"/>
          </a:solidFill>
          <a:ln w="25400">
            <a:solidFill>
              <a:srgbClr val="FFFFFF"/>
            </a:solidFill>
            <a:prstDash val="solid"/>
          </a:ln>
        </p:spPr>
      </p:sp>
      <p:sp>
        <p:nvSpPr>
          <p:cNvPr id="23" name="Text 21"/>
          <p:cNvSpPr txBox="1"/>
          <p:nvPr/>
        </p:nvSpPr>
        <p:spPr>
          <a:xfrm>
            <a:off x="8517636" y="3497580"/>
            <a:ext cx="731520" cy="731520"/>
          </a:xfrm>
          <a:prstGeom prst="rect">
            <a:avLst/>
          </a:prstGeom>
          <a:noFill/>
          <a:ln/>
        </p:spPr>
        <p:txBody>
          <a:bodyPr wrap="square" lIns="0" tIns="0" rIns="0" bIns="0" rtlCol="0" anchor="ctr"/>
          <a:lstStyle/>
          <a:p>
            <a:pPr algn="ctr" indent="0" marL="0">
              <a:buNone/>
            </a:pPr>
            <a:r>
              <a:rPr lang="en-US" sz="3200" b="1" dirty="0">
                <a:solidFill>
                  <a:srgbClr val="15181D"/>
                </a:solidFill>
                <a:latin typeface="Arial" pitchFamily="34" charset="0"/>
                <a:ea typeface="Arial" pitchFamily="34" charset="-122"/>
                <a:cs typeface="Arial" pitchFamily="34" charset="-120"/>
              </a:rPr>
              <a:t>?</a:t>
            </a:r>
            <a:endParaRPr lang="en-US" sz="3200" dirty="0"/>
          </a:p>
        </p:txBody>
      </p:sp>
      <p:sp>
        <p:nvSpPr>
          <p:cNvPr id="24" name="Shape 22"/>
          <p:cNvSpPr/>
          <p:nvPr/>
        </p:nvSpPr>
        <p:spPr>
          <a:xfrm>
            <a:off x="580644" y="1888236"/>
            <a:ext cx="155448" cy="155448"/>
          </a:xfrm>
          <a:prstGeom prst="ellipse">
            <a:avLst/>
          </a:prstGeom>
          <a:solidFill>
            <a:srgbClr val="FF9300"/>
          </a:solidFill>
          <a:ln w="12700">
            <a:solidFill>
              <a:srgbClr val="FF9300"/>
            </a:solidFill>
            <a:prstDash val="solid"/>
          </a:ln>
        </p:spPr>
      </p:sp>
      <p:sp>
        <p:nvSpPr>
          <p:cNvPr id="25" name="Text 23"/>
          <p:cNvSpPr txBox="1"/>
          <p:nvPr/>
        </p:nvSpPr>
        <p:spPr>
          <a:xfrm>
            <a:off x="932688" y="1783080"/>
            <a:ext cx="4828032" cy="120700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Patt: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Jeder hat jemanden rechts – die Grundregel hilft nicht weiter.</a:t>
            </a:r>
            <a:endParaRPr lang="en-US" sz="1900" dirty="0"/>
          </a:p>
        </p:txBody>
      </p:sp>
      <p:sp>
        <p:nvSpPr>
          <p:cNvPr id="26" name="Shape 24"/>
          <p:cNvSpPr/>
          <p:nvPr/>
        </p:nvSpPr>
        <p:spPr>
          <a:xfrm>
            <a:off x="580644" y="3168396"/>
            <a:ext cx="155448" cy="155448"/>
          </a:xfrm>
          <a:prstGeom prst="ellipse">
            <a:avLst/>
          </a:prstGeom>
          <a:solidFill>
            <a:srgbClr val="FF9300"/>
          </a:solidFill>
          <a:ln w="12700">
            <a:solidFill>
              <a:srgbClr val="FF9300"/>
            </a:solidFill>
            <a:prstDash val="solid"/>
          </a:ln>
        </p:spPr>
      </p:sp>
      <p:sp>
        <p:nvSpPr>
          <p:cNvPr id="27" name="Text 25"/>
          <p:cNvSpPr txBox="1"/>
          <p:nvPr/>
        </p:nvSpPr>
        <p:spPr>
          <a:xfrm>
            <a:off x="932688" y="3063240"/>
            <a:ext cx="4828032" cy="120700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Lösung: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Verständigen. Einer verzichtet deutlich – mit Handzeichen und Blickkontakt.</a:t>
            </a:r>
            <a:endParaRPr lang="en-US" sz="1900" dirty="0"/>
          </a:p>
        </p:txBody>
      </p:sp>
      <p:sp>
        <p:nvSpPr>
          <p:cNvPr id="28" name="Shape 26"/>
          <p:cNvSpPr/>
          <p:nvPr/>
        </p:nvSpPr>
        <p:spPr>
          <a:xfrm>
            <a:off x="580644" y="4448556"/>
            <a:ext cx="155448" cy="155448"/>
          </a:xfrm>
          <a:prstGeom prst="ellipse">
            <a:avLst/>
          </a:prstGeom>
          <a:solidFill>
            <a:srgbClr val="FF9300"/>
          </a:solidFill>
          <a:ln w="12700">
            <a:solidFill>
              <a:srgbClr val="FF9300"/>
            </a:solidFill>
            <a:prstDash val="solid"/>
          </a:ln>
        </p:spPr>
      </p:sp>
      <p:sp>
        <p:nvSpPr>
          <p:cNvPr id="29" name="Text 27"/>
          <p:cNvSpPr txBox="1"/>
          <p:nvPr/>
        </p:nvSpPr>
        <p:spPr>
          <a:xfrm>
            <a:off x="932688" y="4343400"/>
            <a:ext cx="4828032" cy="120700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Erst dann fahren,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wenn der andere dich sicher verstanden hat.</a:t>
            </a:r>
            <a:endParaRPr lang="en-US" sz="19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10469880" y="1097280"/>
            <a:ext cx="731520" cy="4206240"/>
          </a:xfrm>
          <a:prstGeom prst="rect">
            <a:avLst/>
          </a:prstGeom>
          <a:solidFill>
            <a:srgbClr val="1A1F26"/>
          </a:solidFill>
          <a:ln w="12700">
            <a:solidFill>
              <a:srgbClr val="1A1F26"/>
            </a:solidFill>
            <a:prstDash val="solid"/>
          </a:ln>
        </p:spPr>
      </p:sp>
      <p:sp>
        <p:nvSpPr>
          <p:cNvPr id="3" name="Shape 1"/>
          <p:cNvSpPr/>
          <p:nvPr/>
        </p:nvSpPr>
        <p:spPr>
          <a:xfrm>
            <a:off x="9646920" y="2834640"/>
            <a:ext cx="2542032" cy="731520"/>
          </a:xfrm>
          <a:prstGeom prst="rect">
            <a:avLst/>
          </a:prstGeom>
          <a:solidFill>
            <a:srgbClr val="1A1F26"/>
          </a:solidFill>
          <a:ln w="12700">
            <a:solidFill>
              <a:srgbClr val="1A1F26"/>
            </a:solidFill>
            <a:prstDash val="solid"/>
          </a:ln>
        </p:spPr>
      </p:sp>
      <p:sp>
        <p:nvSpPr>
          <p:cNvPr id="4" name="Text 2"/>
          <p:cNvSpPr txBox="1"/>
          <p:nvPr/>
        </p:nvSpPr>
        <p:spPr>
          <a:xfrm>
            <a:off x="548640" y="1417320"/>
            <a:ext cx="3657600" cy="1828800"/>
          </a:xfrm>
          <a:prstGeom prst="rect">
            <a:avLst/>
          </a:prstGeom>
          <a:noFill/>
          <a:ln/>
        </p:spPr>
        <p:txBody>
          <a:bodyPr wrap="square" lIns="0" tIns="0" rIns="0" bIns="0" rtlCol="0" anchor="t"/>
          <a:lstStyle/>
          <a:p>
            <a:pPr indent="0" marL="0">
              <a:buNone/>
            </a:pPr>
            <a:r>
              <a:rPr lang="en-US" sz="14000" b="1" dirty="0">
                <a:solidFill>
                  <a:srgbClr val="FF9300"/>
                </a:solidFill>
                <a:latin typeface="Arial" pitchFamily="34" charset="0"/>
                <a:ea typeface="Arial" pitchFamily="34" charset="-122"/>
                <a:cs typeface="Arial" pitchFamily="34" charset="-120"/>
              </a:rPr>
              <a:t>03</a:t>
            </a:r>
            <a:endParaRPr lang="en-US" sz="14000" dirty="0"/>
          </a:p>
        </p:txBody>
      </p:sp>
      <p:sp>
        <p:nvSpPr>
          <p:cNvPr id="5" name="Text 3"/>
          <p:cNvSpPr txBox="1"/>
          <p:nvPr/>
        </p:nvSpPr>
        <p:spPr>
          <a:xfrm>
            <a:off x="548640" y="3246120"/>
            <a:ext cx="8869680" cy="9144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Vorfahrt durch Zeichen</a:t>
            </a:r>
            <a:endParaRPr lang="en-US" sz="4400" dirty="0"/>
          </a:p>
        </p:txBody>
      </p:sp>
      <p:sp>
        <p:nvSpPr>
          <p:cNvPr id="6" name="Text 4"/>
          <p:cNvSpPr txBox="1"/>
          <p:nvPr/>
        </p:nvSpPr>
        <p:spPr>
          <a:xfrm>
            <a:off x="566928" y="4251960"/>
            <a:ext cx="8869680" cy="548640"/>
          </a:xfrm>
          <a:prstGeom prst="rect">
            <a:avLst/>
          </a:prstGeom>
          <a:noFill/>
          <a:ln/>
        </p:spPr>
        <p:txBody>
          <a:bodyPr wrap="square" lIns="0" tIns="0" rIns="0" bIns="0" rtlCol="0" anchor="t"/>
          <a:lstStyle/>
          <a:p>
            <a:pPr indent="0" marL="0">
              <a:buNone/>
            </a:pPr>
            <a:r>
              <a:rPr lang="en-US" sz="2200" dirty="0">
                <a:solidFill>
                  <a:srgbClr val="A3ACB7"/>
                </a:solidFill>
                <a:latin typeface="Arial" pitchFamily="34" charset="0"/>
                <a:ea typeface="Arial" pitchFamily="34" charset="-122"/>
                <a:cs typeface="Arial" pitchFamily="34" charset="-120"/>
              </a:rPr>
              <a:t>Schilder gehen der Grundregel vor</a:t>
            </a:r>
            <a:endParaRPr lang="en-US" sz="2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03 · ZEICHEN</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Fünf Zeichen regeln die Vorfahrt</a:t>
            </a:r>
            <a:endParaRPr lang="en-US" sz="3200" dirty="0"/>
          </a:p>
        </p:txBody>
      </p:sp>
      <p:sp>
        <p:nvSpPr>
          <p:cNvPr id="4" name="Shape 2"/>
          <p:cNvSpPr/>
          <p:nvPr/>
        </p:nvSpPr>
        <p:spPr>
          <a:xfrm>
            <a:off x="9535363" y="457200"/>
            <a:ext cx="2107692"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535363" y="457200"/>
            <a:ext cx="2107692"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Anlage 2 und 3 StVO</a:t>
            </a:r>
            <a:endParaRPr lang="en-US" sz="1200" dirty="0"/>
          </a:p>
        </p:txBody>
      </p:sp>
      <p:sp>
        <p:nvSpPr>
          <p:cNvPr id="6" name="Shape 4"/>
          <p:cNvSpPr/>
          <p:nvPr/>
        </p:nvSpPr>
        <p:spPr>
          <a:xfrm>
            <a:off x="548640" y="1645920"/>
            <a:ext cx="2103120" cy="3886200"/>
          </a:xfrm>
          <a:prstGeom prst="roundRect">
            <a:avLst>
              <a:gd name="adj" fmla="val 7826"/>
            </a:avLst>
          </a:prstGeom>
          <a:solidFill>
            <a:srgbClr val="F1F3F6"/>
          </a:solidFill>
          <a:ln w="12700">
            <a:solidFill>
              <a:srgbClr val="F1F3F6"/>
            </a:solidFill>
            <a:prstDash val="solid"/>
          </a:ln>
        </p:spPr>
      </p:sp>
      <p:sp>
        <p:nvSpPr>
          <p:cNvPr id="7" name="Shape 5"/>
          <p:cNvSpPr/>
          <p:nvPr/>
        </p:nvSpPr>
        <p:spPr>
          <a:xfrm rot="10800000">
            <a:off x="937260" y="1931213"/>
            <a:ext cx="1325880" cy="1166774"/>
          </a:xfrm>
          <a:prstGeom prst="triangle">
            <a:avLst/>
          </a:prstGeom>
          <a:solidFill>
            <a:srgbClr val="FFFFFF"/>
          </a:solidFill>
          <a:ln w="147320">
            <a:solidFill>
              <a:srgbClr val="D7261E"/>
            </a:solidFill>
            <a:prstDash val="solid"/>
          </a:ln>
        </p:spPr>
      </p:sp>
      <p:sp>
        <p:nvSpPr>
          <p:cNvPr id="8" name="Text 6"/>
          <p:cNvSpPr txBox="1"/>
          <p:nvPr/>
        </p:nvSpPr>
        <p:spPr>
          <a:xfrm>
            <a:off x="749808" y="3429000"/>
            <a:ext cx="1700784" cy="274320"/>
          </a:xfrm>
          <a:prstGeom prst="rect">
            <a:avLst/>
          </a:prstGeom>
          <a:noFill/>
          <a:ln/>
        </p:spPr>
        <p:txBody>
          <a:bodyPr wrap="square" lIns="0" tIns="0" rIns="0" bIns="0" rtlCol="0" anchor="t"/>
          <a:lstStyle/>
          <a:p>
            <a:pPr indent="0" marL="0">
              <a:buNone/>
            </a:pPr>
            <a:r>
              <a:rPr lang="en-US" sz="1200" b="1" dirty="0">
                <a:solidFill>
                  <a:srgbClr val="9E4F00"/>
                </a:solidFill>
                <a:latin typeface="Arial" pitchFamily="34" charset="0"/>
                <a:ea typeface="Arial" pitchFamily="34" charset="-122"/>
                <a:cs typeface="Arial" pitchFamily="34" charset="-120"/>
              </a:rPr>
              <a:t>Zeichen 205</a:t>
            </a:r>
            <a:endParaRPr lang="en-US" sz="1200" dirty="0"/>
          </a:p>
        </p:txBody>
      </p:sp>
      <p:sp>
        <p:nvSpPr>
          <p:cNvPr id="9" name="Text 7"/>
          <p:cNvSpPr txBox="1"/>
          <p:nvPr/>
        </p:nvSpPr>
        <p:spPr>
          <a:xfrm>
            <a:off x="749808" y="3721608"/>
            <a:ext cx="1700784" cy="68580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Vorfahrt gewähren</a:t>
            </a:r>
            <a:endParaRPr lang="en-US" sz="1700" dirty="0"/>
          </a:p>
        </p:txBody>
      </p:sp>
      <p:sp>
        <p:nvSpPr>
          <p:cNvPr id="10" name="Text 8"/>
          <p:cNvSpPr txBox="1"/>
          <p:nvPr/>
        </p:nvSpPr>
        <p:spPr>
          <a:xfrm>
            <a:off x="749808" y="4434840"/>
            <a:ext cx="1700784" cy="10515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Warten, die Vorfahrt der anderen beachten.</a:t>
            </a:r>
            <a:endParaRPr lang="en-US" sz="1400" dirty="0"/>
          </a:p>
        </p:txBody>
      </p:sp>
      <p:sp>
        <p:nvSpPr>
          <p:cNvPr id="11" name="Shape 9"/>
          <p:cNvSpPr/>
          <p:nvPr/>
        </p:nvSpPr>
        <p:spPr>
          <a:xfrm>
            <a:off x="2798064" y="1645920"/>
            <a:ext cx="2103120" cy="3886200"/>
          </a:xfrm>
          <a:prstGeom prst="roundRect">
            <a:avLst>
              <a:gd name="adj" fmla="val 7826"/>
            </a:avLst>
          </a:prstGeom>
          <a:solidFill>
            <a:srgbClr val="F1F3F6"/>
          </a:solidFill>
          <a:ln w="12700">
            <a:solidFill>
              <a:srgbClr val="F1F3F6"/>
            </a:solidFill>
            <a:prstDash val="solid"/>
          </a:ln>
        </p:spPr>
      </p:sp>
      <p:sp>
        <p:nvSpPr>
          <p:cNvPr id="12" name="Shape 10"/>
          <p:cNvSpPr/>
          <p:nvPr/>
        </p:nvSpPr>
        <p:spPr>
          <a:xfrm>
            <a:off x="3232404" y="1897380"/>
            <a:ext cx="1234440" cy="1234440"/>
          </a:xfrm>
          <a:prstGeom prst="octagon">
            <a:avLst/>
          </a:prstGeom>
          <a:solidFill>
            <a:srgbClr val="D7261E"/>
          </a:solidFill>
          <a:ln w="44577">
            <a:solidFill>
              <a:srgbClr val="FFFFFF"/>
            </a:solidFill>
            <a:prstDash val="solid"/>
          </a:ln>
        </p:spPr>
      </p:sp>
      <p:sp>
        <p:nvSpPr>
          <p:cNvPr id="13" name="Text 11"/>
          <p:cNvSpPr txBox="1"/>
          <p:nvPr/>
        </p:nvSpPr>
        <p:spPr>
          <a:xfrm>
            <a:off x="3232404" y="1897380"/>
            <a:ext cx="1234440" cy="1234440"/>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STOP</a:t>
            </a:r>
            <a:endParaRPr lang="en-US" sz="2300" dirty="0"/>
          </a:p>
        </p:txBody>
      </p:sp>
      <p:sp>
        <p:nvSpPr>
          <p:cNvPr id="14" name="Text 12"/>
          <p:cNvSpPr txBox="1"/>
          <p:nvPr/>
        </p:nvSpPr>
        <p:spPr>
          <a:xfrm>
            <a:off x="2999232" y="3429000"/>
            <a:ext cx="1700784" cy="274320"/>
          </a:xfrm>
          <a:prstGeom prst="rect">
            <a:avLst/>
          </a:prstGeom>
          <a:noFill/>
          <a:ln/>
        </p:spPr>
        <p:txBody>
          <a:bodyPr wrap="square" lIns="0" tIns="0" rIns="0" bIns="0" rtlCol="0" anchor="t"/>
          <a:lstStyle/>
          <a:p>
            <a:pPr indent="0" marL="0">
              <a:buNone/>
            </a:pPr>
            <a:r>
              <a:rPr lang="en-US" sz="1200" b="1" dirty="0">
                <a:solidFill>
                  <a:srgbClr val="9E4F00"/>
                </a:solidFill>
                <a:latin typeface="Arial" pitchFamily="34" charset="0"/>
                <a:ea typeface="Arial" pitchFamily="34" charset="-122"/>
                <a:cs typeface="Arial" pitchFamily="34" charset="-120"/>
              </a:rPr>
              <a:t>Zeichen 206</a:t>
            </a:r>
            <a:endParaRPr lang="en-US" sz="1200" dirty="0"/>
          </a:p>
        </p:txBody>
      </p:sp>
      <p:sp>
        <p:nvSpPr>
          <p:cNvPr id="15" name="Text 13"/>
          <p:cNvSpPr txBox="1"/>
          <p:nvPr/>
        </p:nvSpPr>
        <p:spPr>
          <a:xfrm>
            <a:off x="2999232" y="3721608"/>
            <a:ext cx="1700784" cy="68580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Halt. Vorfahrt gewähren.</a:t>
            </a:r>
            <a:endParaRPr lang="en-US" sz="1700" dirty="0"/>
          </a:p>
        </p:txBody>
      </p:sp>
      <p:sp>
        <p:nvSpPr>
          <p:cNvPr id="16" name="Text 14"/>
          <p:cNvSpPr txBox="1"/>
          <p:nvPr/>
        </p:nvSpPr>
        <p:spPr>
          <a:xfrm>
            <a:off x="2999232" y="4434840"/>
            <a:ext cx="1700784" cy="10515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Anhalten, dann Vorfahrt gewähren.</a:t>
            </a:r>
            <a:endParaRPr lang="en-US" sz="1400" dirty="0"/>
          </a:p>
        </p:txBody>
      </p:sp>
      <p:sp>
        <p:nvSpPr>
          <p:cNvPr id="17" name="Shape 15"/>
          <p:cNvSpPr/>
          <p:nvPr/>
        </p:nvSpPr>
        <p:spPr>
          <a:xfrm>
            <a:off x="5047488" y="1645920"/>
            <a:ext cx="2103120" cy="3886200"/>
          </a:xfrm>
          <a:prstGeom prst="roundRect">
            <a:avLst>
              <a:gd name="adj" fmla="val 7826"/>
            </a:avLst>
          </a:prstGeom>
          <a:solidFill>
            <a:srgbClr val="F1F3F6"/>
          </a:solidFill>
          <a:ln w="12700">
            <a:solidFill>
              <a:srgbClr val="F1F3F6"/>
            </a:solidFill>
            <a:prstDash val="solid"/>
          </a:ln>
        </p:spPr>
      </p:sp>
      <p:sp>
        <p:nvSpPr>
          <p:cNvPr id="18" name="Shape 16"/>
          <p:cNvSpPr/>
          <p:nvPr/>
        </p:nvSpPr>
        <p:spPr>
          <a:xfrm>
            <a:off x="5436108" y="1931213"/>
            <a:ext cx="1325880" cy="1166774"/>
          </a:xfrm>
          <a:prstGeom prst="triangle">
            <a:avLst/>
          </a:prstGeom>
          <a:solidFill>
            <a:srgbClr val="FFFFFF"/>
          </a:solidFill>
          <a:ln w="147320">
            <a:solidFill>
              <a:srgbClr val="D7261E"/>
            </a:solidFill>
            <a:prstDash val="solid"/>
          </a:ln>
        </p:spPr>
      </p:sp>
      <p:sp>
        <p:nvSpPr>
          <p:cNvPr id="19" name="Shape 17"/>
          <p:cNvSpPr/>
          <p:nvPr/>
        </p:nvSpPr>
        <p:spPr>
          <a:xfrm>
            <a:off x="6039383" y="2518843"/>
            <a:ext cx="119329" cy="397764"/>
          </a:xfrm>
          <a:prstGeom prst="rect">
            <a:avLst/>
          </a:prstGeom>
          <a:solidFill>
            <a:srgbClr val="17191C"/>
          </a:solidFill>
          <a:ln w="12700">
            <a:solidFill>
              <a:srgbClr val="17191C"/>
            </a:solidFill>
            <a:prstDash val="solid"/>
          </a:ln>
        </p:spPr>
      </p:sp>
      <p:sp>
        <p:nvSpPr>
          <p:cNvPr id="20" name="Shape 18"/>
          <p:cNvSpPr/>
          <p:nvPr/>
        </p:nvSpPr>
        <p:spPr>
          <a:xfrm>
            <a:off x="6039383" y="2412772"/>
            <a:ext cx="119329" cy="119329"/>
          </a:xfrm>
          <a:prstGeom prst="triangle">
            <a:avLst/>
          </a:prstGeom>
          <a:solidFill>
            <a:srgbClr val="17191C"/>
          </a:solidFill>
          <a:ln w="12700">
            <a:solidFill>
              <a:srgbClr val="17191C"/>
            </a:solidFill>
            <a:prstDash val="solid"/>
          </a:ln>
        </p:spPr>
      </p:sp>
      <p:sp>
        <p:nvSpPr>
          <p:cNvPr id="21" name="Shape 19"/>
          <p:cNvSpPr/>
          <p:nvPr/>
        </p:nvSpPr>
        <p:spPr>
          <a:xfrm>
            <a:off x="5873648" y="2704466"/>
            <a:ext cx="450799" cy="53035"/>
          </a:xfrm>
          <a:prstGeom prst="rect">
            <a:avLst/>
          </a:prstGeom>
          <a:solidFill>
            <a:srgbClr val="17191C"/>
          </a:solidFill>
          <a:ln w="12700">
            <a:solidFill>
              <a:srgbClr val="17191C"/>
            </a:solidFill>
            <a:prstDash val="solid"/>
          </a:ln>
        </p:spPr>
      </p:sp>
      <p:sp>
        <p:nvSpPr>
          <p:cNvPr id="22" name="Text 20"/>
          <p:cNvSpPr txBox="1"/>
          <p:nvPr/>
        </p:nvSpPr>
        <p:spPr>
          <a:xfrm>
            <a:off x="5248656" y="3429000"/>
            <a:ext cx="1700784" cy="274320"/>
          </a:xfrm>
          <a:prstGeom prst="rect">
            <a:avLst/>
          </a:prstGeom>
          <a:noFill/>
          <a:ln/>
        </p:spPr>
        <p:txBody>
          <a:bodyPr wrap="square" lIns="0" tIns="0" rIns="0" bIns="0" rtlCol="0" anchor="t"/>
          <a:lstStyle/>
          <a:p>
            <a:pPr indent="0" marL="0">
              <a:buNone/>
            </a:pPr>
            <a:r>
              <a:rPr lang="en-US" sz="1200" b="1" dirty="0">
                <a:solidFill>
                  <a:srgbClr val="9E4F00"/>
                </a:solidFill>
                <a:latin typeface="Arial" pitchFamily="34" charset="0"/>
                <a:ea typeface="Arial" pitchFamily="34" charset="-122"/>
                <a:cs typeface="Arial" pitchFamily="34" charset="-120"/>
              </a:rPr>
              <a:t>Zeichen 301</a:t>
            </a:r>
            <a:endParaRPr lang="en-US" sz="1200" dirty="0"/>
          </a:p>
        </p:txBody>
      </p:sp>
      <p:sp>
        <p:nvSpPr>
          <p:cNvPr id="23" name="Text 21"/>
          <p:cNvSpPr txBox="1"/>
          <p:nvPr/>
        </p:nvSpPr>
        <p:spPr>
          <a:xfrm>
            <a:off x="5248656" y="3721608"/>
            <a:ext cx="1700784" cy="68580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Vorfahrt</a:t>
            </a:r>
            <a:endParaRPr lang="en-US" sz="1700" dirty="0"/>
          </a:p>
        </p:txBody>
      </p:sp>
      <p:sp>
        <p:nvSpPr>
          <p:cNvPr id="24" name="Text 22"/>
          <p:cNvSpPr txBox="1"/>
          <p:nvPr/>
        </p:nvSpPr>
        <p:spPr>
          <a:xfrm>
            <a:off x="5248656" y="4434840"/>
            <a:ext cx="1700784" cy="10515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Vorfahrt nur an der nächsten Kreuzung oder Einmündung.</a:t>
            </a:r>
            <a:endParaRPr lang="en-US" sz="1400" dirty="0"/>
          </a:p>
        </p:txBody>
      </p:sp>
      <p:sp>
        <p:nvSpPr>
          <p:cNvPr id="25" name="Shape 23"/>
          <p:cNvSpPr/>
          <p:nvPr/>
        </p:nvSpPr>
        <p:spPr>
          <a:xfrm>
            <a:off x="7296912" y="1645920"/>
            <a:ext cx="2103120" cy="3886200"/>
          </a:xfrm>
          <a:prstGeom prst="roundRect">
            <a:avLst>
              <a:gd name="adj" fmla="val 7826"/>
            </a:avLst>
          </a:prstGeom>
          <a:solidFill>
            <a:srgbClr val="F1F3F6"/>
          </a:solidFill>
          <a:ln w="12700">
            <a:solidFill>
              <a:srgbClr val="F1F3F6"/>
            </a:solidFill>
            <a:prstDash val="solid"/>
          </a:ln>
        </p:spPr>
      </p:sp>
      <p:sp>
        <p:nvSpPr>
          <p:cNvPr id="26" name="Shape 24"/>
          <p:cNvSpPr/>
          <p:nvPr/>
        </p:nvSpPr>
        <p:spPr>
          <a:xfrm>
            <a:off x="7685532" y="1851660"/>
            <a:ext cx="1325880" cy="1325880"/>
          </a:xfrm>
          <a:prstGeom prst="diamond">
            <a:avLst/>
          </a:prstGeom>
          <a:solidFill>
            <a:srgbClr val="4A4A4A"/>
          </a:solidFill>
          <a:ln w="12700">
            <a:solidFill>
              <a:srgbClr val="4A4A4A"/>
            </a:solidFill>
            <a:prstDash val="solid"/>
          </a:ln>
        </p:spPr>
      </p:sp>
      <p:sp>
        <p:nvSpPr>
          <p:cNvPr id="27" name="Shape 25"/>
          <p:cNvSpPr/>
          <p:nvPr/>
        </p:nvSpPr>
        <p:spPr>
          <a:xfrm>
            <a:off x="7731938" y="1898066"/>
            <a:ext cx="1233068" cy="1233068"/>
          </a:xfrm>
          <a:prstGeom prst="diamond">
            <a:avLst/>
          </a:prstGeom>
          <a:solidFill>
            <a:srgbClr val="FFFFFF"/>
          </a:solidFill>
          <a:ln w="12700">
            <a:solidFill>
              <a:srgbClr val="FFFFFF"/>
            </a:solidFill>
            <a:prstDash val="solid"/>
          </a:ln>
        </p:spPr>
      </p:sp>
      <p:sp>
        <p:nvSpPr>
          <p:cNvPr id="28" name="Shape 26"/>
          <p:cNvSpPr/>
          <p:nvPr/>
        </p:nvSpPr>
        <p:spPr>
          <a:xfrm>
            <a:off x="7924190" y="2090318"/>
            <a:ext cx="848563" cy="848563"/>
          </a:xfrm>
          <a:prstGeom prst="diamond">
            <a:avLst/>
          </a:prstGeom>
          <a:solidFill>
            <a:srgbClr val="FFCC00"/>
          </a:solidFill>
          <a:ln w="12700">
            <a:solidFill>
              <a:srgbClr val="FFCC00"/>
            </a:solidFill>
            <a:prstDash val="solid"/>
          </a:ln>
        </p:spPr>
      </p:sp>
      <p:sp>
        <p:nvSpPr>
          <p:cNvPr id="29" name="Text 27"/>
          <p:cNvSpPr txBox="1"/>
          <p:nvPr/>
        </p:nvSpPr>
        <p:spPr>
          <a:xfrm>
            <a:off x="7498080" y="3429000"/>
            <a:ext cx="1700784" cy="274320"/>
          </a:xfrm>
          <a:prstGeom prst="rect">
            <a:avLst/>
          </a:prstGeom>
          <a:noFill/>
          <a:ln/>
        </p:spPr>
        <p:txBody>
          <a:bodyPr wrap="square" lIns="0" tIns="0" rIns="0" bIns="0" rtlCol="0" anchor="t"/>
          <a:lstStyle/>
          <a:p>
            <a:pPr indent="0" marL="0">
              <a:buNone/>
            </a:pPr>
            <a:r>
              <a:rPr lang="en-US" sz="1200" b="1" dirty="0">
                <a:solidFill>
                  <a:srgbClr val="9E4F00"/>
                </a:solidFill>
                <a:latin typeface="Arial" pitchFamily="34" charset="0"/>
                <a:ea typeface="Arial" pitchFamily="34" charset="-122"/>
                <a:cs typeface="Arial" pitchFamily="34" charset="-120"/>
              </a:rPr>
              <a:t>Zeichen 306</a:t>
            </a:r>
            <a:endParaRPr lang="en-US" sz="1200" dirty="0"/>
          </a:p>
        </p:txBody>
      </p:sp>
      <p:sp>
        <p:nvSpPr>
          <p:cNvPr id="30" name="Text 28"/>
          <p:cNvSpPr txBox="1"/>
          <p:nvPr/>
        </p:nvSpPr>
        <p:spPr>
          <a:xfrm>
            <a:off x="7498080" y="3721608"/>
            <a:ext cx="1700784" cy="68580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Vorfahrtstraße</a:t>
            </a:r>
            <a:endParaRPr lang="en-US" sz="1700" dirty="0"/>
          </a:p>
        </p:txBody>
      </p:sp>
      <p:sp>
        <p:nvSpPr>
          <p:cNvPr id="31" name="Text 29"/>
          <p:cNvSpPr txBox="1"/>
          <p:nvPr/>
        </p:nvSpPr>
        <p:spPr>
          <a:xfrm>
            <a:off x="7498080" y="4434840"/>
            <a:ext cx="1700784" cy="10515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Vorfahrt bis zum nächsten Zeichen 205, 206 oder 307.</a:t>
            </a:r>
            <a:endParaRPr lang="en-US" sz="1400" dirty="0"/>
          </a:p>
        </p:txBody>
      </p:sp>
      <p:sp>
        <p:nvSpPr>
          <p:cNvPr id="32" name="Shape 30"/>
          <p:cNvSpPr/>
          <p:nvPr/>
        </p:nvSpPr>
        <p:spPr>
          <a:xfrm>
            <a:off x="9546336" y="1645920"/>
            <a:ext cx="2103120" cy="3886200"/>
          </a:xfrm>
          <a:prstGeom prst="roundRect">
            <a:avLst>
              <a:gd name="adj" fmla="val 7826"/>
            </a:avLst>
          </a:prstGeom>
          <a:solidFill>
            <a:srgbClr val="F1F3F6"/>
          </a:solidFill>
          <a:ln w="12700">
            <a:solidFill>
              <a:srgbClr val="F1F3F6"/>
            </a:solidFill>
            <a:prstDash val="solid"/>
          </a:ln>
        </p:spPr>
      </p:sp>
      <p:sp>
        <p:nvSpPr>
          <p:cNvPr id="33" name="Shape 31"/>
          <p:cNvSpPr/>
          <p:nvPr/>
        </p:nvSpPr>
        <p:spPr>
          <a:xfrm>
            <a:off x="9934956" y="1851660"/>
            <a:ext cx="1325880" cy="1325880"/>
          </a:xfrm>
          <a:prstGeom prst="diamond">
            <a:avLst/>
          </a:prstGeom>
          <a:solidFill>
            <a:srgbClr val="4A4A4A"/>
          </a:solidFill>
          <a:ln w="12700">
            <a:solidFill>
              <a:srgbClr val="4A4A4A"/>
            </a:solidFill>
            <a:prstDash val="solid"/>
          </a:ln>
        </p:spPr>
      </p:sp>
      <p:sp>
        <p:nvSpPr>
          <p:cNvPr id="34" name="Shape 32"/>
          <p:cNvSpPr/>
          <p:nvPr/>
        </p:nvSpPr>
        <p:spPr>
          <a:xfrm>
            <a:off x="9981362" y="1898066"/>
            <a:ext cx="1233068" cy="1233068"/>
          </a:xfrm>
          <a:prstGeom prst="diamond">
            <a:avLst/>
          </a:prstGeom>
          <a:solidFill>
            <a:srgbClr val="FFFFFF"/>
          </a:solidFill>
          <a:ln w="12700">
            <a:solidFill>
              <a:srgbClr val="FFFFFF"/>
            </a:solidFill>
            <a:prstDash val="solid"/>
          </a:ln>
        </p:spPr>
      </p:sp>
      <p:sp>
        <p:nvSpPr>
          <p:cNvPr id="35" name="Shape 33"/>
          <p:cNvSpPr/>
          <p:nvPr/>
        </p:nvSpPr>
        <p:spPr>
          <a:xfrm>
            <a:off x="10173614" y="2090318"/>
            <a:ext cx="848563" cy="848563"/>
          </a:xfrm>
          <a:prstGeom prst="diamond">
            <a:avLst/>
          </a:prstGeom>
          <a:solidFill>
            <a:srgbClr val="FFCC00"/>
          </a:solidFill>
          <a:ln w="12700">
            <a:solidFill>
              <a:srgbClr val="FFCC00"/>
            </a:solidFill>
            <a:prstDash val="solid"/>
          </a:ln>
        </p:spPr>
      </p:sp>
      <p:sp>
        <p:nvSpPr>
          <p:cNvPr id="36" name="Shape 34"/>
          <p:cNvSpPr/>
          <p:nvPr/>
        </p:nvSpPr>
        <p:spPr>
          <a:xfrm flipV="1">
            <a:off x="10067677" y="1984381"/>
            <a:ext cx="616534" cy="616534"/>
          </a:xfrm>
          <a:prstGeom prst="line">
            <a:avLst/>
          </a:prstGeom>
          <a:noFill/>
          <a:ln w="29464">
            <a:solidFill>
              <a:srgbClr val="2B2B2B"/>
            </a:solidFill>
            <a:prstDash val="solid"/>
          </a:ln>
        </p:spPr>
      </p:sp>
      <p:sp>
        <p:nvSpPr>
          <p:cNvPr id="37" name="Shape 35"/>
          <p:cNvSpPr/>
          <p:nvPr/>
        </p:nvSpPr>
        <p:spPr>
          <a:xfrm flipV="1">
            <a:off x="10178653" y="2095357"/>
            <a:ext cx="616534" cy="616534"/>
          </a:xfrm>
          <a:prstGeom prst="line">
            <a:avLst/>
          </a:prstGeom>
          <a:noFill/>
          <a:ln w="29464">
            <a:solidFill>
              <a:srgbClr val="2B2B2B"/>
            </a:solidFill>
            <a:prstDash val="solid"/>
          </a:ln>
        </p:spPr>
      </p:sp>
      <p:sp>
        <p:nvSpPr>
          <p:cNvPr id="38" name="Shape 36"/>
          <p:cNvSpPr/>
          <p:nvPr/>
        </p:nvSpPr>
        <p:spPr>
          <a:xfrm flipV="1">
            <a:off x="10289629" y="2206333"/>
            <a:ext cx="616534" cy="616534"/>
          </a:xfrm>
          <a:prstGeom prst="line">
            <a:avLst/>
          </a:prstGeom>
          <a:noFill/>
          <a:ln w="29464">
            <a:solidFill>
              <a:srgbClr val="2B2B2B"/>
            </a:solidFill>
            <a:prstDash val="solid"/>
          </a:ln>
        </p:spPr>
      </p:sp>
      <p:sp>
        <p:nvSpPr>
          <p:cNvPr id="39" name="Shape 37"/>
          <p:cNvSpPr/>
          <p:nvPr/>
        </p:nvSpPr>
        <p:spPr>
          <a:xfrm flipV="1">
            <a:off x="10400605" y="2317309"/>
            <a:ext cx="616534" cy="616534"/>
          </a:xfrm>
          <a:prstGeom prst="line">
            <a:avLst/>
          </a:prstGeom>
          <a:noFill/>
          <a:ln w="29464">
            <a:solidFill>
              <a:srgbClr val="2B2B2B"/>
            </a:solidFill>
            <a:prstDash val="solid"/>
          </a:ln>
        </p:spPr>
      </p:sp>
      <p:sp>
        <p:nvSpPr>
          <p:cNvPr id="40" name="Shape 38"/>
          <p:cNvSpPr/>
          <p:nvPr/>
        </p:nvSpPr>
        <p:spPr>
          <a:xfrm flipV="1">
            <a:off x="10511581" y="2428285"/>
            <a:ext cx="616534" cy="616534"/>
          </a:xfrm>
          <a:prstGeom prst="line">
            <a:avLst/>
          </a:prstGeom>
          <a:noFill/>
          <a:ln w="29464">
            <a:solidFill>
              <a:srgbClr val="2B2B2B"/>
            </a:solidFill>
            <a:prstDash val="solid"/>
          </a:ln>
        </p:spPr>
      </p:sp>
      <p:sp>
        <p:nvSpPr>
          <p:cNvPr id="41" name="Text 39"/>
          <p:cNvSpPr txBox="1"/>
          <p:nvPr/>
        </p:nvSpPr>
        <p:spPr>
          <a:xfrm>
            <a:off x="9747504" y="3429000"/>
            <a:ext cx="1700784" cy="274320"/>
          </a:xfrm>
          <a:prstGeom prst="rect">
            <a:avLst/>
          </a:prstGeom>
          <a:noFill/>
          <a:ln/>
        </p:spPr>
        <p:txBody>
          <a:bodyPr wrap="square" lIns="0" tIns="0" rIns="0" bIns="0" rtlCol="0" anchor="t"/>
          <a:lstStyle/>
          <a:p>
            <a:pPr indent="0" marL="0">
              <a:buNone/>
            </a:pPr>
            <a:r>
              <a:rPr lang="en-US" sz="1200" b="1" dirty="0">
                <a:solidFill>
                  <a:srgbClr val="9E4F00"/>
                </a:solidFill>
                <a:latin typeface="Arial" pitchFamily="34" charset="0"/>
                <a:ea typeface="Arial" pitchFamily="34" charset="-122"/>
                <a:cs typeface="Arial" pitchFamily="34" charset="-120"/>
              </a:rPr>
              <a:t>Zeichen 307</a:t>
            </a:r>
            <a:endParaRPr lang="en-US" sz="1200" dirty="0"/>
          </a:p>
        </p:txBody>
      </p:sp>
      <p:sp>
        <p:nvSpPr>
          <p:cNvPr id="42" name="Text 40"/>
          <p:cNvSpPr txBox="1"/>
          <p:nvPr/>
        </p:nvSpPr>
        <p:spPr>
          <a:xfrm>
            <a:off x="9747504" y="3721608"/>
            <a:ext cx="1700784" cy="68580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Ende der Vorfahrtstraße</a:t>
            </a:r>
            <a:endParaRPr lang="en-US" sz="1700" dirty="0"/>
          </a:p>
        </p:txBody>
      </p:sp>
      <p:sp>
        <p:nvSpPr>
          <p:cNvPr id="43" name="Text 41"/>
          <p:cNvSpPr txBox="1"/>
          <p:nvPr/>
        </p:nvSpPr>
        <p:spPr>
          <a:xfrm>
            <a:off x="9747504" y="4434840"/>
            <a:ext cx="1700784" cy="10515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Danach gelten wieder die allgemeinen Regeln.</a:t>
            </a:r>
            <a:endParaRPr lang="en-US" sz="1400" dirty="0"/>
          </a:p>
        </p:txBody>
      </p:sp>
      <p:sp>
        <p:nvSpPr>
          <p:cNvPr id="44" name="Text 42"/>
          <p:cNvSpPr txBox="1"/>
          <p:nvPr/>
        </p:nvSpPr>
        <p:spPr>
          <a:xfrm>
            <a:off x="548640" y="5760720"/>
            <a:ext cx="11064240" cy="411480"/>
          </a:xfrm>
          <a:prstGeom prst="rect">
            <a:avLst/>
          </a:prstGeom>
          <a:noFill/>
          <a:ln/>
        </p:spPr>
        <p:txBody>
          <a:bodyPr wrap="square" lIns="0" tIns="0" rIns="0" bIns="0" rtlCol="0" anchor="t"/>
          <a:lstStyle/>
          <a:p>
            <a:pPr indent="0" marL="0">
              <a:buNone/>
            </a:pPr>
            <a:r>
              <a:rPr lang="en-US" sz="1800" b="1" dirty="0">
                <a:solidFill>
                  <a:srgbClr val="15181D"/>
                </a:solidFill>
                <a:latin typeface="Arial" pitchFamily="34" charset="0"/>
                <a:ea typeface="Arial" pitchFamily="34" charset="-122"/>
                <a:cs typeface="Arial" pitchFamily="34" charset="-120"/>
              </a:rPr>
              <a:t>Außerorts darfst du auf der Fahrbahn einer Vorfahrtstraße nicht parken.</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03 · ZEICHEN</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Stopp heißt: Räder stehen still</a:t>
            </a:r>
            <a:endParaRPr lang="en-US" sz="3200" dirty="0"/>
          </a:p>
        </p:txBody>
      </p:sp>
      <p:sp>
        <p:nvSpPr>
          <p:cNvPr id="4" name="Shape 2"/>
          <p:cNvSpPr/>
          <p:nvPr/>
        </p:nvSpPr>
        <p:spPr>
          <a:xfrm>
            <a:off x="8840419" y="457200"/>
            <a:ext cx="2802636"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8840419" y="457200"/>
            <a:ext cx="2802636"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Zeichen 206 · Anlage 2 StVO</a:t>
            </a:r>
            <a:endParaRPr lang="en-US" sz="1200" dirty="0"/>
          </a:p>
        </p:txBody>
      </p:sp>
      <p:sp>
        <p:nvSpPr>
          <p:cNvPr id="6" name="Shape 4"/>
          <p:cNvSpPr/>
          <p:nvPr/>
        </p:nvSpPr>
        <p:spPr>
          <a:xfrm>
            <a:off x="548640" y="1600200"/>
            <a:ext cx="5513832" cy="4526280"/>
          </a:xfrm>
          <a:prstGeom prst="roundRect">
            <a:avLst>
              <a:gd name="adj" fmla="val 4444"/>
            </a:avLst>
          </a:prstGeom>
          <a:solidFill>
            <a:srgbClr val="E3E8ED"/>
          </a:solidFill>
          <a:ln w="12700">
            <a:solidFill>
              <a:srgbClr val="E3E8ED"/>
            </a:solidFill>
            <a:prstDash val="solid"/>
          </a:ln>
        </p:spPr>
      </p:sp>
      <p:sp>
        <p:nvSpPr>
          <p:cNvPr id="7" name="Shape 5"/>
          <p:cNvSpPr/>
          <p:nvPr/>
        </p:nvSpPr>
        <p:spPr>
          <a:xfrm>
            <a:off x="2505456" y="2171700"/>
            <a:ext cx="1600200" cy="3954780"/>
          </a:xfrm>
          <a:prstGeom prst="rect">
            <a:avLst/>
          </a:prstGeom>
          <a:solidFill>
            <a:srgbClr val="3B414A"/>
          </a:solidFill>
          <a:ln w="12700">
            <a:solidFill>
              <a:srgbClr val="3B414A"/>
            </a:solidFill>
            <a:prstDash val="solid"/>
          </a:ln>
        </p:spPr>
      </p:sp>
      <p:sp>
        <p:nvSpPr>
          <p:cNvPr id="8" name="Shape 6"/>
          <p:cNvSpPr/>
          <p:nvPr/>
        </p:nvSpPr>
        <p:spPr>
          <a:xfrm>
            <a:off x="548640" y="2171700"/>
            <a:ext cx="5513832" cy="1600200"/>
          </a:xfrm>
          <a:prstGeom prst="rect">
            <a:avLst/>
          </a:prstGeom>
          <a:solidFill>
            <a:srgbClr val="3B414A"/>
          </a:solidFill>
          <a:ln w="12700">
            <a:solidFill>
              <a:srgbClr val="3B414A"/>
            </a:solidFill>
            <a:prstDash val="solid"/>
          </a:ln>
        </p:spPr>
      </p:sp>
      <p:sp>
        <p:nvSpPr>
          <p:cNvPr id="9" name="Shape 7"/>
          <p:cNvSpPr/>
          <p:nvPr/>
        </p:nvSpPr>
        <p:spPr>
          <a:xfrm>
            <a:off x="3305556" y="3881628"/>
            <a:ext cx="0" cy="2135124"/>
          </a:xfrm>
          <a:prstGeom prst="line">
            <a:avLst/>
          </a:prstGeom>
          <a:noFill/>
          <a:ln w="22225">
            <a:solidFill>
              <a:srgbClr val="F2F4F6"/>
            </a:solidFill>
            <a:prstDash val="dash"/>
          </a:ln>
        </p:spPr>
      </p:sp>
      <p:sp>
        <p:nvSpPr>
          <p:cNvPr id="10" name="Shape 8"/>
          <p:cNvSpPr/>
          <p:nvPr/>
        </p:nvSpPr>
        <p:spPr>
          <a:xfrm>
            <a:off x="658368" y="2971800"/>
            <a:ext cx="1737360" cy="0"/>
          </a:xfrm>
          <a:prstGeom prst="line">
            <a:avLst/>
          </a:prstGeom>
          <a:noFill/>
          <a:ln w="22225">
            <a:solidFill>
              <a:srgbClr val="F2F4F6"/>
            </a:solidFill>
            <a:prstDash val="dash"/>
          </a:ln>
        </p:spPr>
      </p:sp>
      <p:sp>
        <p:nvSpPr>
          <p:cNvPr id="11" name="Shape 9"/>
          <p:cNvSpPr/>
          <p:nvPr/>
        </p:nvSpPr>
        <p:spPr>
          <a:xfrm>
            <a:off x="4215384" y="2971800"/>
            <a:ext cx="1737360" cy="0"/>
          </a:xfrm>
          <a:prstGeom prst="line">
            <a:avLst/>
          </a:prstGeom>
          <a:noFill/>
          <a:ln w="22225">
            <a:solidFill>
              <a:srgbClr val="F2F4F6"/>
            </a:solidFill>
            <a:prstDash val="dash"/>
          </a:ln>
        </p:spPr>
      </p:sp>
      <p:sp>
        <p:nvSpPr>
          <p:cNvPr id="12" name="Shape 10"/>
          <p:cNvSpPr/>
          <p:nvPr/>
        </p:nvSpPr>
        <p:spPr>
          <a:xfrm>
            <a:off x="3305556" y="3845052"/>
            <a:ext cx="800100" cy="109728"/>
          </a:xfrm>
          <a:prstGeom prst="rect">
            <a:avLst/>
          </a:prstGeom>
          <a:solidFill>
            <a:srgbClr val="FFFFFF"/>
          </a:solidFill>
          <a:ln w="12700">
            <a:solidFill>
              <a:srgbClr val="FFFFFF"/>
            </a:solidFill>
            <a:prstDash val="solid"/>
          </a:ln>
        </p:spPr>
      </p:sp>
      <p:sp>
        <p:nvSpPr>
          <p:cNvPr id="13" name="Shape 11"/>
          <p:cNvSpPr/>
          <p:nvPr/>
        </p:nvSpPr>
        <p:spPr>
          <a:xfrm>
            <a:off x="3467862" y="4101084"/>
            <a:ext cx="475488" cy="896112"/>
          </a:xfrm>
          <a:prstGeom prst="roundRect">
            <a:avLst>
              <a:gd name="adj" fmla="val 25000"/>
            </a:avLst>
          </a:prstGeom>
          <a:solidFill>
            <a:srgbClr val="FF9300"/>
          </a:solidFill>
          <a:ln w="15875">
            <a:solidFill>
              <a:srgbClr val="FFFFFF"/>
            </a:solidFill>
            <a:prstDash val="solid"/>
          </a:ln>
        </p:spPr>
      </p:sp>
      <p:sp>
        <p:nvSpPr>
          <p:cNvPr id="14" name="Shape 12"/>
          <p:cNvSpPr/>
          <p:nvPr/>
        </p:nvSpPr>
        <p:spPr>
          <a:xfrm>
            <a:off x="3541014" y="4283964"/>
            <a:ext cx="329184" cy="182880"/>
          </a:xfrm>
          <a:prstGeom prst="roundRect">
            <a:avLst>
              <a:gd name="adj" fmla="val 30000"/>
            </a:avLst>
          </a:prstGeom>
          <a:solidFill>
            <a:srgbClr val="1B1F24"/>
          </a:solidFill>
          <a:ln w="12700">
            <a:solidFill>
              <a:srgbClr val="1B1F24"/>
            </a:solidFill>
            <a:prstDash val="solid"/>
          </a:ln>
        </p:spPr>
      </p:sp>
      <p:sp>
        <p:nvSpPr>
          <p:cNvPr id="15" name="Text 13"/>
          <p:cNvSpPr txBox="1"/>
          <p:nvPr/>
        </p:nvSpPr>
        <p:spPr>
          <a:xfrm>
            <a:off x="3431286" y="456742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6" name="Shape 14"/>
          <p:cNvSpPr/>
          <p:nvPr/>
        </p:nvSpPr>
        <p:spPr>
          <a:xfrm>
            <a:off x="4357116" y="4023360"/>
            <a:ext cx="685800" cy="685800"/>
          </a:xfrm>
          <a:prstGeom prst="octagon">
            <a:avLst/>
          </a:prstGeom>
          <a:solidFill>
            <a:srgbClr val="D7261E"/>
          </a:solidFill>
          <a:ln w="24765">
            <a:solidFill>
              <a:srgbClr val="FFFFFF"/>
            </a:solidFill>
            <a:prstDash val="solid"/>
          </a:ln>
        </p:spPr>
      </p:sp>
      <p:sp>
        <p:nvSpPr>
          <p:cNvPr id="17" name="Text 15"/>
          <p:cNvSpPr txBox="1"/>
          <p:nvPr/>
        </p:nvSpPr>
        <p:spPr>
          <a:xfrm>
            <a:off x="4357116" y="402336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STOP</a:t>
            </a:r>
            <a:endParaRPr lang="en-US" sz="1300" dirty="0"/>
          </a:p>
        </p:txBody>
      </p:sp>
      <p:sp>
        <p:nvSpPr>
          <p:cNvPr id="18" name="Shape 16"/>
          <p:cNvSpPr/>
          <p:nvPr/>
        </p:nvSpPr>
        <p:spPr>
          <a:xfrm>
            <a:off x="960120" y="3134106"/>
            <a:ext cx="896112" cy="475488"/>
          </a:xfrm>
          <a:prstGeom prst="roundRect">
            <a:avLst>
              <a:gd name="adj" fmla="val 25000"/>
            </a:avLst>
          </a:prstGeom>
          <a:solidFill>
            <a:srgbClr val="3B82F6"/>
          </a:solidFill>
          <a:ln w="15875">
            <a:solidFill>
              <a:srgbClr val="FFFFFF"/>
            </a:solidFill>
            <a:prstDash val="solid"/>
          </a:ln>
        </p:spPr>
      </p:sp>
      <p:sp>
        <p:nvSpPr>
          <p:cNvPr id="19" name="Shape 17"/>
          <p:cNvSpPr/>
          <p:nvPr/>
        </p:nvSpPr>
        <p:spPr>
          <a:xfrm>
            <a:off x="1490472" y="3207258"/>
            <a:ext cx="182880" cy="329184"/>
          </a:xfrm>
          <a:prstGeom prst="roundRect">
            <a:avLst>
              <a:gd name="adj" fmla="val 30000"/>
            </a:avLst>
          </a:prstGeom>
          <a:solidFill>
            <a:srgbClr val="1B1F24"/>
          </a:solidFill>
          <a:ln w="12700">
            <a:solidFill>
              <a:srgbClr val="1B1F24"/>
            </a:solidFill>
            <a:prstDash val="solid"/>
          </a:ln>
        </p:spPr>
      </p:sp>
      <p:sp>
        <p:nvSpPr>
          <p:cNvPr id="20" name="Shape 18"/>
          <p:cNvSpPr/>
          <p:nvPr/>
        </p:nvSpPr>
        <p:spPr>
          <a:xfrm>
            <a:off x="4937760" y="2334006"/>
            <a:ext cx="896112" cy="475488"/>
          </a:xfrm>
          <a:prstGeom prst="roundRect">
            <a:avLst>
              <a:gd name="adj" fmla="val 25000"/>
            </a:avLst>
          </a:prstGeom>
          <a:solidFill>
            <a:srgbClr val="12A150"/>
          </a:solidFill>
          <a:ln w="15875">
            <a:solidFill>
              <a:srgbClr val="FFFFFF"/>
            </a:solidFill>
            <a:prstDash val="solid"/>
          </a:ln>
        </p:spPr>
      </p:sp>
      <p:sp>
        <p:nvSpPr>
          <p:cNvPr id="21" name="Shape 19"/>
          <p:cNvSpPr/>
          <p:nvPr/>
        </p:nvSpPr>
        <p:spPr>
          <a:xfrm>
            <a:off x="5120640" y="2407158"/>
            <a:ext cx="182880" cy="329184"/>
          </a:xfrm>
          <a:prstGeom prst="roundRect">
            <a:avLst>
              <a:gd name="adj" fmla="val 30000"/>
            </a:avLst>
          </a:prstGeom>
          <a:solidFill>
            <a:srgbClr val="1B1F24"/>
          </a:solidFill>
          <a:ln w="12700">
            <a:solidFill>
              <a:srgbClr val="1B1F24"/>
            </a:solidFill>
            <a:prstDash val="solid"/>
          </a:ln>
        </p:spPr>
      </p:sp>
      <p:sp>
        <p:nvSpPr>
          <p:cNvPr id="22" name="Text 20"/>
          <p:cNvSpPr txBox="1"/>
          <p:nvPr/>
        </p:nvSpPr>
        <p:spPr>
          <a:xfrm>
            <a:off x="905256" y="3771900"/>
            <a:ext cx="1463040" cy="274320"/>
          </a:xfrm>
          <a:prstGeom prst="rect">
            <a:avLst/>
          </a:prstGeom>
          <a:noFill/>
          <a:ln/>
        </p:spPr>
        <p:txBody>
          <a:bodyPr wrap="square" lIns="0" tIns="0" rIns="0" bIns="0" rtlCol="0" anchor="t"/>
          <a:lstStyle/>
          <a:p>
            <a:pPr algn="r" indent="0" marL="0">
              <a:buNone/>
            </a:pPr>
            <a:r>
              <a:rPr lang="en-US" sz="1300" b="1" dirty="0">
                <a:solidFill>
                  <a:srgbClr val="15181D"/>
                </a:solidFill>
                <a:latin typeface="Arial" pitchFamily="34" charset="0"/>
                <a:ea typeface="Arial" pitchFamily="34" charset="-122"/>
                <a:cs typeface="Arial" pitchFamily="34" charset="-120"/>
              </a:rPr>
              <a:t>Haltlinie →</a:t>
            </a:r>
            <a:endParaRPr lang="en-US" sz="1300" dirty="0"/>
          </a:p>
        </p:txBody>
      </p:sp>
      <p:sp>
        <p:nvSpPr>
          <p:cNvPr id="23" name="Shape 21"/>
          <p:cNvSpPr/>
          <p:nvPr/>
        </p:nvSpPr>
        <p:spPr>
          <a:xfrm>
            <a:off x="6478524" y="1888236"/>
            <a:ext cx="155448" cy="155448"/>
          </a:xfrm>
          <a:prstGeom prst="ellipse">
            <a:avLst/>
          </a:prstGeom>
          <a:solidFill>
            <a:srgbClr val="FF9300"/>
          </a:solidFill>
          <a:ln w="12700">
            <a:solidFill>
              <a:srgbClr val="FF9300"/>
            </a:solidFill>
            <a:prstDash val="solid"/>
          </a:ln>
        </p:spPr>
      </p:sp>
      <p:sp>
        <p:nvSpPr>
          <p:cNvPr id="24" name="Text 22"/>
          <p:cNvSpPr txBox="1"/>
          <p:nvPr/>
        </p:nvSpPr>
        <p:spPr>
          <a:xfrm>
            <a:off x="6830568" y="1783080"/>
            <a:ext cx="4828032" cy="88696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Immer anhalten –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auch wenn die Straße frei ist.</a:t>
            </a:r>
            <a:endParaRPr lang="en-US" sz="1900" dirty="0"/>
          </a:p>
        </p:txBody>
      </p:sp>
      <p:sp>
        <p:nvSpPr>
          <p:cNvPr id="25" name="Shape 23"/>
          <p:cNvSpPr/>
          <p:nvPr/>
        </p:nvSpPr>
        <p:spPr>
          <a:xfrm>
            <a:off x="6478524" y="2848356"/>
            <a:ext cx="155448" cy="155448"/>
          </a:xfrm>
          <a:prstGeom prst="ellipse">
            <a:avLst/>
          </a:prstGeom>
          <a:solidFill>
            <a:srgbClr val="FF9300"/>
          </a:solidFill>
          <a:ln w="12700">
            <a:solidFill>
              <a:srgbClr val="FF9300"/>
            </a:solidFill>
            <a:prstDash val="solid"/>
          </a:ln>
        </p:spPr>
      </p:sp>
      <p:sp>
        <p:nvSpPr>
          <p:cNvPr id="26" name="Text 24"/>
          <p:cNvSpPr txBox="1"/>
          <p:nvPr/>
        </p:nvSpPr>
        <p:spPr>
          <a:xfrm>
            <a:off x="6830568" y="2743200"/>
            <a:ext cx="4828032" cy="88696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Mit Haltlinie: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an der Haltlinie halten.</a:t>
            </a:r>
            <a:endParaRPr lang="en-US" sz="1900" dirty="0"/>
          </a:p>
        </p:txBody>
      </p:sp>
      <p:sp>
        <p:nvSpPr>
          <p:cNvPr id="27" name="Shape 25"/>
          <p:cNvSpPr/>
          <p:nvPr/>
        </p:nvSpPr>
        <p:spPr>
          <a:xfrm>
            <a:off x="6478524" y="3808476"/>
            <a:ext cx="155448" cy="155448"/>
          </a:xfrm>
          <a:prstGeom prst="ellipse">
            <a:avLst/>
          </a:prstGeom>
          <a:solidFill>
            <a:srgbClr val="FF9300"/>
          </a:solidFill>
          <a:ln w="12700">
            <a:solidFill>
              <a:srgbClr val="FF9300"/>
            </a:solidFill>
            <a:prstDash val="solid"/>
          </a:ln>
        </p:spPr>
      </p:sp>
      <p:sp>
        <p:nvSpPr>
          <p:cNvPr id="28" name="Text 26"/>
          <p:cNvSpPr txBox="1"/>
          <p:nvPr/>
        </p:nvSpPr>
        <p:spPr>
          <a:xfrm>
            <a:off x="6830568" y="3703320"/>
            <a:ext cx="4828032" cy="88696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Ohne Haltlinie: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dort halten, wo du die Straße einsehen kannst.</a:t>
            </a:r>
            <a:endParaRPr lang="en-US" sz="1900" dirty="0"/>
          </a:p>
        </p:txBody>
      </p:sp>
      <p:sp>
        <p:nvSpPr>
          <p:cNvPr id="29" name="Shape 27"/>
          <p:cNvSpPr/>
          <p:nvPr/>
        </p:nvSpPr>
        <p:spPr>
          <a:xfrm>
            <a:off x="6478524" y="4768596"/>
            <a:ext cx="155448" cy="155448"/>
          </a:xfrm>
          <a:prstGeom prst="ellipse">
            <a:avLst/>
          </a:prstGeom>
          <a:solidFill>
            <a:srgbClr val="FF9300"/>
          </a:solidFill>
          <a:ln w="12700">
            <a:solidFill>
              <a:srgbClr val="FF9300"/>
            </a:solidFill>
            <a:prstDash val="solid"/>
          </a:ln>
        </p:spPr>
      </p:sp>
      <p:sp>
        <p:nvSpPr>
          <p:cNvPr id="30" name="Text 28"/>
          <p:cNvSpPr txBox="1"/>
          <p:nvPr/>
        </p:nvSpPr>
        <p:spPr>
          <a:xfrm>
            <a:off x="6830568" y="4663440"/>
            <a:ext cx="4828032" cy="88696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Danach: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Vorfahrt gewähren, wenn nötig langsam vortasten.</a:t>
            </a:r>
            <a:endParaRPr lang="en-US" sz="1900" dirty="0"/>
          </a:p>
        </p:txBody>
      </p:sp>
      <p:sp>
        <p:nvSpPr>
          <p:cNvPr id="31" name="Text 29"/>
          <p:cNvSpPr txBox="1"/>
          <p:nvPr/>
        </p:nvSpPr>
        <p:spPr>
          <a:xfrm>
            <a:off x="6446520" y="5715000"/>
            <a:ext cx="5212080" cy="411480"/>
          </a:xfrm>
          <a:prstGeom prst="rect">
            <a:avLst/>
          </a:prstGeom>
          <a:noFill/>
          <a:ln/>
        </p:spPr>
        <p:txBody>
          <a:bodyPr wrap="square" lIns="0" tIns="0" rIns="0" bIns="0" rtlCol="0" anchor="t"/>
          <a:lstStyle/>
          <a:p>
            <a:pPr indent="0" marL="0">
              <a:buNone/>
            </a:pPr>
            <a:r>
              <a:rPr lang="en-US" sz="1600" b="1" dirty="0">
                <a:solidFill>
                  <a:srgbClr val="9E4F00"/>
                </a:solidFill>
                <a:latin typeface="Arial" pitchFamily="34" charset="0"/>
                <a:ea typeface="Arial" pitchFamily="34" charset="-122"/>
                <a:cs typeface="Arial" pitchFamily="34" charset="-120"/>
              </a:rPr>
              <a:t>In der Prüfung zählt nur der echte Halt – Rollen reicht nicht.</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03 · ZEICHEN</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So zeigst du, dass du wartest</a:t>
            </a:r>
            <a:endParaRPr lang="en-US" sz="3200" dirty="0"/>
          </a:p>
        </p:txBody>
      </p:sp>
      <p:sp>
        <p:nvSpPr>
          <p:cNvPr id="4" name="Shape 2"/>
          <p:cNvSpPr/>
          <p:nvPr/>
        </p:nvSpPr>
        <p:spPr>
          <a:xfrm>
            <a:off x="9882835" y="457200"/>
            <a:ext cx="1760220"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882835" y="457200"/>
            <a:ext cx="1760220"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8 Abs. 2 StVO</a:t>
            </a:r>
            <a:endParaRPr lang="en-US" sz="1200" dirty="0"/>
          </a:p>
        </p:txBody>
      </p:sp>
      <p:sp>
        <p:nvSpPr>
          <p:cNvPr id="6" name="Shape 4"/>
          <p:cNvSpPr/>
          <p:nvPr/>
        </p:nvSpPr>
        <p:spPr>
          <a:xfrm>
            <a:off x="1600200" y="2313432"/>
            <a:ext cx="8961120" cy="36576"/>
          </a:xfrm>
          <a:prstGeom prst="rect">
            <a:avLst/>
          </a:prstGeom>
          <a:solidFill>
            <a:srgbClr val="C9D0D8"/>
          </a:solidFill>
          <a:ln w="12700">
            <a:solidFill>
              <a:srgbClr val="C9D0D8"/>
            </a:solidFill>
            <a:prstDash val="solid"/>
          </a:ln>
        </p:spPr>
      </p:sp>
      <p:sp>
        <p:nvSpPr>
          <p:cNvPr id="7" name="Shape 5"/>
          <p:cNvSpPr/>
          <p:nvPr/>
        </p:nvSpPr>
        <p:spPr>
          <a:xfrm>
            <a:off x="1271016" y="2002536"/>
            <a:ext cx="658368" cy="658368"/>
          </a:xfrm>
          <a:prstGeom prst="ellipse">
            <a:avLst/>
          </a:prstGeom>
          <a:solidFill>
            <a:srgbClr val="101318"/>
          </a:solidFill>
          <a:ln w="19050">
            <a:solidFill>
              <a:srgbClr val="FFFFFF"/>
            </a:solidFill>
            <a:prstDash val="solid"/>
          </a:ln>
        </p:spPr>
      </p:sp>
      <p:sp>
        <p:nvSpPr>
          <p:cNvPr id="8" name="Text 6"/>
          <p:cNvSpPr txBox="1"/>
          <p:nvPr/>
        </p:nvSpPr>
        <p:spPr>
          <a:xfrm>
            <a:off x="1271016" y="2002536"/>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9" name="Text 7"/>
          <p:cNvSpPr txBox="1"/>
          <p:nvPr/>
        </p:nvSpPr>
        <p:spPr>
          <a:xfrm>
            <a:off x="548640" y="2880360"/>
            <a:ext cx="2103120" cy="411480"/>
          </a:xfrm>
          <a:prstGeom prst="rect">
            <a:avLst/>
          </a:prstGeom>
          <a:noFill/>
          <a:ln/>
        </p:spPr>
        <p:txBody>
          <a:bodyPr wrap="square" lIns="0" tIns="0" rIns="0" bIns="0" rtlCol="0" anchor="t"/>
          <a:lstStyle/>
          <a:p>
            <a:pPr algn="ctr" indent="0" marL="0">
              <a:buNone/>
            </a:pPr>
            <a:r>
              <a:rPr lang="en-US" sz="2000" b="1" dirty="0">
                <a:solidFill>
                  <a:srgbClr val="15181D"/>
                </a:solidFill>
                <a:latin typeface="Arial" pitchFamily="34" charset="0"/>
                <a:ea typeface="Arial" pitchFamily="34" charset="-122"/>
                <a:cs typeface="Arial" pitchFamily="34" charset="-120"/>
              </a:rPr>
              <a:t>Erkennen</a:t>
            </a:r>
            <a:endParaRPr lang="en-US" sz="2000" dirty="0"/>
          </a:p>
        </p:txBody>
      </p:sp>
      <p:sp>
        <p:nvSpPr>
          <p:cNvPr id="10" name="Text 8"/>
          <p:cNvSpPr txBox="1"/>
          <p:nvPr/>
        </p:nvSpPr>
        <p:spPr>
          <a:xfrm>
            <a:off x="576072" y="3337560"/>
            <a:ext cx="2048256" cy="1188720"/>
          </a:xfrm>
          <a:prstGeom prst="rect">
            <a:avLst/>
          </a:prstGeom>
          <a:noFill/>
          <a:ln/>
        </p:spPr>
        <p:txBody>
          <a:bodyPr wrap="square" lIns="0" tIns="0" rIns="0" bIns="0" rtlCol="0" anchor="t"/>
          <a:lstStyle/>
          <a:p>
            <a:pPr algn="ctr" indent="0" marL="0">
              <a:buNone/>
            </a:pPr>
            <a:r>
              <a:rPr lang="en-US" sz="1500" dirty="0">
                <a:solidFill>
                  <a:srgbClr val="56606B"/>
                </a:solidFill>
                <a:latin typeface="Arial" pitchFamily="34" charset="0"/>
                <a:ea typeface="Arial" pitchFamily="34" charset="-122"/>
                <a:cs typeface="Arial" pitchFamily="34" charset="-120"/>
              </a:rPr>
              <a:t>Schild oder Einmündung früh sehen.</a:t>
            </a:r>
            <a:endParaRPr lang="en-US" sz="1500" dirty="0"/>
          </a:p>
        </p:txBody>
      </p:sp>
      <p:sp>
        <p:nvSpPr>
          <p:cNvPr id="11" name="Shape 9"/>
          <p:cNvSpPr/>
          <p:nvPr/>
        </p:nvSpPr>
        <p:spPr>
          <a:xfrm>
            <a:off x="3511296" y="2002536"/>
            <a:ext cx="658368" cy="658368"/>
          </a:xfrm>
          <a:prstGeom prst="ellipse">
            <a:avLst/>
          </a:prstGeom>
          <a:solidFill>
            <a:srgbClr val="101318"/>
          </a:solidFill>
          <a:ln w="19050">
            <a:solidFill>
              <a:srgbClr val="FFFFFF"/>
            </a:solidFill>
            <a:prstDash val="solid"/>
          </a:ln>
        </p:spPr>
      </p:sp>
      <p:sp>
        <p:nvSpPr>
          <p:cNvPr id="12" name="Text 10"/>
          <p:cNvSpPr txBox="1"/>
          <p:nvPr/>
        </p:nvSpPr>
        <p:spPr>
          <a:xfrm>
            <a:off x="3511296" y="2002536"/>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txBox="1"/>
          <p:nvPr/>
        </p:nvSpPr>
        <p:spPr>
          <a:xfrm>
            <a:off x="2788920" y="2880360"/>
            <a:ext cx="2103120" cy="411480"/>
          </a:xfrm>
          <a:prstGeom prst="rect">
            <a:avLst/>
          </a:prstGeom>
          <a:noFill/>
          <a:ln/>
        </p:spPr>
        <p:txBody>
          <a:bodyPr wrap="square" lIns="0" tIns="0" rIns="0" bIns="0" rtlCol="0" anchor="t"/>
          <a:lstStyle/>
          <a:p>
            <a:pPr algn="ctr" indent="0" marL="0">
              <a:buNone/>
            </a:pPr>
            <a:r>
              <a:rPr lang="en-US" sz="2000" b="1" dirty="0">
                <a:solidFill>
                  <a:srgbClr val="15181D"/>
                </a:solidFill>
                <a:latin typeface="Arial" pitchFamily="34" charset="0"/>
                <a:ea typeface="Arial" pitchFamily="34" charset="-122"/>
                <a:cs typeface="Arial" pitchFamily="34" charset="-120"/>
              </a:rPr>
              <a:t>Tempo runter</a:t>
            </a:r>
            <a:endParaRPr lang="en-US" sz="2000" dirty="0"/>
          </a:p>
        </p:txBody>
      </p:sp>
      <p:sp>
        <p:nvSpPr>
          <p:cNvPr id="14" name="Text 12"/>
          <p:cNvSpPr txBox="1"/>
          <p:nvPr/>
        </p:nvSpPr>
        <p:spPr>
          <a:xfrm>
            <a:off x="2816352" y="3337560"/>
            <a:ext cx="2048256" cy="1188720"/>
          </a:xfrm>
          <a:prstGeom prst="rect">
            <a:avLst/>
          </a:prstGeom>
          <a:noFill/>
          <a:ln/>
        </p:spPr>
        <p:txBody>
          <a:bodyPr wrap="square" lIns="0" tIns="0" rIns="0" bIns="0" rtlCol="0" anchor="t"/>
          <a:lstStyle/>
          <a:p>
            <a:pPr algn="ctr" indent="0" marL="0">
              <a:buNone/>
            </a:pPr>
            <a:r>
              <a:rPr lang="en-US" sz="1500" dirty="0">
                <a:solidFill>
                  <a:srgbClr val="56606B"/>
                </a:solidFill>
                <a:latin typeface="Arial" pitchFamily="34" charset="0"/>
                <a:ea typeface="Arial" pitchFamily="34" charset="-122"/>
                <a:cs typeface="Arial" pitchFamily="34" charset="-120"/>
              </a:rPr>
              <a:t>Mäßig fahren zeigt: Ich warte.</a:t>
            </a:r>
            <a:endParaRPr lang="en-US" sz="1500" dirty="0"/>
          </a:p>
        </p:txBody>
      </p:sp>
      <p:sp>
        <p:nvSpPr>
          <p:cNvPr id="15" name="Shape 13"/>
          <p:cNvSpPr/>
          <p:nvPr/>
        </p:nvSpPr>
        <p:spPr>
          <a:xfrm>
            <a:off x="5751576" y="2002536"/>
            <a:ext cx="658368" cy="658368"/>
          </a:xfrm>
          <a:prstGeom prst="ellipse">
            <a:avLst/>
          </a:prstGeom>
          <a:solidFill>
            <a:srgbClr val="101318"/>
          </a:solidFill>
          <a:ln w="19050">
            <a:solidFill>
              <a:srgbClr val="FFFFFF"/>
            </a:solidFill>
            <a:prstDash val="solid"/>
          </a:ln>
        </p:spPr>
      </p:sp>
      <p:sp>
        <p:nvSpPr>
          <p:cNvPr id="16" name="Text 14"/>
          <p:cNvSpPr txBox="1"/>
          <p:nvPr/>
        </p:nvSpPr>
        <p:spPr>
          <a:xfrm>
            <a:off x="5751576" y="2002536"/>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7" name="Text 15"/>
          <p:cNvSpPr txBox="1"/>
          <p:nvPr/>
        </p:nvSpPr>
        <p:spPr>
          <a:xfrm>
            <a:off x="5029200" y="2880360"/>
            <a:ext cx="2103120" cy="411480"/>
          </a:xfrm>
          <a:prstGeom prst="rect">
            <a:avLst/>
          </a:prstGeom>
          <a:noFill/>
          <a:ln/>
        </p:spPr>
        <p:txBody>
          <a:bodyPr wrap="square" lIns="0" tIns="0" rIns="0" bIns="0" rtlCol="0" anchor="t"/>
          <a:lstStyle/>
          <a:p>
            <a:pPr algn="ctr" indent="0" marL="0">
              <a:buNone/>
            </a:pPr>
            <a:r>
              <a:rPr lang="en-US" sz="2000" b="1" dirty="0">
                <a:solidFill>
                  <a:srgbClr val="15181D"/>
                </a:solidFill>
                <a:latin typeface="Arial" pitchFamily="34" charset="0"/>
                <a:ea typeface="Arial" pitchFamily="34" charset="-122"/>
                <a:cs typeface="Arial" pitchFamily="34" charset="-120"/>
              </a:rPr>
              <a:t>Schauen</a:t>
            </a:r>
            <a:endParaRPr lang="en-US" sz="2000" dirty="0"/>
          </a:p>
        </p:txBody>
      </p:sp>
      <p:sp>
        <p:nvSpPr>
          <p:cNvPr id="18" name="Text 16"/>
          <p:cNvSpPr txBox="1"/>
          <p:nvPr/>
        </p:nvSpPr>
        <p:spPr>
          <a:xfrm>
            <a:off x="5056632" y="3337560"/>
            <a:ext cx="2048256" cy="1188720"/>
          </a:xfrm>
          <a:prstGeom prst="rect">
            <a:avLst/>
          </a:prstGeom>
          <a:noFill/>
          <a:ln/>
        </p:spPr>
        <p:txBody>
          <a:bodyPr wrap="square" lIns="0" tIns="0" rIns="0" bIns="0" rtlCol="0" anchor="t"/>
          <a:lstStyle/>
          <a:p>
            <a:pPr algn="ctr" indent="0" marL="0">
              <a:buNone/>
            </a:pPr>
            <a:r>
              <a:rPr lang="en-US" sz="1500" dirty="0">
                <a:solidFill>
                  <a:srgbClr val="56606B"/>
                </a:solidFill>
                <a:latin typeface="Arial" pitchFamily="34" charset="0"/>
                <a:ea typeface="Arial" pitchFamily="34" charset="-122"/>
                <a:cs typeface="Arial" pitchFamily="34" charset="-120"/>
              </a:rPr>
              <a:t>Rechts, links, rechts – Radweg nicht vergessen.</a:t>
            </a:r>
            <a:endParaRPr lang="en-US" sz="1500" dirty="0"/>
          </a:p>
        </p:txBody>
      </p:sp>
      <p:sp>
        <p:nvSpPr>
          <p:cNvPr id="19" name="Shape 17"/>
          <p:cNvSpPr/>
          <p:nvPr/>
        </p:nvSpPr>
        <p:spPr>
          <a:xfrm>
            <a:off x="7991856" y="2002536"/>
            <a:ext cx="658368" cy="658368"/>
          </a:xfrm>
          <a:prstGeom prst="ellipse">
            <a:avLst/>
          </a:prstGeom>
          <a:solidFill>
            <a:srgbClr val="101318"/>
          </a:solidFill>
          <a:ln w="19050">
            <a:solidFill>
              <a:srgbClr val="FFFFFF"/>
            </a:solidFill>
            <a:prstDash val="solid"/>
          </a:ln>
        </p:spPr>
      </p:sp>
      <p:sp>
        <p:nvSpPr>
          <p:cNvPr id="20" name="Text 18"/>
          <p:cNvSpPr txBox="1"/>
          <p:nvPr/>
        </p:nvSpPr>
        <p:spPr>
          <a:xfrm>
            <a:off x="7991856" y="2002536"/>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1" name="Text 19"/>
          <p:cNvSpPr txBox="1"/>
          <p:nvPr/>
        </p:nvSpPr>
        <p:spPr>
          <a:xfrm>
            <a:off x="7269480" y="2880360"/>
            <a:ext cx="2103120" cy="411480"/>
          </a:xfrm>
          <a:prstGeom prst="rect">
            <a:avLst/>
          </a:prstGeom>
          <a:noFill/>
          <a:ln/>
        </p:spPr>
        <p:txBody>
          <a:bodyPr wrap="square" lIns="0" tIns="0" rIns="0" bIns="0" rtlCol="0" anchor="t"/>
          <a:lstStyle/>
          <a:p>
            <a:pPr algn="ctr" indent="0" marL="0">
              <a:buNone/>
            </a:pPr>
            <a:r>
              <a:rPr lang="en-US" sz="2000" b="1" dirty="0">
                <a:solidFill>
                  <a:srgbClr val="15181D"/>
                </a:solidFill>
                <a:latin typeface="Arial" pitchFamily="34" charset="0"/>
                <a:ea typeface="Arial" pitchFamily="34" charset="-122"/>
                <a:cs typeface="Arial" pitchFamily="34" charset="-120"/>
              </a:rPr>
              <a:t>Vortasten</a:t>
            </a:r>
            <a:endParaRPr lang="en-US" sz="2000" dirty="0"/>
          </a:p>
        </p:txBody>
      </p:sp>
      <p:sp>
        <p:nvSpPr>
          <p:cNvPr id="22" name="Text 20"/>
          <p:cNvSpPr txBox="1"/>
          <p:nvPr/>
        </p:nvSpPr>
        <p:spPr>
          <a:xfrm>
            <a:off x="7296912" y="3337560"/>
            <a:ext cx="2048256" cy="1188720"/>
          </a:xfrm>
          <a:prstGeom prst="rect">
            <a:avLst/>
          </a:prstGeom>
          <a:noFill/>
          <a:ln/>
        </p:spPr>
        <p:txBody>
          <a:bodyPr wrap="square" lIns="0" tIns="0" rIns="0" bIns="0" rtlCol="0" anchor="t"/>
          <a:lstStyle/>
          <a:p>
            <a:pPr algn="ctr" indent="0" marL="0">
              <a:buNone/>
            </a:pPr>
            <a:r>
              <a:rPr lang="en-US" sz="1500" dirty="0">
                <a:solidFill>
                  <a:srgbClr val="56606B"/>
                </a:solidFill>
                <a:latin typeface="Arial" pitchFamily="34" charset="0"/>
                <a:ea typeface="Arial" pitchFamily="34" charset="-122"/>
                <a:cs typeface="Arial" pitchFamily="34" charset="-120"/>
              </a:rPr>
              <a:t>Unübersichtlich? Langsam vor, bis du siehst.</a:t>
            </a:r>
            <a:endParaRPr lang="en-US" sz="1500" dirty="0"/>
          </a:p>
        </p:txBody>
      </p:sp>
      <p:sp>
        <p:nvSpPr>
          <p:cNvPr id="23" name="Shape 21"/>
          <p:cNvSpPr/>
          <p:nvPr/>
        </p:nvSpPr>
        <p:spPr>
          <a:xfrm>
            <a:off x="10232136" y="2002536"/>
            <a:ext cx="658368" cy="658368"/>
          </a:xfrm>
          <a:prstGeom prst="ellipse">
            <a:avLst/>
          </a:prstGeom>
          <a:solidFill>
            <a:srgbClr val="FF9300"/>
          </a:solidFill>
          <a:ln w="19050">
            <a:solidFill>
              <a:srgbClr val="FFFFFF"/>
            </a:solidFill>
            <a:prstDash val="solid"/>
          </a:ln>
        </p:spPr>
      </p:sp>
      <p:sp>
        <p:nvSpPr>
          <p:cNvPr id="24" name="Text 22"/>
          <p:cNvSpPr txBox="1"/>
          <p:nvPr/>
        </p:nvSpPr>
        <p:spPr>
          <a:xfrm>
            <a:off x="10232136" y="2002536"/>
            <a:ext cx="658368" cy="658368"/>
          </a:xfrm>
          <a:prstGeom prst="rect">
            <a:avLst/>
          </a:prstGeom>
          <a:noFill/>
          <a:ln/>
        </p:spPr>
        <p:txBody>
          <a:bodyPr wrap="square" lIns="0" tIns="0" rIns="0" bIns="0" rtlCol="0" anchor="ctr"/>
          <a:lstStyle/>
          <a:p>
            <a:pPr algn="ctr" indent="0" marL="0">
              <a:buNone/>
            </a:pPr>
            <a:r>
              <a:rPr lang="en-US" sz="2400" b="1" dirty="0">
                <a:solidFill>
                  <a:srgbClr val="15181D"/>
                </a:solidFill>
                <a:latin typeface="Arial" pitchFamily="34" charset="0"/>
                <a:ea typeface="Arial" pitchFamily="34" charset="-122"/>
                <a:cs typeface="Arial" pitchFamily="34" charset="-120"/>
              </a:rPr>
              <a:t>5</a:t>
            </a:r>
            <a:endParaRPr lang="en-US" sz="2400" dirty="0"/>
          </a:p>
        </p:txBody>
      </p:sp>
      <p:sp>
        <p:nvSpPr>
          <p:cNvPr id="25" name="Text 23"/>
          <p:cNvSpPr txBox="1"/>
          <p:nvPr/>
        </p:nvSpPr>
        <p:spPr>
          <a:xfrm>
            <a:off x="9509760" y="2880360"/>
            <a:ext cx="2103120" cy="411480"/>
          </a:xfrm>
          <a:prstGeom prst="rect">
            <a:avLst/>
          </a:prstGeom>
          <a:noFill/>
          <a:ln/>
        </p:spPr>
        <p:txBody>
          <a:bodyPr wrap="square" lIns="0" tIns="0" rIns="0" bIns="0" rtlCol="0" anchor="t"/>
          <a:lstStyle/>
          <a:p>
            <a:pPr algn="ctr" indent="0" marL="0">
              <a:buNone/>
            </a:pPr>
            <a:r>
              <a:rPr lang="en-US" sz="2000" b="1" dirty="0">
                <a:solidFill>
                  <a:srgbClr val="15181D"/>
                </a:solidFill>
                <a:latin typeface="Arial" pitchFamily="34" charset="0"/>
                <a:ea typeface="Arial" pitchFamily="34" charset="-122"/>
                <a:cs typeface="Arial" pitchFamily="34" charset="-120"/>
              </a:rPr>
              <a:t>Fahren</a:t>
            </a:r>
            <a:endParaRPr lang="en-US" sz="2000" dirty="0"/>
          </a:p>
        </p:txBody>
      </p:sp>
      <p:sp>
        <p:nvSpPr>
          <p:cNvPr id="26" name="Text 24"/>
          <p:cNvSpPr txBox="1"/>
          <p:nvPr/>
        </p:nvSpPr>
        <p:spPr>
          <a:xfrm>
            <a:off x="9537192" y="3337560"/>
            <a:ext cx="2048256" cy="1188720"/>
          </a:xfrm>
          <a:prstGeom prst="rect">
            <a:avLst/>
          </a:prstGeom>
          <a:noFill/>
          <a:ln/>
        </p:spPr>
        <p:txBody>
          <a:bodyPr wrap="square" lIns="0" tIns="0" rIns="0" bIns="0" rtlCol="0" anchor="t"/>
          <a:lstStyle/>
          <a:p>
            <a:pPr algn="ctr" indent="0" marL="0">
              <a:buNone/>
            </a:pPr>
            <a:r>
              <a:rPr lang="en-US" sz="1500" dirty="0">
                <a:solidFill>
                  <a:srgbClr val="56606B"/>
                </a:solidFill>
                <a:latin typeface="Arial" pitchFamily="34" charset="0"/>
                <a:ea typeface="Arial" pitchFamily="34" charset="-122"/>
                <a:cs typeface="Arial" pitchFamily="34" charset="-120"/>
              </a:rPr>
              <a:t>Nur wenn niemand gefährdet oder wesentlich behindert wird.</a:t>
            </a:r>
            <a:endParaRPr lang="en-US" sz="1500" dirty="0"/>
          </a:p>
        </p:txBody>
      </p:sp>
      <p:sp>
        <p:nvSpPr>
          <p:cNvPr id="27" name="Shape 25"/>
          <p:cNvSpPr/>
          <p:nvPr/>
        </p:nvSpPr>
        <p:spPr>
          <a:xfrm>
            <a:off x="548640" y="4892040"/>
            <a:ext cx="11091672" cy="1097280"/>
          </a:xfrm>
          <a:prstGeom prst="roundRect">
            <a:avLst>
              <a:gd name="adj" fmla="val 15000"/>
            </a:avLst>
          </a:prstGeom>
          <a:solidFill>
            <a:srgbClr val="F1F3F6"/>
          </a:solidFill>
          <a:ln w="12700">
            <a:solidFill>
              <a:srgbClr val="F1F3F6"/>
            </a:solidFill>
            <a:prstDash val="solid"/>
          </a:ln>
        </p:spPr>
      </p:sp>
      <p:sp>
        <p:nvSpPr>
          <p:cNvPr id="28" name="Shape 26"/>
          <p:cNvSpPr/>
          <p:nvPr/>
        </p:nvSpPr>
        <p:spPr>
          <a:xfrm>
            <a:off x="822960" y="5212080"/>
            <a:ext cx="457200" cy="457200"/>
          </a:xfrm>
          <a:prstGeom prst="ellipse">
            <a:avLst/>
          </a:prstGeom>
          <a:solidFill>
            <a:srgbClr val="FF9300"/>
          </a:solidFill>
          <a:ln w="12700">
            <a:solidFill>
              <a:srgbClr val="FF9300"/>
            </a:solidFill>
            <a:prstDash val="solid"/>
          </a:ln>
        </p:spPr>
      </p:sp>
      <p:sp>
        <p:nvSpPr>
          <p:cNvPr id="29" name="Text 27"/>
          <p:cNvSpPr txBox="1"/>
          <p:nvPr/>
        </p:nvSpPr>
        <p:spPr>
          <a:xfrm>
            <a:off x="822960" y="5212080"/>
            <a:ext cx="457200" cy="457200"/>
          </a:xfrm>
          <a:prstGeom prst="rect">
            <a:avLst/>
          </a:prstGeom>
          <a:noFill/>
          <a:ln/>
        </p:spPr>
        <p:txBody>
          <a:bodyPr wrap="square" lIns="0" tIns="0" rIns="0" bIns="0" rtlCol="0" anchor="ctr"/>
          <a:lstStyle/>
          <a:p>
            <a:pPr algn="ctr" indent="0" marL="0">
              <a:buNone/>
            </a:pPr>
            <a:r>
              <a:rPr lang="en-US" sz="2200" b="1" dirty="0">
                <a:solidFill>
                  <a:srgbClr val="15181D"/>
                </a:solidFill>
                <a:latin typeface="Arial" pitchFamily="34" charset="0"/>
                <a:ea typeface="Arial" pitchFamily="34" charset="-122"/>
                <a:cs typeface="Arial" pitchFamily="34" charset="-120"/>
              </a:rPr>
              <a:t>!</a:t>
            </a:r>
            <a:endParaRPr lang="en-US" sz="2200" dirty="0"/>
          </a:p>
        </p:txBody>
      </p:sp>
      <p:sp>
        <p:nvSpPr>
          <p:cNvPr id="30" name="Text 28"/>
          <p:cNvSpPr txBox="1"/>
          <p:nvPr/>
        </p:nvSpPr>
        <p:spPr>
          <a:xfrm>
            <a:off x="1508760" y="5074920"/>
            <a:ext cx="9875520" cy="731520"/>
          </a:xfrm>
          <a:prstGeom prst="rect">
            <a:avLst/>
          </a:prstGeom>
          <a:noFill/>
          <a:ln/>
        </p:spPr>
        <p:txBody>
          <a:bodyPr wrap="square" lIns="0" tIns="0" rIns="0" bIns="0" rtlCol="0" anchor="ctr"/>
          <a:lstStyle/>
          <a:p>
            <a:pPr indent="0" marL="0">
              <a:buNone/>
            </a:pPr>
            <a:r>
              <a:rPr lang="en-US" sz="1900" b="1" dirty="0">
                <a:solidFill>
                  <a:srgbClr val="15181D"/>
                </a:solidFill>
                <a:latin typeface="Arial" pitchFamily="34" charset="0"/>
                <a:ea typeface="Arial" pitchFamily="34" charset="-122"/>
                <a:cs typeface="Arial" pitchFamily="34" charset="-120"/>
              </a:rPr>
              <a:t>Auch wenn der Vorfahrtberechtigte abbiegt, darfst du ihn nicht wesentlich behindern.</a:t>
            </a:r>
            <a:endParaRPr lang="en-US" sz="19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EINSCHÄTZEN</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Reicht die Lücke?</a:t>
            </a:r>
            <a:endParaRPr lang="en-US" sz="3200" dirty="0"/>
          </a:p>
        </p:txBody>
      </p:sp>
      <p:sp>
        <p:nvSpPr>
          <p:cNvPr id="4" name="Shape 2"/>
          <p:cNvSpPr/>
          <p:nvPr/>
        </p:nvSpPr>
        <p:spPr>
          <a:xfrm>
            <a:off x="548640" y="1645920"/>
            <a:ext cx="11091672" cy="2377440"/>
          </a:xfrm>
          <a:prstGeom prst="roundRect">
            <a:avLst>
              <a:gd name="adj" fmla="val 7692"/>
            </a:avLst>
          </a:prstGeom>
          <a:solidFill>
            <a:srgbClr val="1C2129"/>
          </a:solidFill>
          <a:ln w="12700">
            <a:solidFill>
              <a:srgbClr val="1C2129"/>
            </a:solidFill>
            <a:prstDash val="solid"/>
          </a:ln>
        </p:spPr>
      </p:sp>
      <p:sp>
        <p:nvSpPr>
          <p:cNvPr id="5" name="Shape 3"/>
          <p:cNvSpPr/>
          <p:nvPr/>
        </p:nvSpPr>
        <p:spPr>
          <a:xfrm>
            <a:off x="548640" y="2057400"/>
            <a:ext cx="11091672" cy="1417320"/>
          </a:xfrm>
          <a:prstGeom prst="rect">
            <a:avLst/>
          </a:prstGeom>
          <a:solidFill>
            <a:srgbClr val="3B414A"/>
          </a:solidFill>
          <a:ln w="12700">
            <a:solidFill>
              <a:srgbClr val="3B414A"/>
            </a:solidFill>
            <a:prstDash val="solid"/>
          </a:ln>
        </p:spPr>
      </p:sp>
      <p:sp>
        <p:nvSpPr>
          <p:cNvPr id="6" name="Shape 4"/>
          <p:cNvSpPr/>
          <p:nvPr/>
        </p:nvSpPr>
        <p:spPr>
          <a:xfrm>
            <a:off x="685800" y="2766060"/>
            <a:ext cx="10835640" cy="0"/>
          </a:xfrm>
          <a:prstGeom prst="line">
            <a:avLst/>
          </a:prstGeom>
          <a:noFill/>
          <a:ln w="22225">
            <a:solidFill>
              <a:srgbClr val="F2F4F6"/>
            </a:solidFill>
            <a:prstDash val="dash"/>
          </a:ln>
        </p:spPr>
      </p:sp>
      <p:sp>
        <p:nvSpPr>
          <p:cNvPr id="7" name="Shape 5"/>
          <p:cNvSpPr/>
          <p:nvPr/>
        </p:nvSpPr>
        <p:spPr>
          <a:xfrm>
            <a:off x="8503920" y="3474720"/>
            <a:ext cx="1417320" cy="548640"/>
          </a:xfrm>
          <a:prstGeom prst="rect">
            <a:avLst/>
          </a:prstGeom>
          <a:solidFill>
            <a:srgbClr val="3B414A"/>
          </a:solidFill>
          <a:ln w="12700">
            <a:solidFill>
              <a:srgbClr val="3B414A"/>
            </a:solidFill>
            <a:prstDash val="solid"/>
          </a:ln>
        </p:spPr>
      </p:sp>
      <p:sp>
        <p:nvSpPr>
          <p:cNvPr id="8" name="Shape 6"/>
          <p:cNvSpPr/>
          <p:nvPr/>
        </p:nvSpPr>
        <p:spPr>
          <a:xfrm>
            <a:off x="9363456" y="3346704"/>
            <a:ext cx="420624" cy="713232"/>
          </a:xfrm>
          <a:prstGeom prst="roundRect">
            <a:avLst>
              <a:gd name="adj" fmla="val 28261"/>
            </a:avLst>
          </a:prstGeom>
          <a:solidFill>
            <a:srgbClr val="FF9300"/>
          </a:solidFill>
          <a:ln w="15875">
            <a:solidFill>
              <a:srgbClr val="FFFFFF"/>
            </a:solidFill>
            <a:prstDash val="solid"/>
          </a:ln>
        </p:spPr>
      </p:sp>
      <p:sp>
        <p:nvSpPr>
          <p:cNvPr id="9" name="Shape 7"/>
          <p:cNvSpPr/>
          <p:nvPr/>
        </p:nvSpPr>
        <p:spPr>
          <a:xfrm>
            <a:off x="9436608" y="3529584"/>
            <a:ext cx="274320" cy="182880"/>
          </a:xfrm>
          <a:prstGeom prst="roundRect">
            <a:avLst>
              <a:gd name="adj" fmla="val 30000"/>
            </a:avLst>
          </a:prstGeom>
          <a:solidFill>
            <a:srgbClr val="1B1F24"/>
          </a:solidFill>
          <a:ln w="12700">
            <a:solidFill>
              <a:srgbClr val="1B1F24"/>
            </a:solidFill>
            <a:prstDash val="solid"/>
          </a:ln>
        </p:spPr>
      </p:sp>
      <p:sp>
        <p:nvSpPr>
          <p:cNvPr id="10" name="Text 8"/>
          <p:cNvSpPr txBox="1"/>
          <p:nvPr/>
        </p:nvSpPr>
        <p:spPr>
          <a:xfrm>
            <a:off x="9299448" y="372160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1" name="Shape 9"/>
          <p:cNvSpPr/>
          <p:nvPr/>
        </p:nvSpPr>
        <p:spPr>
          <a:xfrm>
            <a:off x="868680" y="2907792"/>
            <a:ext cx="822960" cy="438912"/>
          </a:xfrm>
          <a:prstGeom prst="roundRect">
            <a:avLst>
              <a:gd name="adj" fmla="val 27083"/>
            </a:avLst>
          </a:prstGeom>
          <a:solidFill>
            <a:srgbClr val="3B82F6"/>
          </a:solidFill>
          <a:ln w="15875">
            <a:solidFill>
              <a:srgbClr val="FFFFFF"/>
            </a:solidFill>
            <a:prstDash val="solid"/>
          </a:ln>
        </p:spPr>
      </p:sp>
      <p:sp>
        <p:nvSpPr>
          <p:cNvPr id="12" name="Shape 10"/>
          <p:cNvSpPr/>
          <p:nvPr/>
        </p:nvSpPr>
        <p:spPr>
          <a:xfrm>
            <a:off x="1325880" y="2980944"/>
            <a:ext cx="182880" cy="292608"/>
          </a:xfrm>
          <a:prstGeom prst="roundRect">
            <a:avLst>
              <a:gd name="adj" fmla="val 30000"/>
            </a:avLst>
          </a:prstGeom>
          <a:solidFill>
            <a:srgbClr val="1B1F24"/>
          </a:solidFill>
          <a:ln w="12700">
            <a:solidFill>
              <a:srgbClr val="1B1F24"/>
            </a:solidFill>
            <a:prstDash val="solid"/>
          </a:ln>
        </p:spPr>
      </p:sp>
      <p:sp>
        <p:nvSpPr>
          <p:cNvPr id="13" name="Shape 11"/>
          <p:cNvSpPr/>
          <p:nvPr/>
        </p:nvSpPr>
        <p:spPr>
          <a:xfrm>
            <a:off x="1828800" y="3127248"/>
            <a:ext cx="6381598" cy="18288"/>
          </a:xfrm>
          <a:custGeom>
            <a:avLst/>
            <a:gdLst/>
            <a:ahLst/>
            <a:cxnLst/>
            <a:rect l="l" t="t" r="r" b="b"/>
            <a:pathLst>
              <a:path w="6381598" h="18288">
                <a:moveTo>
                  <a:pt x="0" y="0"/>
                </a:moveTo>
                <a:lnTo>
                  <a:pt x="6381598" y="0"/>
                </a:lnTo>
              </a:path>
            </a:pathLst>
          </a:custGeom>
          <a:noFill/>
          <a:ln w="31750">
            <a:solidFill>
              <a:srgbClr val="FFFFFF"/>
            </a:solidFill>
            <a:prstDash val="dash"/>
          </a:ln>
        </p:spPr>
      </p:sp>
      <p:sp>
        <p:nvSpPr>
          <p:cNvPr id="14" name="Shape 12"/>
          <p:cNvSpPr/>
          <p:nvPr/>
        </p:nvSpPr>
        <p:spPr>
          <a:xfrm rot="5400000">
            <a:off x="8174736" y="3008376"/>
            <a:ext cx="237744" cy="237744"/>
          </a:xfrm>
          <a:prstGeom prst="triangle">
            <a:avLst/>
          </a:prstGeom>
          <a:solidFill>
            <a:srgbClr val="FFFFFF"/>
          </a:solidFill>
          <a:ln w="12700">
            <a:solidFill>
              <a:srgbClr val="FFFFFF"/>
            </a:solidFill>
            <a:prstDash val="solid"/>
          </a:ln>
        </p:spPr>
      </p:sp>
      <p:sp>
        <p:nvSpPr>
          <p:cNvPr id="15" name="Text 13"/>
          <p:cNvSpPr txBox="1"/>
          <p:nvPr/>
        </p:nvSpPr>
        <p:spPr>
          <a:xfrm>
            <a:off x="2926080" y="2176272"/>
            <a:ext cx="4572000" cy="411480"/>
          </a:xfrm>
          <a:prstGeom prst="rect">
            <a:avLst/>
          </a:prstGeom>
          <a:noFill/>
          <a:ln/>
        </p:spPr>
        <p:txBody>
          <a:bodyPr wrap="square" lIns="0" tIns="0" rIns="0" bIns="0" rtlCol="0" anchor="t"/>
          <a:lstStyle/>
          <a:p>
            <a:pPr algn="ctr" indent="0" marL="0">
              <a:buNone/>
            </a:pPr>
            <a:r>
              <a:rPr lang="en-US" sz="2000" b="1" dirty="0">
                <a:solidFill>
                  <a:srgbClr val="FF9300"/>
                </a:solidFill>
                <a:latin typeface="Arial" pitchFamily="34" charset="0"/>
                <a:ea typeface="Arial" pitchFamily="34" charset="-122"/>
                <a:cs typeface="Arial" pitchFamily="34" charset="-120"/>
              </a:rPr>
              <a:t>≈ 47 m bei 50 km/h</a:t>
            </a:r>
            <a:endParaRPr lang="en-US" sz="2000" dirty="0"/>
          </a:p>
        </p:txBody>
      </p:sp>
      <p:sp>
        <p:nvSpPr>
          <p:cNvPr id="16" name="Shape 14"/>
          <p:cNvSpPr/>
          <p:nvPr/>
        </p:nvSpPr>
        <p:spPr>
          <a:xfrm>
            <a:off x="580644" y="4448556"/>
            <a:ext cx="155448" cy="155448"/>
          </a:xfrm>
          <a:prstGeom prst="ellipse">
            <a:avLst/>
          </a:prstGeom>
          <a:solidFill>
            <a:srgbClr val="FF9300"/>
          </a:solidFill>
          <a:ln w="12700">
            <a:solidFill>
              <a:srgbClr val="FF9300"/>
            </a:solidFill>
            <a:prstDash val="solid"/>
          </a:ln>
        </p:spPr>
      </p:sp>
      <p:sp>
        <p:nvSpPr>
          <p:cNvPr id="17" name="Text 15"/>
          <p:cNvSpPr txBox="1"/>
          <p:nvPr/>
        </p:nvSpPr>
        <p:spPr>
          <a:xfrm>
            <a:off x="932688" y="4343400"/>
            <a:ext cx="10680192" cy="493776"/>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Vom Stand über die Kreuzung </a:t>
            </a:r>
            <a:pPr indent="0" marL="0">
              <a:lnSpc>
                <a:spcPct val="105000"/>
              </a:lnSpc>
              <a:buNone/>
            </a:pPr>
            <a:r>
              <a:rPr lang="en-US" sz="2000" dirty="0">
                <a:solidFill>
                  <a:srgbClr val="D5DAE0"/>
                </a:solidFill>
                <a:latin typeface="Arial" pitchFamily="34" charset="0"/>
                <a:ea typeface="Arial" pitchFamily="34" charset="-122"/>
                <a:cs typeface="Arial" pitchFamily="34" charset="-120"/>
              </a:rPr>
              <a:t>brauchst du rund 3 bis 4 Sekunden.</a:t>
            </a:r>
            <a:endParaRPr lang="en-US" sz="2000" dirty="0"/>
          </a:p>
        </p:txBody>
      </p:sp>
      <p:sp>
        <p:nvSpPr>
          <p:cNvPr id="18" name="Shape 16"/>
          <p:cNvSpPr/>
          <p:nvPr/>
        </p:nvSpPr>
        <p:spPr>
          <a:xfrm>
            <a:off x="580644" y="5015484"/>
            <a:ext cx="155448" cy="155448"/>
          </a:xfrm>
          <a:prstGeom prst="ellipse">
            <a:avLst/>
          </a:prstGeom>
          <a:solidFill>
            <a:srgbClr val="FF9300"/>
          </a:solidFill>
          <a:ln w="12700">
            <a:solidFill>
              <a:srgbClr val="FF9300"/>
            </a:solidFill>
            <a:prstDash val="solid"/>
          </a:ln>
        </p:spPr>
      </p:sp>
      <p:sp>
        <p:nvSpPr>
          <p:cNvPr id="19" name="Text 17"/>
          <p:cNvSpPr txBox="1"/>
          <p:nvPr/>
        </p:nvSpPr>
        <p:spPr>
          <a:xfrm>
            <a:off x="932688" y="4910328"/>
            <a:ext cx="10680192" cy="493776"/>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Ein Auto mit 50 km/h </a:t>
            </a:r>
            <a:pPr indent="0" marL="0">
              <a:lnSpc>
                <a:spcPct val="105000"/>
              </a:lnSpc>
              <a:buNone/>
            </a:pPr>
            <a:r>
              <a:rPr lang="en-US" sz="2000" dirty="0">
                <a:solidFill>
                  <a:srgbClr val="D5DAE0"/>
                </a:solidFill>
                <a:latin typeface="Arial" pitchFamily="34" charset="0"/>
                <a:ea typeface="Arial" pitchFamily="34" charset="-122"/>
                <a:cs typeface="Arial" pitchFamily="34" charset="-120"/>
              </a:rPr>
              <a:t>fährt in dieser Zeit fast 50 Meter.</a:t>
            </a:r>
            <a:endParaRPr lang="en-US" sz="2000" dirty="0"/>
          </a:p>
        </p:txBody>
      </p:sp>
      <p:sp>
        <p:nvSpPr>
          <p:cNvPr id="20" name="Shape 18"/>
          <p:cNvSpPr/>
          <p:nvPr/>
        </p:nvSpPr>
        <p:spPr>
          <a:xfrm>
            <a:off x="580644" y="5582412"/>
            <a:ext cx="155448" cy="155448"/>
          </a:xfrm>
          <a:prstGeom prst="ellipse">
            <a:avLst/>
          </a:prstGeom>
          <a:solidFill>
            <a:srgbClr val="FF9300"/>
          </a:solidFill>
          <a:ln w="12700">
            <a:solidFill>
              <a:srgbClr val="FF9300"/>
            </a:solidFill>
            <a:prstDash val="solid"/>
          </a:ln>
        </p:spPr>
      </p:sp>
      <p:sp>
        <p:nvSpPr>
          <p:cNvPr id="21" name="Text 19"/>
          <p:cNvSpPr txBox="1"/>
          <p:nvPr/>
        </p:nvSpPr>
        <p:spPr>
          <a:xfrm>
            <a:off x="932688" y="5477256"/>
            <a:ext cx="10680192" cy="493776"/>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Ist es näher: </a:t>
            </a:r>
            <a:pPr indent="0" marL="0">
              <a:lnSpc>
                <a:spcPct val="105000"/>
              </a:lnSpc>
              <a:buNone/>
            </a:pPr>
            <a:r>
              <a:rPr lang="en-US" sz="2000" dirty="0">
                <a:solidFill>
                  <a:srgbClr val="D5DAE0"/>
                </a:solidFill>
                <a:latin typeface="Arial" pitchFamily="34" charset="0"/>
                <a:ea typeface="Arial" pitchFamily="34" charset="-122"/>
                <a:cs typeface="Arial" pitchFamily="34" charset="-120"/>
              </a:rPr>
              <a:t>warten. Lieber eine Lücke mehr als einen zum Bremsen zwingen.</a:t>
            </a:r>
            <a:endParaRPr lang="en-US" sz="2000" dirty="0"/>
          </a:p>
        </p:txBody>
      </p:sp>
      <p:sp>
        <p:nvSpPr>
          <p:cNvPr id="22" name="Text 20"/>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rgbClr val="7E8893"/>
                </a:solidFill>
                <a:latin typeface="Arial" pitchFamily="34" charset="0"/>
                <a:ea typeface="Arial" pitchFamily="34" charset="-122"/>
                <a:cs typeface="Arial" pitchFamily="34" charset="-120"/>
              </a:rPr>
              <a:t>Beispielrechnung: 11,5 m Weg (7 m Fahrbahn + 4,5 m Auto), Anfahren mit 2 m/s² ≈ 3,4 s; 50 km/h ≈ 13,9 m/s × 3,4 s ≈ 47 m.</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03 · ZEICHEN</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Abknickende Vorfahrt</a:t>
            </a:r>
            <a:endParaRPr lang="en-US" sz="3200" dirty="0"/>
          </a:p>
        </p:txBody>
      </p:sp>
      <p:sp>
        <p:nvSpPr>
          <p:cNvPr id="4" name="Shape 2"/>
          <p:cNvSpPr/>
          <p:nvPr/>
        </p:nvSpPr>
        <p:spPr>
          <a:xfrm>
            <a:off x="8927287" y="457200"/>
            <a:ext cx="2715768"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8927287" y="457200"/>
            <a:ext cx="2715768"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Anlage 3 lfd. Nr. 2.1 StVO</a:t>
            </a:r>
            <a:endParaRPr lang="en-US" sz="1200" dirty="0"/>
          </a:p>
        </p:txBody>
      </p:sp>
      <p:sp>
        <p:nvSpPr>
          <p:cNvPr id="6" name="Shape 4"/>
          <p:cNvSpPr/>
          <p:nvPr/>
        </p:nvSpPr>
        <p:spPr>
          <a:xfrm>
            <a:off x="6126480" y="1600200"/>
            <a:ext cx="5513832" cy="4526280"/>
          </a:xfrm>
          <a:prstGeom prst="roundRect">
            <a:avLst>
              <a:gd name="adj" fmla="val 4444"/>
            </a:avLst>
          </a:prstGeom>
          <a:solidFill>
            <a:srgbClr val="E3E8ED"/>
          </a:solidFill>
          <a:ln w="12700">
            <a:solidFill>
              <a:srgbClr val="E3E8ED"/>
            </a:solidFill>
            <a:prstDash val="solid"/>
          </a:ln>
        </p:spPr>
      </p:sp>
      <p:sp>
        <p:nvSpPr>
          <p:cNvPr id="7" name="Shape 5"/>
          <p:cNvSpPr/>
          <p:nvPr/>
        </p:nvSpPr>
        <p:spPr>
          <a:xfrm>
            <a:off x="8083296" y="1600200"/>
            <a:ext cx="1600200" cy="4526280"/>
          </a:xfrm>
          <a:prstGeom prst="rect">
            <a:avLst/>
          </a:prstGeom>
          <a:solidFill>
            <a:srgbClr val="3B414A"/>
          </a:solidFill>
          <a:ln w="12700">
            <a:solidFill>
              <a:srgbClr val="3B414A"/>
            </a:solidFill>
            <a:prstDash val="solid"/>
          </a:ln>
        </p:spPr>
      </p:sp>
      <p:sp>
        <p:nvSpPr>
          <p:cNvPr id="8" name="Shape 6"/>
          <p:cNvSpPr/>
          <p:nvPr/>
        </p:nvSpPr>
        <p:spPr>
          <a:xfrm>
            <a:off x="6126480" y="3063240"/>
            <a:ext cx="5513832" cy="1600200"/>
          </a:xfrm>
          <a:prstGeom prst="rect">
            <a:avLst/>
          </a:prstGeom>
          <a:solidFill>
            <a:srgbClr val="3B414A"/>
          </a:solidFill>
          <a:ln w="12700">
            <a:solidFill>
              <a:srgbClr val="3B414A"/>
            </a:solidFill>
            <a:prstDash val="solid"/>
          </a:ln>
        </p:spPr>
      </p:sp>
      <p:sp>
        <p:nvSpPr>
          <p:cNvPr id="9" name="Shape 7"/>
          <p:cNvSpPr/>
          <p:nvPr/>
        </p:nvSpPr>
        <p:spPr>
          <a:xfrm>
            <a:off x="8883396" y="1709928"/>
            <a:ext cx="0" cy="1243584"/>
          </a:xfrm>
          <a:prstGeom prst="line">
            <a:avLst/>
          </a:prstGeom>
          <a:noFill/>
          <a:ln w="22225">
            <a:solidFill>
              <a:srgbClr val="F2F4F6"/>
            </a:solidFill>
            <a:prstDash val="dash"/>
          </a:ln>
        </p:spPr>
      </p:sp>
      <p:sp>
        <p:nvSpPr>
          <p:cNvPr id="10" name="Shape 8"/>
          <p:cNvSpPr/>
          <p:nvPr/>
        </p:nvSpPr>
        <p:spPr>
          <a:xfrm>
            <a:off x="8883396" y="4773168"/>
            <a:ext cx="0" cy="1243584"/>
          </a:xfrm>
          <a:prstGeom prst="line">
            <a:avLst/>
          </a:prstGeom>
          <a:noFill/>
          <a:ln w="22225">
            <a:solidFill>
              <a:srgbClr val="F2F4F6"/>
            </a:solidFill>
            <a:prstDash val="dash"/>
          </a:ln>
        </p:spPr>
      </p:sp>
      <p:sp>
        <p:nvSpPr>
          <p:cNvPr id="11" name="Shape 9"/>
          <p:cNvSpPr/>
          <p:nvPr/>
        </p:nvSpPr>
        <p:spPr>
          <a:xfrm>
            <a:off x="6236208" y="3863340"/>
            <a:ext cx="1737360" cy="0"/>
          </a:xfrm>
          <a:prstGeom prst="line">
            <a:avLst/>
          </a:prstGeom>
          <a:noFill/>
          <a:ln w="22225">
            <a:solidFill>
              <a:srgbClr val="F2F4F6"/>
            </a:solidFill>
            <a:prstDash val="dash"/>
          </a:ln>
        </p:spPr>
      </p:sp>
      <p:sp>
        <p:nvSpPr>
          <p:cNvPr id="12" name="Shape 10"/>
          <p:cNvSpPr/>
          <p:nvPr/>
        </p:nvSpPr>
        <p:spPr>
          <a:xfrm>
            <a:off x="9793224" y="3863340"/>
            <a:ext cx="1737360" cy="0"/>
          </a:xfrm>
          <a:prstGeom prst="line">
            <a:avLst/>
          </a:prstGeom>
          <a:noFill/>
          <a:ln w="22225">
            <a:solidFill>
              <a:srgbClr val="F2F4F6"/>
            </a:solidFill>
            <a:prstDash val="dash"/>
          </a:ln>
        </p:spPr>
      </p:sp>
      <p:sp>
        <p:nvSpPr>
          <p:cNvPr id="13" name="Shape 11"/>
          <p:cNvSpPr/>
          <p:nvPr/>
        </p:nvSpPr>
        <p:spPr>
          <a:xfrm>
            <a:off x="6172200" y="3118104"/>
            <a:ext cx="3456432" cy="2962656"/>
          </a:xfrm>
          <a:custGeom>
            <a:avLst/>
            <a:gdLst/>
            <a:ahLst/>
            <a:cxnLst/>
            <a:rect l="l" t="t" r="r" b="b"/>
            <a:pathLst>
              <a:path w="3456432" h="2962656">
                <a:moveTo>
                  <a:pt x="0" y="0"/>
                </a:moveTo>
                <a:lnTo>
                  <a:pt x="3456432" y="0"/>
                </a:lnTo>
                <a:lnTo>
                  <a:pt x="3456432" y="2963"/>
                </a:lnTo>
                <a:lnTo>
                  <a:pt x="3456432" y="2962656"/>
                </a:lnTo>
              </a:path>
            </a:pathLst>
          </a:custGeom>
          <a:noFill/>
          <a:ln w="63500">
            <a:solidFill>
              <a:srgbClr val="FFCC00"/>
            </a:solidFill>
            <a:prstDash val="solid"/>
          </a:ln>
        </p:spPr>
      </p:sp>
      <p:sp>
        <p:nvSpPr>
          <p:cNvPr id="14" name="Shape 12"/>
          <p:cNvSpPr/>
          <p:nvPr/>
        </p:nvSpPr>
        <p:spPr>
          <a:xfrm>
            <a:off x="6172200" y="4608576"/>
            <a:ext cx="1965960" cy="1472184"/>
          </a:xfrm>
          <a:custGeom>
            <a:avLst/>
            <a:gdLst/>
            <a:ahLst/>
            <a:cxnLst/>
            <a:rect l="l" t="t" r="r" b="b"/>
            <a:pathLst>
              <a:path w="1965960" h="1472184">
                <a:moveTo>
                  <a:pt x="0" y="0"/>
                </a:moveTo>
                <a:lnTo>
                  <a:pt x="1965960" y="0"/>
                </a:lnTo>
                <a:lnTo>
                  <a:pt x="1965960" y="1472"/>
                </a:lnTo>
                <a:lnTo>
                  <a:pt x="1965960" y="1472184"/>
                </a:lnTo>
              </a:path>
            </a:pathLst>
          </a:custGeom>
          <a:noFill/>
          <a:ln w="63500">
            <a:solidFill>
              <a:srgbClr val="FFCC00"/>
            </a:solidFill>
            <a:prstDash val="solid"/>
          </a:ln>
        </p:spPr>
      </p:sp>
      <p:sp>
        <p:nvSpPr>
          <p:cNvPr id="15" name="Shape 13"/>
          <p:cNvSpPr/>
          <p:nvPr/>
        </p:nvSpPr>
        <p:spPr>
          <a:xfrm>
            <a:off x="6492240" y="4864608"/>
            <a:ext cx="731520" cy="731520"/>
          </a:xfrm>
          <a:prstGeom prst="diamond">
            <a:avLst/>
          </a:prstGeom>
          <a:solidFill>
            <a:srgbClr val="4A4A4A"/>
          </a:solidFill>
          <a:ln w="12700">
            <a:solidFill>
              <a:srgbClr val="4A4A4A"/>
            </a:solidFill>
            <a:prstDash val="solid"/>
          </a:ln>
        </p:spPr>
      </p:sp>
      <p:sp>
        <p:nvSpPr>
          <p:cNvPr id="16" name="Shape 14"/>
          <p:cNvSpPr/>
          <p:nvPr/>
        </p:nvSpPr>
        <p:spPr>
          <a:xfrm>
            <a:off x="6517843" y="4890211"/>
            <a:ext cx="680314" cy="680314"/>
          </a:xfrm>
          <a:prstGeom prst="diamond">
            <a:avLst/>
          </a:prstGeom>
          <a:solidFill>
            <a:srgbClr val="FFFFFF"/>
          </a:solidFill>
          <a:ln w="12700">
            <a:solidFill>
              <a:srgbClr val="FFFFFF"/>
            </a:solidFill>
            <a:prstDash val="solid"/>
          </a:ln>
        </p:spPr>
      </p:sp>
      <p:sp>
        <p:nvSpPr>
          <p:cNvPr id="17" name="Shape 15"/>
          <p:cNvSpPr/>
          <p:nvPr/>
        </p:nvSpPr>
        <p:spPr>
          <a:xfrm>
            <a:off x="6623914" y="4996282"/>
            <a:ext cx="468173" cy="468173"/>
          </a:xfrm>
          <a:prstGeom prst="diamond">
            <a:avLst/>
          </a:prstGeom>
          <a:solidFill>
            <a:srgbClr val="FFCC00"/>
          </a:solidFill>
          <a:ln w="12700">
            <a:solidFill>
              <a:srgbClr val="FFCC00"/>
            </a:solidFill>
            <a:prstDash val="solid"/>
          </a:ln>
        </p:spPr>
      </p:sp>
      <p:sp>
        <p:nvSpPr>
          <p:cNvPr id="18" name="Shape 16"/>
          <p:cNvSpPr/>
          <p:nvPr/>
        </p:nvSpPr>
        <p:spPr>
          <a:xfrm>
            <a:off x="6528816" y="5698541"/>
            <a:ext cx="658368" cy="526694"/>
          </a:xfrm>
          <a:prstGeom prst="rect">
            <a:avLst/>
          </a:prstGeom>
          <a:solidFill>
            <a:srgbClr val="FFFFFF"/>
          </a:solidFill>
          <a:ln w="19050">
            <a:solidFill>
              <a:srgbClr val="17191C"/>
            </a:solidFill>
            <a:prstDash val="solid"/>
          </a:ln>
        </p:spPr>
      </p:sp>
      <p:sp>
        <p:nvSpPr>
          <p:cNvPr id="19" name="Shape 17"/>
          <p:cNvSpPr/>
          <p:nvPr/>
        </p:nvSpPr>
        <p:spPr>
          <a:xfrm>
            <a:off x="6848124" y="5764378"/>
            <a:ext cx="19751" cy="207386"/>
          </a:xfrm>
          <a:prstGeom prst="rect">
            <a:avLst/>
          </a:prstGeom>
          <a:solidFill>
            <a:srgbClr val="17191C"/>
          </a:solidFill>
          <a:ln w="12700">
            <a:solidFill>
              <a:srgbClr val="17191C"/>
            </a:solidFill>
            <a:prstDash val="solid"/>
          </a:ln>
        </p:spPr>
      </p:sp>
      <p:sp>
        <p:nvSpPr>
          <p:cNvPr id="20" name="Shape 18"/>
          <p:cNvSpPr/>
          <p:nvPr/>
        </p:nvSpPr>
        <p:spPr>
          <a:xfrm>
            <a:off x="6848124" y="5952012"/>
            <a:ext cx="207386" cy="19751"/>
          </a:xfrm>
          <a:prstGeom prst="rect">
            <a:avLst/>
          </a:prstGeom>
          <a:solidFill>
            <a:srgbClr val="17191C"/>
          </a:solidFill>
          <a:ln w="12700">
            <a:solidFill>
              <a:srgbClr val="17191C"/>
            </a:solidFill>
            <a:prstDash val="solid"/>
          </a:ln>
        </p:spPr>
      </p:sp>
      <p:sp>
        <p:nvSpPr>
          <p:cNvPr id="21" name="Shape 19"/>
          <p:cNvSpPr/>
          <p:nvPr/>
        </p:nvSpPr>
        <p:spPr>
          <a:xfrm>
            <a:off x="6660490" y="5919094"/>
            <a:ext cx="240304" cy="85588"/>
          </a:xfrm>
          <a:prstGeom prst="rect">
            <a:avLst/>
          </a:prstGeom>
          <a:solidFill>
            <a:srgbClr val="17191C"/>
          </a:solidFill>
          <a:ln w="12700">
            <a:solidFill>
              <a:srgbClr val="17191C"/>
            </a:solidFill>
            <a:prstDash val="solid"/>
          </a:ln>
        </p:spPr>
      </p:sp>
      <p:sp>
        <p:nvSpPr>
          <p:cNvPr id="22" name="Shape 20"/>
          <p:cNvSpPr/>
          <p:nvPr/>
        </p:nvSpPr>
        <p:spPr>
          <a:xfrm>
            <a:off x="6815206" y="5919094"/>
            <a:ext cx="85588" cy="240304"/>
          </a:xfrm>
          <a:prstGeom prst="rect">
            <a:avLst/>
          </a:prstGeom>
          <a:solidFill>
            <a:srgbClr val="17191C"/>
          </a:solidFill>
          <a:ln w="12700">
            <a:solidFill>
              <a:srgbClr val="17191C"/>
            </a:solidFill>
            <a:prstDash val="solid"/>
          </a:ln>
        </p:spPr>
      </p:sp>
      <p:sp>
        <p:nvSpPr>
          <p:cNvPr id="23" name="Shape 21"/>
          <p:cNvSpPr/>
          <p:nvPr/>
        </p:nvSpPr>
        <p:spPr>
          <a:xfrm>
            <a:off x="6172200" y="4025646"/>
            <a:ext cx="896112" cy="475488"/>
          </a:xfrm>
          <a:prstGeom prst="roundRect">
            <a:avLst>
              <a:gd name="adj" fmla="val 25000"/>
            </a:avLst>
          </a:prstGeom>
          <a:solidFill>
            <a:srgbClr val="12A150"/>
          </a:solidFill>
          <a:ln w="15875">
            <a:solidFill>
              <a:srgbClr val="FFFFFF"/>
            </a:solidFill>
            <a:prstDash val="solid"/>
          </a:ln>
        </p:spPr>
      </p:sp>
      <p:sp>
        <p:nvSpPr>
          <p:cNvPr id="24" name="Shape 22"/>
          <p:cNvSpPr/>
          <p:nvPr/>
        </p:nvSpPr>
        <p:spPr>
          <a:xfrm>
            <a:off x="6702552" y="4098798"/>
            <a:ext cx="182880" cy="329184"/>
          </a:xfrm>
          <a:prstGeom prst="roundRect">
            <a:avLst>
              <a:gd name="adj" fmla="val 30000"/>
            </a:avLst>
          </a:prstGeom>
          <a:solidFill>
            <a:srgbClr val="1B1F24"/>
          </a:solidFill>
          <a:ln w="12700">
            <a:solidFill>
              <a:srgbClr val="1B1F24"/>
            </a:solidFill>
            <a:prstDash val="solid"/>
          </a:ln>
        </p:spPr>
      </p:sp>
      <p:sp>
        <p:nvSpPr>
          <p:cNvPr id="25" name="Shape 23"/>
          <p:cNvSpPr/>
          <p:nvPr/>
        </p:nvSpPr>
        <p:spPr>
          <a:xfrm>
            <a:off x="6899148" y="4441698"/>
            <a:ext cx="118872" cy="118872"/>
          </a:xfrm>
          <a:prstGeom prst="ellipse">
            <a:avLst/>
          </a:prstGeom>
          <a:solidFill>
            <a:srgbClr val="F7B500"/>
          </a:solidFill>
          <a:ln w="9525">
            <a:solidFill>
              <a:srgbClr val="FFFFFF"/>
            </a:solidFill>
            <a:prstDash val="solid"/>
          </a:ln>
        </p:spPr>
      </p:sp>
      <p:sp>
        <p:nvSpPr>
          <p:cNvPr id="26" name="Shape 24"/>
          <p:cNvSpPr/>
          <p:nvPr/>
        </p:nvSpPr>
        <p:spPr>
          <a:xfrm>
            <a:off x="6222492" y="4441698"/>
            <a:ext cx="118872" cy="118872"/>
          </a:xfrm>
          <a:prstGeom prst="ellipse">
            <a:avLst/>
          </a:prstGeom>
          <a:solidFill>
            <a:srgbClr val="F7B500"/>
          </a:solidFill>
          <a:ln w="9525">
            <a:solidFill>
              <a:srgbClr val="FFFFFF"/>
            </a:solidFill>
            <a:prstDash val="solid"/>
          </a:ln>
        </p:spPr>
      </p:sp>
      <p:sp>
        <p:nvSpPr>
          <p:cNvPr id="27" name="Shape 25"/>
          <p:cNvSpPr/>
          <p:nvPr/>
        </p:nvSpPr>
        <p:spPr>
          <a:xfrm>
            <a:off x="7123176" y="4263390"/>
            <a:ext cx="1360170" cy="746608"/>
          </a:xfrm>
          <a:custGeom>
            <a:avLst/>
            <a:gdLst/>
            <a:ahLst/>
            <a:cxnLst/>
            <a:rect l="l" t="t" r="r" b="b"/>
            <a:pathLst>
              <a:path w="1360170" h="746608">
                <a:moveTo>
                  <a:pt x="0" y="0"/>
                </a:moveTo>
                <a:quadBezTo>
                  <a:pt x="1360170" y="0"/>
                  <a:pt x="1360170" y="746608"/>
                </a:quadBezTo>
              </a:path>
            </a:pathLst>
          </a:custGeom>
          <a:noFill/>
          <a:ln w="44450">
            <a:solidFill>
              <a:srgbClr val="FFFFFF"/>
            </a:solidFill>
            <a:prstDash val="solid"/>
          </a:ln>
        </p:spPr>
      </p:sp>
      <p:sp>
        <p:nvSpPr>
          <p:cNvPr id="28" name="Shape 26"/>
          <p:cNvSpPr/>
          <p:nvPr/>
        </p:nvSpPr>
        <p:spPr>
          <a:xfrm rot="10800000">
            <a:off x="8364474" y="4974336"/>
            <a:ext cx="237744" cy="237744"/>
          </a:xfrm>
          <a:prstGeom prst="triangle">
            <a:avLst/>
          </a:prstGeom>
          <a:solidFill>
            <a:srgbClr val="FFFFFF"/>
          </a:solidFill>
          <a:ln w="12700">
            <a:solidFill>
              <a:srgbClr val="FFFFFF"/>
            </a:solidFill>
            <a:prstDash val="solid"/>
          </a:ln>
        </p:spPr>
      </p:sp>
      <p:sp>
        <p:nvSpPr>
          <p:cNvPr id="29" name="Text 27"/>
          <p:cNvSpPr txBox="1"/>
          <p:nvPr/>
        </p:nvSpPr>
        <p:spPr>
          <a:xfrm>
            <a:off x="6309360" y="2679192"/>
            <a:ext cx="2286000" cy="292608"/>
          </a:xfrm>
          <a:prstGeom prst="rect">
            <a:avLst/>
          </a:prstGeom>
          <a:noFill/>
          <a:ln/>
        </p:spPr>
        <p:txBody>
          <a:bodyPr wrap="square" lIns="0" tIns="0" rIns="0" bIns="0" rtlCol="0" anchor="t"/>
          <a:lstStyle/>
          <a:p>
            <a:pPr indent="0" marL="0">
              <a:buNone/>
            </a:pPr>
            <a:r>
              <a:rPr lang="en-US" sz="1300" b="1" dirty="0">
                <a:solidFill>
                  <a:srgbClr val="15181D"/>
                </a:solidFill>
                <a:latin typeface="Arial" pitchFamily="34" charset="0"/>
                <a:ea typeface="Arial" pitchFamily="34" charset="-122"/>
                <a:cs typeface="Arial" pitchFamily="34" charset="-120"/>
              </a:rPr>
              <a:t>Vorfahrtstraße</a:t>
            </a:r>
            <a:endParaRPr lang="en-US" sz="1300" dirty="0"/>
          </a:p>
        </p:txBody>
      </p:sp>
      <p:sp>
        <p:nvSpPr>
          <p:cNvPr id="30" name="Shape 28"/>
          <p:cNvSpPr/>
          <p:nvPr/>
        </p:nvSpPr>
        <p:spPr>
          <a:xfrm>
            <a:off x="580644" y="1888236"/>
            <a:ext cx="155448" cy="155448"/>
          </a:xfrm>
          <a:prstGeom prst="ellipse">
            <a:avLst/>
          </a:prstGeom>
          <a:solidFill>
            <a:srgbClr val="FF9300"/>
          </a:solidFill>
          <a:ln w="12700">
            <a:solidFill>
              <a:srgbClr val="FF9300"/>
            </a:solidFill>
            <a:prstDash val="solid"/>
          </a:ln>
        </p:spPr>
      </p:sp>
      <p:sp>
        <p:nvSpPr>
          <p:cNvPr id="31" name="Text 29"/>
          <p:cNvSpPr txBox="1"/>
          <p:nvPr/>
        </p:nvSpPr>
        <p:spPr>
          <a:xfrm>
            <a:off x="932688" y="1783080"/>
            <a:ext cx="4828032" cy="93268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Verlauf: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Das Zusatzzeichen zeigt, wohin die Vorfahrtstraße knickt (dicke Linie).</a:t>
            </a:r>
            <a:endParaRPr lang="en-US" sz="1900" dirty="0"/>
          </a:p>
        </p:txBody>
      </p:sp>
      <p:sp>
        <p:nvSpPr>
          <p:cNvPr id="32" name="Shape 30"/>
          <p:cNvSpPr/>
          <p:nvPr/>
        </p:nvSpPr>
        <p:spPr>
          <a:xfrm>
            <a:off x="580644" y="2894076"/>
            <a:ext cx="155448" cy="155448"/>
          </a:xfrm>
          <a:prstGeom prst="ellipse">
            <a:avLst/>
          </a:prstGeom>
          <a:solidFill>
            <a:srgbClr val="FF9300"/>
          </a:solidFill>
          <a:ln w="12700">
            <a:solidFill>
              <a:srgbClr val="FF9300"/>
            </a:solidFill>
            <a:prstDash val="solid"/>
          </a:ln>
        </p:spPr>
      </p:sp>
      <p:sp>
        <p:nvSpPr>
          <p:cNvPr id="33" name="Text 31"/>
          <p:cNvSpPr txBox="1"/>
          <p:nvPr/>
        </p:nvSpPr>
        <p:spPr>
          <a:xfrm>
            <a:off x="932688" y="2788920"/>
            <a:ext cx="4828032" cy="93268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Folgst du dem Knick: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blinken.</a:t>
            </a:r>
            <a:endParaRPr lang="en-US" sz="1900" dirty="0"/>
          </a:p>
        </p:txBody>
      </p:sp>
      <p:sp>
        <p:nvSpPr>
          <p:cNvPr id="34" name="Shape 32"/>
          <p:cNvSpPr/>
          <p:nvPr/>
        </p:nvSpPr>
        <p:spPr>
          <a:xfrm>
            <a:off x="580644" y="3899916"/>
            <a:ext cx="155448" cy="155448"/>
          </a:xfrm>
          <a:prstGeom prst="ellipse">
            <a:avLst/>
          </a:prstGeom>
          <a:solidFill>
            <a:srgbClr val="FF9300"/>
          </a:solidFill>
          <a:ln w="12700">
            <a:solidFill>
              <a:srgbClr val="FF9300"/>
            </a:solidFill>
            <a:prstDash val="solid"/>
          </a:ln>
        </p:spPr>
      </p:sp>
      <p:sp>
        <p:nvSpPr>
          <p:cNvPr id="35" name="Text 33"/>
          <p:cNvSpPr txBox="1"/>
          <p:nvPr/>
        </p:nvSpPr>
        <p:spPr>
          <a:xfrm>
            <a:off x="932688" y="3794760"/>
            <a:ext cx="4828032" cy="93268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Fußgänger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besonders beachten, notfalls warten.</a:t>
            </a:r>
            <a:endParaRPr lang="en-US" sz="1900" dirty="0"/>
          </a:p>
        </p:txBody>
      </p:sp>
      <p:sp>
        <p:nvSpPr>
          <p:cNvPr id="36" name="Shape 34"/>
          <p:cNvSpPr/>
          <p:nvPr/>
        </p:nvSpPr>
        <p:spPr>
          <a:xfrm>
            <a:off x="580644" y="4905756"/>
            <a:ext cx="155448" cy="155448"/>
          </a:xfrm>
          <a:prstGeom prst="ellipse">
            <a:avLst/>
          </a:prstGeom>
          <a:solidFill>
            <a:srgbClr val="FF9300"/>
          </a:solidFill>
          <a:ln w="12700">
            <a:solidFill>
              <a:srgbClr val="FF9300"/>
            </a:solidFill>
            <a:prstDash val="solid"/>
          </a:ln>
        </p:spPr>
      </p:sp>
      <p:sp>
        <p:nvSpPr>
          <p:cNvPr id="37" name="Text 35"/>
          <p:cNvSpPr txBox="1"/>
          <p:nvPr/>
        </p:nvSpPr>
        <p:spPr>
          <a:xfrm>
            <a:off x="932688" y="4800600"/>
            <a:ext cx="4828032" cy="932688"/>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Die Wartepflichtigen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untereinander: rechts vor links.</a:t>
            </a:r>
            <a:endParaRPr lang="en-US" sz="19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FRAGE · ABKNICKENDE VORFAHRT</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Wer fährt zuerst?</a:t>
            </a:r>
            <a:endParaRPr lang="en-US" sz="3200" dirty="0"/>
          </a:p>
        </p:txBody>
      </p:sp>
      <p:sp>
        <p:nvSpPr>
          <p:cNvPr id="4" name="Shape 2"/>
          <p:cNvSpPr/>
          <p:nvPr/>
        </p:nvSpPr>
        <p:spPr>
          <a:xfrm>
            <a:off x="5669280" y="1600200"/>
            <a:ext cx="5971032" cy="4526280"/>
          </a:xfrm>
          <a:prstGeom prst="roundRect">
            <a:avLst>
              <a:gd name="adj" fmla="val 4444"/>
            </a:avLst>
          </a:prstGeom>
          <a:solidFill>
            <a:srgbClr val="1C2129"/>
          </a:solidFill>
          <a:ln w="12700">
            <a:solidFill>
              <a:srgbClr val="1C2129"/>
            </a:solidFill>
            <a:prstDash val="solid"/>
          </a:ln>
        </p:spPr>
      </p:sp>
      <p:sp>
        <p:nvSpPr>
          <p:cNvPr id="5" name="Shape 3"/>
          <p:cNvSpPr/>
          <p:nvPr/>
        </p:nvSpPr>
        <p:spPr>
          <a:xfrm>
            <a:off x="7854696" y="1600200"/>
            <a:ext cx="1600200" cy="4526280"/>
          </a:xfrm>
          <a:prstGeom prst="rect">
            <a:avLst/>
          </a:prstGeom>
          <a:solidFill>
            <a:srgbClr val="3B414A"/>
          </a:solidFill>
          <a:ln w="12700">
            <a:solidFill>
              <a:srgbClr val="3B414A"/>
            </a:solidFill>
            <a:prstDash val="solid"/>
          </a:ln>
        </p:spPr>
      </p:sp>
      <p:sp>
        <p:nvSpPr>
          <p:cNvPr id="6" name="Shape 4"/>
          <p:cNvSpPr/>
          <p:nvPr/>
        </p:nvSpPr>
        <p:spPr>
          <a:xfrm>
            <a:off x="5669280" y="3063240"/>
            <a:ext cx="5971032" cy="1600200"/>
          </a:xfrm>
          <a:prstGeom prst="rect">
            <a:avLst/>
          </a:prstGeom>
          <a:solidFill>
            <a:srgbClr val="3B414A"/>
          </a:solidFill>
          <a:ln w="12700">
            <a:solidFill>
              <a:srgbClr val="3B414A"/>
            </a:solidFill>
            <a:prstDash val="solid"/>
          </a:ln>
        </p:spPr>
      </p:sp>
      <p:sp>
        <p:nvSpPr>
          <p:cNvPr id="7" name="Shape 5"/>
          <p:cNvSpPr/>
          <p:nvPr/>
        </p:nvSpPr>
        <p:spPr>
          <a:xfrm>
            <a:off x="8654796" y="1709928"/>
            <a:ext cx="0" cy="1243584"/>
          </a:xfrm>
          <a:prstGeom prst="line">
            <a:avLst/>
          </a:prstGeom>
          <a:noFill/>
          <a:ln w="22225">
            <a:solidFill>
              <a:srgbClr val="F2F4F6"/>
            </a:solidFill>
            <a:prstDash val="dash"/>
          </a:ln>
        </p:spPr>
      </p:sp>
      <p:sp>
        <p:nvSpPr>
          <p:cNvPr id="8" name="Shape 6"/>
          <p:cNvSpPr/>
          <p:nvPr/>
        </p:nvSpPr>
        <p:spPr>
          <a:xfrm>
            <a:off x="8654796" y="4773168"/>
            <a:ext cx="0" cy="1243584"/>
          </a:xfrm>
          <a:prstGeom prst="line">
            <a:avLst/>
          </a:prstGeom>
          <a:noFill/>
          <a:ln w="22225">
            <a:solidFill>
              <a:srgbClr val="F2F4F6"/>
            </a:solidFill>
            <a:prstDash val="dash"/>
          </a:ln>
        </p:spPr>
      </p:sp>
      <p:sp>
        <p:nvSpPr>
          <p:cNvPr id="9" name="Shape 7"/>
          <p:cNvSpPr/>
          <p:nvPr/>
        </p:nvSpPr>
        <p:spPr>
          <a:xfrm>
            <a:off x="5779008" y="3863340"/>
            <a:ext cx="1965960" cy="0"/>
          </a:xfrm>
          <a:prstGeom prst="line">
            <a:avLst/>
          </a:prstGeom>
          <a:noFill/>
          <a:ln w="22225">
            <a:solidFill>
              <a:srgbClr val="F2F4F6"/>
            </a:solidFill>
            <a:prstDash val="dash"/>
          </a:ln>
        </p:spPr>
      </p:sp>
      <p:sp>
        <p:nvSpPr>
          <p:cNvPr id="10" name="Shape 8"/>
          <p:cNvSpPr/>
          <p:nvPr/>
        </p:nvSpPr>
        <p:spPr>
          <a:xfrm>
            <a:off x="9564624" y="3863340"/>
            <a:ext cx="1965960" cy="0"/>
          </a:xfrm>
          <a:prstGeom prst="line">
            <a:avLst/>
          </a:prstGeom>
          <a:noFill/>
          <a:ln w="22225">
            <a:solidFill>
              <a:srgbClr val="F2F4F6"/>
            </a:solidFill>
            <a:prstDash val="dash"/>
          </a:ln>
        </p:spPr>
      </p:sp>
      <p:sp>
        <p:nvSpPr>
          <p:cNvPr id="11" name="Shape 9"/>
          <p:cNvSpPr/>
          <p:nvPr/>
        </p:nvSpPr>
        <p:spPr>
          <a:xfrm>
            <a:off x="5715000" y="3118104"/>
            <a:ext cx="3685032" cy="2962656"/>
          </a:xfrm>
          <a:custGeom>
            <a:avLst/>
            <a:gdLst/>
            <a:ahLst/>
            <a:cxnLst/>
            <a:rect l="l" t="t" r="r" b="b"/>
            <a:pathLst>
              <a:path w="3685032" h="2962656">
                <a:moveTo>
                  <a:pt x="0" y="0"/>
                </a:moveTo>
                <a:lnTo>
                  <a:pt x="3685032" y="0"/>
                </a:lnTo>
                <a:lnTo>
                  <a:pt x="3685032" y="2963"/>
                </a:lnTo>
                <a:lnTo>
                  <a:pt x="3685032" y="2962656"/>
                </a:lnTo>
              </a:path>
            </a:pathLst>
          </a:custGeom>
          <a:noFill/>
          <a:ln w="63500">
            <a:solidFill>
              <a:srgbClr val="FFCC00"/>
            </a:solidFill>
            <a:prstDash val="solid"/>
          </a:ln>
        </p:spPr>
      </p:sp>
      <p:sp>
        <p:nvSpPr>
          <p:cNvPr id="12" name="Shape 10"/>
          <p:cNvSpPr/>
          <p:nvPr/>
        </p:nvSpPr>
        <p:spPr>
          <a:xfrm>
            <a:off x="5715000" y="4608576"/>
            <a:ext cx="2194560" cy="1472184"/>
          </a:xfrm>
          <a:custGeom>
            <a:avLst/>
            <a:gdLst/>
            <a:ahLst/>
            <a:cxnLst/>
            <a:rect l="l" t="t" r="r" b="b"/>
            <a:pathLst>
              <a:path w="2194560" h="1472184">
                <a:moveTo>
                  <a:pt x="0" y="0"/>
                </a:moveTo>
                <a:lnTo>
                  <a:pt x="2194560" y="0"/>
                </a:lnTo>
                <a:lnTo>
                  <a:pt x="2194560" y="1472"/>
                </a:lnTo>
                <a:lnTo>
                  <a:pt x="2194560" y="1472184"/>
                </a:lnTo>
              </a:path>
            </a:pathLst>
          </a:custGeom>
          <a:noFill/>
          <a:ln w="63500">
            <a:solidFill>
              <a:srgbClr val="FFCC00"/>
            </a:solidFill>
            <a:prstDash val="solid"/>
          </a:ln>
        </p:spPr>
      </p:sp>
      <p:sp>
        <p:nvSpPr>
          <p:cNvPr id="13" name="Shape 11"/>
          <p:cNvSpPr/>
          <p:nvPr/>
        </p:nvSpPr>
        <p:spPr>
          <a:xfrm>
            <a:off x="6492240" y="4025646"/>
            <a:ext cx="896112" cy="475488"/>
          </a:xfrm>
          <a:prstGeom prst="roundRect">
            <a:avLst>
              <a:gd name="adj" fmla="val 25000"/>
            </a:avLst>
          </a:prstGeom>
          <a:solidFill>
            <a:srgbClr val="12A150"/>
          </a:solidFill>
          <a:ln w="15875">
            <a:solidFill>
              <a:srgbClr val="FFFFFF"/>
            </a:solidFill>
            <a:prstDash val="solid"/>
          </a:ln>
        </p:spPr>
      </p:sp>
      <p:sp>
        <p:nvSpPr>
          <p:cNvPr id="14" name="Shape 12"/>
          <p:cNvSpPr/>
          <p:nvPr/>
        </p:nvSpPr>
        <p:spPr>
          <a:xfrm>
            <a:off x="7022592" y="4098798"/>
            <a:ext cx="182880" cy="329184"/>
          </a:xfrm>
          <a:prstGeom prst="roundRect">
            <a:avLst>
              <a:gd name="adj" fmla="val 30000"/>
            </a:avLst>
          </a:prstGeom>
          <a:solidFill>
            <a:srgbClr val="1B1F24"/>
          </a:solidFill>
          <a:ln w="12700">
            <a:solidFill>
              <a:srgbClr val="1B1F24"/>
            </a:solidFill>
            <a:prstDash val="solid"/>
          </a:ln>
        </p:spPr>
      </p:sp>
      <p:sp>
        <p:nvSpPr>
          <p:cNvPr id="15" name="Shape 13"/>
          <p:cNvSpPr/>
          <p:nvPr/>
        </p:nvSpPr>
        <p:spPr>
          <a:xfrm>
            <a:off x="7219188" y="4441698"/>
            <a:ext cx="118872" cy="118872"/>
          </a:xfrm>
          <a:prstGeom prst="ellipse">
            <a:avLst/>
          </a:prstGeom>
          <a:solidFill>
            <a:srgbClr val="F7B500"/>
          </a:solidFill>
          <a:ln w="9525">
            <a:solidFill>
              <a:srgbClr val="FFFFFF"/>
            </a:solidFill>
            <a:prstDash val="solid"/>
          </a:ln>
        </p:spPr>
      </p:sp>
      <p:sp>
        <p:nvSpPr>
          <p:cNvPr id="16" name="Shape 14"/>
          <p:cNvSpPr/>
          <p:nvPr/>
        </p:nvSpPr>
        <p:spPr>
          <a:xfrm>
            <a:off x="6542532" y="4441698"/>
            <a:ext cx="118872" cy="118872"/>
          </a:xfrm>
          <a:prstGeom prst="ellipse">
            <a:avLst/>
          </a:prstGeom>
          <a:solidFill>
            <a:srgbClr val="F7B500"/>
          </a:solidFill>
          <a:ln w="9525">
            <a:solidFill>
              <a:srgbClr val="FFFFFF"/>
            </a:solidFill>
            <a:prstDash val="solid"/>
          </a:ln>
        </p:spPr>
      </p:sp>
      <p:sp>
        <p:nvSpPr>
          <p:cNvPr id="17" name="Shape 15"/>
          <p:cNvSpPr/>
          <p:nvPr/>
        </p:nvSpPr>
        <p:spPr>
          <a:xfrm>
            <a:off x="8017002" y="1929384"/>
            <a:ext cx="475488" cy="896112"/>
          </a:xfrm>
          <a:prstGeom prst="roundRect">
            <a:avLst>
              <a:gd name="adj" fmla="val 25000"/>
            </a:avLst>
          </a:prstGeom>
          <a:solidFill>
            <a:srgbClr val="FF9300"/>
          </a:solidFill>
          <a:ln w="15875">
            <a:solidFill>
              <a:srgbClr val="FFFFFF"/>
            </a:solidFill>
            <a:prstDash val="solid"/>
          </a:ln>
        </p:spPr>
      </p:sp>
      <p:sp>
        <p:nvSpPr>
          <p:cNvPr id="18" name="Shape 16"/>
          <p:cNvSpPr/>
          <p:nvPr/>
        </p:nvSpPr>
        <p:spPr>
          <a:xfrm>
            <a:off x="8090154" y="2459736"/>
            <a:ext cx="329184" cy="182880"/>
          </a:xfrm>
          <a:prstGeom prst="roundRect">
            <a:avLst>
              <a:gd name="adj" fmla="val 30000"/>
            </a:avLst>
          </a:prstGeom>
          <a:solidFill>
            <a:srgbClr val="1B1F24"/>
          </a:solidFill>
          <a:ln w="12700">
            <a:solidFill>
              <a:srgbClr val="1B1F24"/>
            </a:solidFill>
            <a:prstDash val="solid"/>
          </a:ln>
        </p:spPr>
      </p:sp>
      <p:sp>
        <p:nvSpPr>
          <p:cNvPr id="19" name="Text 17"/>
          <p:cNvSpPr txBox="1"/>
          <p:nvPr/>
        </p:nvSpPr>
        <p:spPr>
          <a:xfrm>
            <a:off x="7980426" y="212140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20" name="Shape 18"/>
          <p:cNvSpPr/>
          <p:nvPr/>
        </p:nvSpPr>
        <p:spPr>
          <a:xfrm>
            <a:off x="9875520" y="3225546"/>
            <a:ext cx="896112" cy="475488"/>
          </a:xfrm>
          <a:prstGeom prst="roundRect">
            <a:avLst>
              <a:gd name="adj" fmla="val 25000"/>
            </a:avLst>
          </a:prstGeom>
          <a:solidFill>
            <a:srgbClr val="3B82F6"/>
          </a:solidFill>
          <a:ln w="15875">
            <a:solidFill>
              <a:srgbClr val="FFFFFF"/>
            </a:solidFill>
            <a:prstDash val="solid"/>
          </a:ln>
        </p:spPr>
      </p:sp>
      <p:sp>
        <p:nvSpPr>
          <p:cNvPr id="21" name="Shape 19"/>
          <p:cNvSpPr/>
          <p:nvPr/>
        </p:nvSpPr>
        <p:spPr>
          <a:xfrm>
            <a:off x="10058400" y="3298698"/>
            <a:ext cx="182880" cy="329184"/>
          </a:xfrm>
          <a:prstGeom prst="roundRect">
            <a:avLst>
              <a:gd name="adj" fmla="val 30000"/>
            </a:avLst>
          </a:prstGeom>
          <a:solidFill>
            <a:srgbClr val="1B1F24"/>
          </a:solidFill>
          <a:ln w="12700">
            <a:solidFill>
              <a:srgbClr val="1B1F24"/>
            </a:solidFill>
            <a:prstDash val="solid"/>
          </a:ln>
        </p:spPr>
      </p:sp>
      <p:sp>
        <p:nvSpPr>
          <p:cNvPr id="22" name="Shape 20"/>
          <p:cNvSpPr/>
          <p:nvPr/>
        </p:nvSpPr>
        <p:spPr>
          <a:xfrm>
            <a:off x="7443216" y="4263390"/>
            <a:ext cx="811530" cy="655168"/>
          </a:xfrm>
          <a:custGeom>
            <a:avLst/>
            <a:gdLst/>
            <a:ahLst/>
            <a:cxnLst/>
            <a:rect l="l" t="t" r="r" b="b"/>
            <a:pathLst>
              <a:path w="811530" h="655168">
                <a:moveTo>
                  <a:pt x="0" y="0"/>
                </a:moveTo>
                <a:quadBezTo>
                  <a:pt x="811530" y="0"/>
                  <a:pt x="811530" y="655168"/>
                </a:quadBezTo>
              </a:path>
            </a:pathLst>
          </a:custGeom>
          <a:noFill/>
          <a:ln w="44450">
            <a:solidFill>
              <a:srgbClr val="FFFFFF"/>
            </a:solidFill>
            <a:prstDash val="solid"/>
          </a:ln>
        </p:spPr>
      </p:sp>
      <p:sp>
        <p:nvSpPr>
          <p:cNvPr id="23" name="Shape 21"/>
          <p:cNvSpPr/>
          <p:nvPr/>
        </p:nvSpPr>
        <p:spPr>
          <a:xfrm rot="10800000">
            <a:off x="8135874" y="4882896"/>
            <a:ext cx="237744" cy="237744"/>
          </a:xfrm>
          <a:prstGeom prst="triangle">
            <a:avLst/>
          </a:prstGeom>
          <a:solidFill>
            <a:srgbClr val="FFFFFF"/>
          </a:solidFill>
          <a:ln w="12700">
            <a:solidFill>
              <a:srgbClr val="FFFFFF"/>
            </a:solidFill>
            <a:prstDash val="solid"/>
          </a:ln>
        </p:spPr>
      </p:sp>
      <p:sp>
        <p:nvSpPr>
          <p:cNvPr id="24" name="Shape 22"/>
          <p:cNvSpPr/>
          <p:nvPr/>
        </p:nvSpPr>
        <p:spPr>
          <a:xfrm>
            <a:off x="8254746" y="2880360"/>
            <a:ext cx="18288" cy="2038198"/>
          </a:xfrm>
          <a:custGeom>
            <a:avLst/>
            <a:gdLst/>
            <a:ahLst/>
            <a:cxnLst/>
            <a:rect l="l" t="t" r="r" b="b"/>
            <a:pathLst>
              <a:path w="18288" h="2038198">
                <a:moveTo>
                  <a:pt x="0" y="0"/>
                </a:moveTo>
                <a:lnTo>
                  <a:pt x="0" y="2038198"/>
                </a:lnTo>
              </a:path>
            </a:pathLst>
          </a:custGeom>
          <a:noFill/>
          <a:ln w="44450">
            <a:solidFill>
              <a:srgbClr val="FF9300"/>
            </a:solidFill>
            <a:prstDash val="dash"/>
          </a:ln>
        </p:spPr>
      </p:sp>
      <p:sp>
        <p:nvSpPr>
          <p:cNvPr id="25" name="Shape 23"/>
          <p:cNvSpPr/>
          <p:nvPr/>
        </p:nvSpPr>
        <p:spPr>
          <a:xfrm rot="10800000">
            <a:off x="8135874" y="4882896"/>
            <a:ext cx="237744" cy="237744"/>
          </a:xfrm>
          <a:prstGeom prst="triangle">
            <a:avLst/>
          </a:prstGeom>
          <a:solidFill>
            <a:srgbClr val="FF9300"/>
          </a:solidFill>
          <a:ln w="12700">
            <a:solidFill>
              <a:srgbClr val="FF9300"/>
            </a:solidFill>
            <a:prstDash val="solid"/>
          </a:ln>
        </p:spPr>
      </p:sp>
      <p:sp>
        <p:nvSpPr>
          <p:cNvPr id="26" name="Shape 24"/>
          <p:cNvSpPr/>
          <p:nvPr/>
        </p:nvSpPr>
        <p:spPr>
          <a:xfrm>
            <a:off x="7599578" y="3463290"/>
            <a:ext cx="2221078" cy="18288"/>
          </a:xfrm>
          <a:custGeom>
            <a:avLst/>
            <a:gdLst/>
            <a:ahLst/>
            <a:cxnLst/>
            <a:rect l="l" t="t" r="r" b="b"/>
            <a:pathLst>
              <a:path w="2221078" h="18288">
                <a:moveTo>
                  <a:pt x="2221078" y="0"/>
                </a:moveTo>
                <a:lnTo>
                  <a:pt x="0" y="0"/>
                </a:lnTo>
              </a:path>
            </a:pathLst>
          </a:custGeom>
          <a:noFill/>
          <a:ln w="44450">
            <a:solidFill>
              <a:srgbClr val="FFFFFF"/>
            </a:solidFill>
            <a:prstDash val="solid"/>
          </a:ln>
        </p:spPr>
      </p:sp>
      <p:sp>
        <p:nvSpPr>
          <p:cNvPr id="27" name="Shape 25"/>
          <p:cNvSpPr/>
          <p:nvPr/>
        </p:nvSpPr>
        <p:spPr>
          <a:xfrm rot="16200000">
            <a:off x="7397496" y="3344418"/>
            <a:ext cx="237744" cy="237744"/>
          </a:xfrm>
          <a:prstGeom prst="triangle">
            <a:avLst/>
          </a:prstGeom>
          <a:solidFill>
            <a:srgbClr val="FFFFFF"/>
          </a:solidFill>
          <a:ln w="12700">
            <a:solidFill>
              <a:srgbClr val="FFFFFF"/>
            </a:solidFill>
            <a:prstDash val="solid"/>
          </a:ln>
        </p:spPr>
      </p:sp>
      <p:sp>
        <p:nvSpPr>
          <p:cNvPr id="28" name="Shape 26"/>
          <p:cNvSpPr/>
          <p:nvPr/>
        </p:nvSpPr>
        <p:spPr>
          <a:xfrm>
            <a:off x="580644" y="1888236"/>
            <a:ext cx="155448" cy="155448"/>
          </a:xfrm>
          <a:prstGeom prst="ellipse">
            <a:avLst/>
          </a:prstGeom>
          <a:solidFill>
            <a:srgbClr val="FF9300"/>
          </a:solidFill>
          <a:ln w="12700">
            <a:solidFill>
              <a:srgbClr val="FF9300"/>
            </a:solidFill>
            <a:prstDash val="solid"/>
          </a:ln>
        </p:spPr>
      </p:sp>
      <p:sp>
        <p:nvSpPr>
          <p:cNvPr id="29" name="Text 27"/>
          <p:cNvSpPr txBox="1"/>
          <p:nvPr/>
        </p:nvSpPr>
        <p:spPr>
          <a:xfrm>
            <a:off x="932688" y="1783080"/>
            <a:ext cx="4370832" cy="102412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Gelbe Linien: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Verlauf der Vorfahrtstraße (von links nach unten).</a:t>
            </a:r>
            <a:endParaRPr lang="en-US" sz="2100" dirty="0"/>
          </a:p>
        </p:txBody>
      </p:sp>
      <p:sp>
        <p:nvSpPr>
          <p:cNvPr id="30" name="Shape 28"/>
          <p:cNvSpPr/>
          <p:nvPr/>
        </p:nvSpPr>
        <p:spPr>
          <a:xfrm>
            <a:off x="580644" y="2985516"/>
            <a:ext cx="155448" cy="155448"/>
          </a:xfrm>
          <a:prstGeom prst="ellipse">
            <a:avLst/>
          </a:prstGeom>
          <a:solidFill>
            <a:srgbClr val="FF9300"/>
          </a:solidFill>
          <a:ln w="12700">
            <a:solidFill>
              <a:srgbClr val="FF9300"/>
            </a:solidFill>
            <a:prstDash val="solid"/>
          </a:ln>
        </p:spPr>
      </p:sp>
      <p:sp>
        <p:nvSpPr>
          <p:cNvPr id="31" name="Text 29"/>
          <p:cNvSpPr txBox="1"/>
          <p:nvPr/>
        </p:nvSpPr>
        <p:spPr>
          <a:xfrm>
            <a:off x="932688" y="2880360"/>
            <a:ext cx="4370832" cy="102412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Grün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folgt dem Knick, du und Blau wollen geradeaus.</a:t>
            </a:r>
            <a:endParaRPr lang="en-US" sz="2100" dirty="0"/>
          </a:p>
        </p:txBody>
      </p:sp>
      <p:sp>
        <p:nvSpPr>
          <p:cNvPr id="32" name="Shape 30"/>
          <p:cNvSpPr/>
          <p:nvPr/>
        </p:nvSpPr>
        <p:spPr>
          <a:xfrm>
            <a:off x="580644" y="4082796"/>
            <a:ext cx="155448" cy="155448"/>
          </a:xfrm>
          <a:prstGeom prst="ellipse">
            <a:avLst/>
          </a:prstGeom>
          <a:solidFill>
            <a:srgbClr val="FF9300"/>
          </a:solidFill>
          <a:ln w="12700">
            <a:solidFill>
              <a:srgbClr val="FF9300"/>
            </a:solidFill>
            <a:prstDash val="solid"/>
          </a:ln>
        </p:spPr>
      </p:sp>
      <p:sp>
        <p:nvSpPr>
          <p:cNvPr id="33" name="Text 31"/>
          <p:cNvSpPr txBox="1"/>
          <p:nvPr/>
        </p:nvSpPr>
        <p:spPr>
          <a:xfrm>
            <a:off x="932688" y="3977640"/>
            <a:ext cx="4370832" cy="102412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Ordne: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Grün, Blau und du.</a:t>
            </a:r>
            <a:endParaRPr lang="en-US" sz="2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AUFLÖSUNG</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Grün, dann du, dann Blau</a:t>
            </a:r>
            <a:endParaRPr lang="en-US" sz="3200" dirty="0"/>
          </a:p>
        </p:txBody>
      </p:sp>
      <p:sp>
        <p:nvSpPr>
          <p:cNvPr id="4" name="Shape 2"/>
          <p:cNvSpPr/>
          <p:nvPr/>
        </p:nvSpPr>
        <p:spPr>
          <a:xfrm>
            <a:off x="5669280" y="1600200"/>
            <a:ext cx="5971032" cy="4526280"/>
          </a:xfrm>
          <a:prstGeom prst="roundRect">
            <a:avLst>
              <a:gd name="adj" fmla="val 4444"/>
            </a:avLst>
          </a:prstGeom>
          <a:solidFill>
            <a:srgbClr val="1C2129"/>
          </a:solidFill>
          <a:ln w="12700">
            <a:solidFill>
              <a:srgbClr val="1C2129"/>
            </a:solidFill>
            <a:prstDash val="solid"/>
          </a:ln>
        </p:spPr>
      </p:sp>
      <p:sp>
        <p:nvSpPr>
          <p:cNvPr id="5" name="Shape 3"/>
          <p:cNvSpPr/>
          <p:nvPr/>
        </p:nvSpPr>
        <p:spPr>
          <a:xfrm>
            <a:off x="7854696" y="1600200"/>
            <a:ext cx="1600200" cy="4526280"/>
          </a:xfrm>
          <a:prstGeom prst="rect">
            <a:avLst/>
          </a:prstGeom>
          <a:solidFill>
            <a:srgbClr val="3B414A"/>
          </a:solidFill>
          <a:ln w="12700">
            <a:solidFill>
              <a:srgbClr val="3B414A"/>
            </a:solidFill>
            <a:prstDash val="solid"/>
          </a:ln>
        </p:spPr>
      </p:sp>
      <p:sp>
        <p:nvSpPr>
          <p:cNvPr id="6" name="Shape 4"/>
          <p:cNvSpPr/>
          <p:nvPr/>
        </p:nvSpPr>
        <p:spPr>
          <a:xfrm>
            <a:off x="5669280" y="3063240"/>
            <a:ext cx="5971032" cy="1600200"/>
          </a:xfrm>
          <a:prstGeom prst="rect">
            <a:avLst/>
          </a:prstGeom>
          <a:solidFill>
            <a:srgbClr val="3B414A"/>
          </a:solidFill>
          <a:ln w="12700">
            <a:solidFill>
              <a:srgbClr val="3B414A"/>
            </a:solidFill>
            <a:prstDash val="solid"/>
          </a:ln>
        </p:spPr>
      </p:sp>
      <p:sp>
        <p:nvSpPr>
          <p:cNvPr id="7" name="Shape 5"/>
          <p:cNvSpPr/>
          <p:nvPr/>
        </p:nvSpPr>
        <p:spPr>
          <a:xfrm>
            <a:off x="8654796" y="1709928"/>
            <a:ext cx="0" cy="1243584"/>
          </a:xfrm>
          <a:prstGeom prst="line">
            <a:avLst/>
          </a:prstGeom>
          <a:noFill/>
          <a:ln w="22225">
            <a:solidFill>
              <a:srgbClr val="F2F4F6"/>
            </a:solidFill>
            <a:prstDash val="dash"/>
          </a:ln>
        </p:spPr>
      </p:sp>
      <p:sp>
        <p:nvSpPr>
          <p:cNvPr id="8" name="Shape 6"/>
          <p:cNvSpPr/>
          <p:nvPr/>
        </p:nvSpPr>
        <p:spPr>
          <a:xfrm>
            <a:off x="8654796" y="4773168"/>
            <a:ext cx="0" cy="1243584"/>
          </a:xfrm>
          <a:prstGeom prst="line">
            <a:avLst/>
          </a:prstGeom>
          <a:noFill/>
          <a:ln w="22225">
            <a:solidFill>
              <a:srgbClr val="F2F4F6"/>
            </a:solidFill>
            <a:prstDash val="dash"/>
          </a:ln>
        </p:spPr>
      </p:sp>
      <p:sp>
        <p:nvSpPr>
          <p:cNvPr id="9" name="Shape 7"/>
          <p:cNvSpPr/>
          <p:nvPr/>
        </p:nvSpPr>
        <p:spPr>
          <a:xfrm>
            <a:off x="5779008" y="3863340"/>
            <a:ext cx="1965960" cy="0"/>
          </a:xfrm>
          <a:prstGeom prst="line">
            <a:avLst/>
          </a:prstGeom>
          <a:noFill/>
          <a:ln w="22225">
            <a:solidFill>
              <a:srgbClr val="F2F4F6"/>
            </a:solidFill>
            <a:prstDash val="dash"/>
          </a:ln>
        </p:spPr>
      </p:sp>
      <p:sp>
        <p:nvSpPr>
          <p:cNvPr id="10" name="Shape 8"/>
          <p:cNvSpPr/>
          <p:nvPr/>
        </p:nvSpPr>
        <p:spPr>
          <a:xfrm>
            <a:off x="9564624" y="3863340"/>
            <a:ext cx="1965960" cy="0"/>
          </a:xfrm>
          <a:prstGeom prst="line">
            <a:avLst/>
          </a:prstGeom>
          <a:noFill/>
          <a:ln w="22225">
            <a:solidFill>
              <a:srgbClr val="F2F4F6"/>
            </a:solidFill>
            <a:prstDash val="dash"/>
          </a:ln>
        </p:spPr>
      </p:sp>
      <p:sp>
        <p:nvSpPr>
          <p:cNvPr id="11" name="Shape 9"/>
          <p:cNvSpPr/>
          <p:nvPr/>
        </p:nvSpPr>
        <p:spPr>
          <a:xfrm>
            <a:off x="5715000" y="3118104"/>
            <a:ext cx="3685032" cy="2962656"/>
          </a:xfrm>
          <a:custGeom>
            <a:avLst/>
            <a:gdLst/>
            <a:ahLst/>
            <a:cxnLst/>
            <a:rect l="l" t="t" r="r" b="b"/>
            <a:pathLst>
              <a:path w="3685032" h="2962656">
                <a:moveTo>
                  <a:pt x="0" y="0"/>
                </a:moveTo>
                <a:lnTo>
                  <a:pt x="3685032" y="0"/>
                </a:lnTo>
                <a:lnTo>
                  <a:pt x="3685032" y="2963"/>
                </a:lnTo>
                <a:lnTo>
                  <a:pt x="3685032" y="2962656"/>
                </a:lnTo>
              </a:path>
            </a:pathLst>
          </a:custGeom>
          <a:noFill/>
          <a:ln w="63500">
            <a:solidFill>
              <a:srgbClr val="FFCC00"/>
            </a:solidFill>
            <a:prstDash val="solid"/>
          </a:ln>
        </p:spPr>
      </p:sp>
      <p:sp>
        <p:nvSpPr>
          <p:cNvPr id="12" name="Shape 10"/>
          <p:cNvSpPr/>
          <p:nvPr/>
        </p:nvSpPr>
        <p:spPr>
          <a:xfrm>
            <a:off x="5715000" y="4608576"/>
            <a:ext cx="2194560" cy="1472184"/>
          </a:xfrm>
          <a:custGeom>
            <a:avLst/>
            <a:gdLst/>
            <a:ahLst/>
            <a:cxnLst/>
            <a:rect l="l" t="t" r="r" b="b"/>
            <a:pathLst>
              <a:path w="2194560" h="1472184">
                <a:moveTo>
                  <a:pt x="0" y="0"/>
                </a:moveTo>
                <a:lnTo>
                  <a:pt x="2194560" y="0"/>
                </a:lnTo>
                <a:lnTo>
                  <a:pt x="2194560" y="1472"/>
                </a:lnTo>
                <a:lnTo>
                  <a:pt x="2194560" y="1472184"/>
                </a:lnTo>
              </a:path>
            </a:pathLst>
          </a:custGeom>
          <a:noFill/>
          <a:ln w="63500">
            <a:solidFill>
              <a:srgbClr val="FFCC00"/>
            </a:solidFill>
            <a:prstDash val="solid"/>
          </a:ln>
        </p:spPr>
      </p:sp>
      <p:sp>
        <p:nvSpPr>
          <p:cNvPr id="13" name="Shape 11"/>
          <p:cNvSpPr/>
          <p:nvPr/>
        </p:nvSpPr>
        <p:spPr>
          <a:xfrm>
            <a:off x="6492240" y="4025646"/>
            <a:ext cx="896112" cy="475488"/>
          </a:xfrm>
          <a:prstGeom prst="roundRect">
            <a:avLst>
              <a:gd name="adj" fmla="val 25000"/>
            </a:avLst>
          </a:prstGeom>
          <a:solidFill>
            <a:srgbClr val="12A150"/>
          </a:solidFill>
          <a:ln w="15875">
            <a:solidFill>
              <a:srgbClr val="FFFFFF"/>
            </a:solidFill>
            <a:prstDash val="solid"/>
          </a:ln>
        </p:spPr>
      </p:sp>
      <p:sp>
        <p:nvSpPr>
          <p:cNvPr id="14" name="Shape 12"/>
          <p:cNvSpPr/>
          <p:nvPr/>
        </p:nvSpPr>
        <p:spPr>
          <a:xfrm>
            <a:off x="7022592" y="4098798"/>
            <a:ext cx="182880" cy="329184"/>
          </a:xfrm>
          <a:prstGeom prst="roundRect">
            <a:avLst>
              <a:gd name="adj" fmla="val 30000"/>
            </a:avLst>
          </a:prstGeom>
          <a:solidFill>
            <a:srgbClr val="1B1F24"/>
          </a:solidFill>
          <a:ln w="12700">
            <a:solidFill>
              <a:srgbClr val="1B1F24"/>
            </a:solidFill>
            <a:prstDash val="solid"/>
          </a:ln>
        </p:spPr>
      </p:sp>
      <p:sp>
        <p:nvSpPr>
          <p:cNvPr id="15" name="Shape 13"/>
          <p:cNvSpPr/>
          <p:nvPr/>
        </p:nvSpPr>
        <p:spPr>
          <a:xfrm>
            <a:off x="7219188" y="4441698"/>
            <a:ext cx="118872" cy="118872"/>
          </a:xfrm>
          <a:prstGeom prst="ellipse">
            <a:avLst/>
          </a:prstGeom>
          <a:solidFill>
            <a:srgbClr val="F7B500"/>
          </a:solidFill>
          <a:ln w="9525">
            <a:solidFill>
              <a:srgbClr val="FFFFFF"/>
            </a:solidFill>
            <a:prstDash val="solid"/>
          </a:ln>
        </p:spPr>
      </p:sp>
      <p:sp>
        <p:nvSpPr>
          <p:cNvPr id="16" name="Shape 14"/>
          <p:cNvSpPr/>
          <p:nvPr/>
        </p:nvSpPr>
        <p:spPr>
          <a:xfrm>
            <a:off x="6542532" y="4441698"/>
            <a:ext cx="118872" cy="118872"/>
          </a:xfrm>
          <a:prstGeom prst="ellipse">
            <a:avLst/>
          </a:prstGeom>
          <a:solidFill>
            <a:srgbClr val="F7B500"/>
          </a:solidFill>
          <a:ln w="9525">
            <a:solidFill>
              <a:srgbClr val="FFFFFF"/>
            </a:solidFill>
            <a:prstDash val="solid"/>
          </a:ln>
        </p:spPr>
      </p:sp>
      <p:sp>
        <p:nvSpPr>
          <p:cNvPr id="17" name="Shape 15"/>
          <p:cNvSpPr/>
          <p:nvPr/>
        </p:nvSpPr>
        <p:spPr>
          <a:xfrm>
            <a:off x="8017002" y="1929384"/>
            <a:ext cx="475488" cy="896112"/>
          </a:xfrm>
          <a:prstGeom prst="roundRect">
            <a:avLst>
              <a:gd name="adj" fmla="val 25000"/>
            </a:avLst>
          </a:prstGeom>
          <a:solidFill>
            <a:srgbClr val="FF9300"/>
          </a:solidFill>
          <a:ln w="15875">
            <a:solidFill>
              <a:srgbClr val="FFFFFF"/>
            </a:solidFill>
            <a:prstDash val="solid"/>
          </a:ln>
        </p:spPr>
      </p:sp>
      <p:sp>
        <p:nvSpPr>
          <p:cNvPr id="18" name="Shape 16"/>
          <p:cNvSpPr/>
          <p:nvPr/>
        </p:nvSpPr>
        <p:spPr>
          <a:xfrm>
            <a:off x="8090154" y="2459736"/>
            <a:ext cx="329184" cy="182880"/>
          </a:xfrm>
          <a:prstGeom prst="roundRect">
            <a:avLst>
              <a:gd name="adj" fmla="val 30000"/>
            </a:avLst>
          </a:prstGeom>
          <a:solidFill>
            <a:srgbClr val="1B1F24"/>
          </a:solidFill>
          <a:ln w="12700">
            <a:solidFill>
              <a:srgbClr val="1B1F24"/>
            </a:solidFill>
            <a:prstDash val="solid"/>
          </a:ln>
        </p:spPr>
      </p:sp>
      <p:sp>
        <p:nvSpPr>
          <p:cNvPr id="19" name="Text 17"/>
          <p:cNvSpPr txBox="1"/>
          <p:nvPr/>
        </p:nvSpPr>
        <p:spPr>
          <a:xfrm>
            <a:off x="7980426" y="212140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20" name="Shape 18"/>
          <p:cNvSpPr/>
          <p:nvPr/>
        </p:nvSpPr>
        <p:spPr>
          <a:xfrm>
            <a:off x="9875520" y="3225546"/>
            <a:ext cx="896112" cy="475488"/>
          </a:xfrm>
          <a:prstGeom prst="roundRect">
            <a:avLst>
              <a:gd name="adj" fmla="val 25000"/>
            </a:avLst>
          </a:prstGeom>
          <a:solidFill>
            <a:srgbClr val="3B82F6"/>
          </a:solidFill>
          <a:ln w="15875">
            <a:solidFill>
              <a:srgbClr val="FFFFFF"/>
            </a:solidFill>
            <a:prstDash val="solid"/>
          </a:ln>
        </p:spPr>
      </p:sp>
      <p:sp>
        <p:nvSpPr>
          <p:cNvPr id="21" name="Shape 19"/>
          <p:cNvSpPr/>
          <p:nvPr/>
        </p:nvSpPr>
        <p:spPr>
          <a:xfrm>
            <a:off x="10058400" y="3298698"/>
            <a:ext cx="182880" cy="329184"/>
          </a:xfrm>
          <a:prstGeom prst="roundRect">
            <a:avLst>
              <a:gd name="adj" fmla="val 30000"/>
            </a:avLst>
          </a:prstGeom>
          <a:solidFill>
            <a:srgbClr val="1B1F24"/>
          </a:solidFill>
          <a:ln w="12700">
            <a:solidFill>
              <a:srgbClr val="1B1F24"/>
            </a:solidFill>
            <a:prstDash val="solid"/>
          </a:ln>
        </p:spPr>
      </p:sp>
      <p:sp>
        <p:nvSpPr>
          <p:cNvPr id="22" name="Shape 20"/>
          <p:cNvSpPr/>
          <p:nvPr/>
        </p:nvSpPr>
        <p:spPr>
          <a:xfrm>
            <a:off x="7443216" y="4263390"/>
            <a:ext cx="811530" cy="655168"/>
          </a:xfrm>
          <a:custGeom>
            <a:avLst/>
            <a:gdLst/>
            <a:ahLst/>
            <a:cxnLst/>
            <a:rect l="l" t="t" r="r" b="b"/>
            <a:pathLst>
              <a:path w="811530" h="655168">
                <a:moveTo>
                  <a:pt x="0" y="0"/>
                </a:moveTo>
                <a:quadBezTo>
                  <a:pt x="811530" y="0"/>
                  <a:pt x="811530" y="655168"/>
                </a:quadBezTo>
              </a:path>
            </a:pathLst>
          </a:custGeom>
          <a:noFill/>
          <a:ln w="44450">
            <a:solidFill>
              <a:srgbClr val="FFFFFF"/>
            </a:solidFill>
            <a:prstDash val="solid"/>
          </a:ln>
        </p:spPr>
      </p:sp>
      <p:sp>
        <p:nvSpPr>
          <p:cNvPr id="23" name="Shape 21"/>
          <p:cNvSpPr/>
          <p:nvPr/>
        </p:nvSpPr>
        <p:spPr>
          <a:xfrm rot="10800000">
            <a:off x="8135874" y="4882896"/>
            <a:ext cx="237744" cy="237744"/>
          </a:xfrm>
          <a:prstGeom prst="triangle">
            <a:avLst/>
          </a:prstGeom>
          <a:solidFill>
            <a:srgbClr val="FFFFFF"/>
          </a:solidFill>
          <a:ln w="12700">
            <a:solidFill>
              <a:srgbClr val="FFFFFF"/>
            </a:solidFill>
            <a:prstDash val="solid"/>
          </a:ln>
        </p:spPr>
      </p:sp>
      <p:sp>
        <p:nvSpPr>
          <p:cNvPr id="24" name="Shape 22"/>
          <p:cNvSpPr/>
          <p:nvPr/>
        </p:nvSpPr>
        <p:spPr>
          <a:xfrm>
            <a:off x="8254746" y="2880360"/>
            <a:ext cx="18288" cy="2038198"/>
          </a:xfrm>
          <a:custGeom>
            <a:avLst/>
            <a:gdLst/>
            <a:ahLst/>
            <a:cxnLst/>
            <a:rect l="l" t="t" r="r" b="b"/>
            <a:pathLst>
              <a:path w="18288" h="2038198">
                <a:moveTo>
                  <a:pt x="0" y="0"/>
                </a:moveTo>
                <a:lnTo>
                  <a:pt x="0" y="2038198"/>
                </a:lnTo>
              </a:path>
            </a:pathLst>
          </a:custGeom>
          <a:noFill/>
          <a:ln w="44450">
            <a:solidFill>
              <a:srgbClr val="FF9300"/>
            </a:solidFill>
            <a:prstDash val="dash"/>
          </a:ln>
        </p:spPr>
      </p:sp>
      <p:sp>
        <p:nvSpPr>
          <p:cNvPr id="25" name="Shape 23"/>
          <p:cNvSpPr/>
          <p:nvPr/>
        </p:nvSpPr>
        <p:spPr>
          <a:xfrm rot="10800000">
            <a:off x="8135874" y="4882896"/>
            <a:ext cx="237744" cy="237744"/>
          </a:xfrm>
          <a:prstGeom prst="triangle">
            <a:avLst/>
          </a:prstGeom>
          <a:solidFill>
            <a:srgbClr val="FF9300"/>
          </a:solidFill>
          <a:ln w="12700">
            <a:solidFill>
              <a:srgbClr val="FF9300"/>
            </a:solidFill>
            <a:prstDash val="solid"/>
          </a:ln>
        </p:spPr>
      </p:sp>
      <p:sp>
        <p:nvSpPr>
          <p:cNvPr id="26" name="Shape 24"/>
          <p:cNvSpPr/>
          <p:nvPr/>
        </p:nvSpPr>
        <p:spPr>
          <a:xfrm>
            <a:off x="7599578" y="3463290"/>
            <a:ext cx="2221078" cy="18288"/>
          </a:xfrm>
          <a:custGeom>
            <a:avLst/>
            <a:gdLst/>
            <a:ahLst/>
            <a:cxnLst/>
            <a:rect l="l" t="t" r="r" b="b"/>
            <a:pathLst>
              <a:path w="2221078" h="18288">
                <a:moveTo>
                  <a:pt x="2221078" y="0"/>
                </a:moveTo>
                <a:lnTo>
                  <a:pt x="0" y="0"/>
                </a:lnTo>
              </a:path>
            </a:pathLst>
          </a:custGeom>
          <a:noFill/>
          <a:ln w="44450">
            <a:solidFill>
              <a:srgbClr val="FFFFFF"/>
            </a:solidFill>
            <a:prstDash val="solid"/>
          </a:ln>
        </p:spPr>
      </p:sp>
      <p:sp>
        <p:nvSpPr>
          <p:cNvPr id="27" name="Shape 25"/>
          <p:cNvSpPr/>
          <p:nvPr/>
        </p:nvSpPr>
        <p:spPr>
          <a:xfrm rot="16200000">
            <a:off x="7397496" y="3344418"/>
            <a:ext cx="237744" cy="237744"/>
          </a:xfrm>
          <a:prstGeom prst="triangle">
            <a:avLst/>
          </a:prstGeom>
          <a:solidFill>
            <a:srgbClr val="FFFFFF"/>
          </a:solidFill>
          <a:ln w="12700">
            <a:solidFill>
              <a:srgbClr val="FFFFFF"/>
            </a:solidFill>
            <a:prstDash val="solid"/>
          </a:ln>
        </p:spPr>
      </p:sp>
      <p:sp>
        <p:nvSpPr>
          <p:cNvPr id="28" name="Shape 26"/>
          <p:cNvSpPr/>
          <p:nvPr/>
        </p:nvSpPr>
        <p:spPr>
          <a:xfrm>
            <a:off x="6729984" y="4601718"/>
            <a:ext cx="420624" cy="420624"/>
          </a:xfrm>
          <a:prstGeom prst="ellipse">
            <a:avLst/>
          </a:prstGeom>
          <a:solidFill>
            <a:srgbClr val="FF9300"/>
          </a:solidFill>
          <a:ln w="19050">
            <a:solidFill>
              <a:srgbClr val="FFFFFF"/>
            </a:solidFill>
            <a:prstDash val="solid"/>
          </a:ln>
        </p:spPr>
      </p:sp>
      <p:sp>
        <p:nvSpPr>
          <p:cNvPr id="29" name="Text 27"/>
          <p:cNvSpPr txBox="1"/>
          <p:nvPr/>
        </p:nvSpPr>
        <p:spPr>
          <a:xfrm>
            <a:off x="6729984" y="460171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1</a:t>
            </a:r>
            <a:endParaRPr lang="en-US" sz="1700" dirty="0"/>
          </a:p>
        </p:txBody>
      </p:sp>
      <p:sp>
        <p:nvSpPr>
          <p:cNvPr id="30" name="Shape 28"/>
          <p:cNvSpPr/>
          <p:nvPr/>
        </p:nvSpPr>
        <p:spPr>
          <a:xfrm>
            <a:off x="7477506" y="2075688"/>
            <a:ext cx="420624" cy="420624"/>
          </a:xfrm>
          <a:prstGeom prst="ellipse">
            <a:avLst/>
          </a:prstGeom>
          <a:solidFill>
            <a:srgbClr val="FF9300"/>
          </a:solidFill>
          <a:ln w="19050">
            <a:solidFill>
              <a:srgbClr val="FFFFFF"/>
            </a:solidFill>
            <a:prstDash val="solid"/>
          </a:ln>
        </p:spPr>
      </p:sp>
      <p:sp>
        <p:nvSpPr>
          <p:cNvPr id="31" name="Text 29"/>
          <p:cNvSpPr txBox="1"/>
          <p:nvPr/>
        </p:nvSpPr>
        <p:spPr>
          <a:xfrm>
            <a:off x="7477506" y="207568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2</a:t>
            </a:r>
            <a:endParaRPr lang="en-US" sz="1700" dirty="0"/>
          </a:p>
        </p:txBody>
      </p:sp>
      <p:sp>
        <p:nvSpPr>
          <p:cNvPr id="32" name="Shape 30"/>
          <p:cNvSpPr/>
          <p:nvPr/>
        </p:nvSpPr>
        <p:spPr>
          <a:xfrm>
            <a:off x="10113264" y="2704338"/>
            <a:ext cx="420624" cy="420624"/>
          </a:xfrm>
          <a:prstGeom prst="ellipse">
            <a:avLst/>
          </a:prstGeom>
          <a:solidFill>
            <a:srgbClr val="FF9300"/>
          </a:solidFill>
          <a:ln w="19050">
            <a:solidFill>
              <a:srgbClr val="FFFFFF"/>
            </a:solidFill>
            <a:prstDash val="solid"/>
          </a:ln>
        </p:spPr>
      </p:sp>
      <p:sp>
        <p:nvSpPr>
          <p:cNvPr id="33" name="Text 31"/>
          <p:cNvSpPr txBox="1"/>
          <p:nvPr/>
        </p:nvSpPr>
        <p:spPr>
          <a:xfrm>
            <a:off x="10113264" y="270433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3</a:t>
            </a:r>
            <a:endParaRPr lang="en-US" sz="1700" dirty="0"/>
          </a:p>
        </p:txBody>
      </p:sp>
      <p:sp>
        <p:nvSpPr>
          <p:cNvPr id="34" name="Shape 32"/>
          <p:cNvSpPr/>
          <p:nvPr/>
        </p:nvSpPr>
        <p:spPr>
          <a:xfrm>
            <a:off x="580644" y="1888236"/>
            <a:ext cx="155448" cy="155448"/>
          </a:xfrm>
          <a:prstGeom prst="ellipse">
            <a:avLst/>
          </a:prstGeom>
          <a:solidFill>
            <a:srgbClr val="FF9300"/>
          </a:solidFill>
          <a:ln w="12700">
            <a:solidFill>
              <a:srgbClr val="FF9300"/>
            </a:solidFill>
            <a:prstDash val="solid"/>
          </a:ln>
        </p:spPr>
      </p:sp>
      <p:sp>
        <p:nvSpPr>
          <p:cNvPr id="35" name="Text 33"/>
          <p:cNvSpPr txBox="1"/>
          <p:nvPr/>
        </p:nvSpPr>
        <p:spPr>
          <a:xfrm>
            <a:off x="932688" y="1783080"/>
            <a:ext cx="4370832" cy="1115568"/>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1 Grün </a:t>
            </a:r>
            <a:pPr indent="0" marL="0">
              <a:lnSpc>
                <a:spcPct val="105000"/>
              </a:lnSpc>
              <a:buNone/>
            </a:pPr>
            <a:r>
              <a:rPr lang="en-US" sz="2000" dirty="0">
                <a:solidFill>
                  <a:srgbClr val="D5DAE0"/>
                </a:solidFill>
                <a:latin typeface="Arial" pitchFamily="34" charset="0"/>
                <a:ea typeface="Arial" pitchFamily="34" charset="-122"/>
                <a:cs typeface="Arial" pitchFamily="34" charset="-120"/>
              </a:rPr>
              <a:t>fährt auf der Vorfahrtstraße – und blinkt, weil er dem Knick folgt.</a:t>
            </a:r>
            <a:endParaRPr lang="en-US" sz="2000" dirty="0"/>
          </a:p>
        </p:txBody>
      </p:sp>
      <p:sp>
        <p:nvSpPr>
          <p:cNvPr id="36" name="Shape 34"/>
          <p:cNvSpPr/>
          <p:nvPr/>
        </p:nvSpPr>
        <p:spPr>
          <a:xfrm>
            <a:off x="580644" y="3076956"/>
            <a:ext cx="155448" cy="155448"/>
          </a:xfrm>
          <a:prstGeom prst="ellipse">
            <a:avLst/>
          </a:prstGeom>
          <a:solidFill>
            <a:srgbClr val="FF9300"/>
          </a:solidFill>
          <a:ln w="12700">
            <a:solidFill>
              <a:srgbClr val="FF9300"/>
            </a:solidFill>
            <a:prstDash val="solid"/>
          </a:ln>
        </p:spPr>
      </p:sp>
      <p:sp>
        <p:nvSpPr>
          <p:cNvPr id="37" name="Text 35"/>
          <p:cNvSpPr txBox="1"/>
          <p:nvPr/>
        </p:nvSpPr>
        <p:spPr>
          <a:xfrm>
            <a:off x="932688" y="2971800"/>
            <a:ext cx="4370832" cy="1115568"/>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2 Du: </a:t>
            </a:r>
            <a:pPr indent="0" marL="0">
              <a:lnSpc>
                <a:spcPct val="105000"/>
              </a:lnSpc>
              <a:buNone/>
            </a:pPr>
            <a:r>
              <a:rPr lang="en-US" sz="2000" dirty="0">
                <a:solidFill>
                  <a:srgbClr val="D5DAE0"/>
                </a:solidFill>
                <a:latin typeface="Arial" pitchFamily="34" charset="0"/>
                <a:ea typeface="Arial" pitchFamily="34" charset="-122"/>
                <a:cs typeface="Arial" pitchFamily="34" charset="-120"/>
              </a:rPr>
              <a:t>Unter den Wartepflichtigen kommst du für Blau von rechts.</a:t>
            </a:r>
            <a:endParaRPr lang="en-US" sz="2000" dirty="0"/>
          </a:p>
        </p:txBody>
      </p:sp>
      <p:sp>
        <p:nvSpPr>
          <p:cNvPr id="38" name="Shape 36"/>
          <p:cNvSpPr/>
          <p:nvPr/>
        </p:nvSpPr>
        <p:spPr>
          <a:xfrm>
            <a:off x="580644" y="4265676"/>
            <a:ext cx="155448" cy="155448"/>
          </a:xfrm>
          <a:prstGeom prst="ellipse">
            <a:avLst/>
          </a:prstGeom>
          <a:solidFill>
            <a:srgbClr val="FF9300"/>
          </a:solidFill>
          <a:ln w="12700">
            <a:solidFill>
              <a:srgbClr val="FF9300"/>
            </a:solidFill>
            <a:prstDash val="solid"/>
          </a:ln>
        </p:spPr>
      </p:sp>
      <p:sp>
        <p:nvSpPr>
          <p:cNvPr id="39" name="Text 37"/>
          <p:cNvSpPr txBox="1"/>
          <p:nvPr/>
        </p:nvSpPr>
        <p:spPr>
          <a:xfrm>
            <a:off x="932688" y="4160520"/>
            <a:ext cx="4370832" cy="1115568"/>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3 Blau </a:t>
            </a:r>
            <a:pPr indent="0" marL="0">
              <a:lnSpc>
                <a:spcPct val="105000"/>
              </a:lnSpc>
              <a:buNone/>
            </a:pPr>
            <a:r>
              <a:rPr lang="en-US" sz="2000" dirty="0">
                <a:solidFill>
                  <a:srgbClr val="D5DAE0"/>
                </a:solidFill>
                <a:latin typeface="Arial" pitchFamily="34" charset="0"/>
                <a:ea typeface="Arial" pitchFamily="34" charset="-122"/>
                <a:cs typeface="Arial" pitchFamily="34" charset="-120"/>
              </a:rPr>
              <a:t>wartet auf Grün und auf dich.</a:t>
            </a:r>
            <a:endParaRPr lang="en-US" sz="2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03 · ZEICHEN</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Engstellen: Wer darf zuerst?</a:t>
            </a:r>
            <a:endParaRPr lang="en-US" sz="3200" dirty="0"/>
          </a:p>
        </p:txBody>
      </p:sp>
      <p:sp>
        <p:nvSpPr>
          <p:cNvPr id="4" name="Shape 2"/>
          <p:cNvSpPr/>
          <p:nvPr/>
        </p:nvSpPr>
        <p:spPr>
          <a:xfrm>
            <a:off x="8840419" y="457200"/>
            <a:ext cx="2802636"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8840419" y="457200"/>
            <a:ext cx="2802636"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Zeichen 208, 308 · § 6 StVO</a:t>
            </a:r>
            <a:endParaRPr lang="en-US" sz="1200" dirty="0"/>
          </a:p>
        </p:txBody>
      </p:sp>
      <p:sp>
        <p:nvSpPr>
          <p:cNvPr id="6" name="Shape 4"/>
          <p:cNvSpPr/>
          <p:nvPr/>
        </p:nvSpPr>
        <p:spPr>
          <a:xfrm>
            <a:off x="548640" y="1645920"/>
            <a:ext cx="5440680" cy="2560320"/>
          </a:xfrm>
          <a:prstGeom prst="roundRect">
            <a:avLst>
              <a:gd name="adj" fmla="val 6429"/>
            </a:avLst>
          </a:prstGeom>
          <a:solidFill>
            <a:srgbClr val="F1F3F6"/>
          </a:solidFill>
          <a:ln w="12700">
            <a:solidFill>
              <a:srgbClr val="F1F3F6"/>
            </a:solidFill>
            <a:prstDash val="solid"/>
          </a:ln>
        </p:spPr>
      </p:sp>
      <p:sp>
        <p:nvSpPr>
          <p:cNvPr id="7" name="Shape 5"/>
          <p:cNvSpPr/>
          <p:nvPr/>
        </p:nvSpPr>
        <p:spPr>
          <a:xfrm>
            <a:off x="6199632" y="1645920"/>
            <a:ext cx="5440680" cy="2560320"/>
          </a:xfrm>
          <a:prstGeom prst="roundRect">
            <a:avLst>
              <a:gd name="adj" fmla="val 6429"/>
            </a:avLst>
          </a:prstGeom>
          <a:solidFill>
            <a:srgbClr val="F1F3F6"/>
          </a:solidFill>
          <a:ln w="12700">
            <a:solidFill>
              <a:srgbClr val="F1F3F6"/>
            </a:solidFill>
            <a:prstDash val="solid"/>
          </a:ln>
        </p:spPr>
      </p:sp>
      <p:sp>
        <p:nvSpPr>
          <p:cNvPr id="8" name="Shape 6"/>
          <p:cNvSpPr/>
          <p:nvPr/>
        </p:nvSpPr>
        <p:spPr>
          <a:xfrm>
            <a:off x="868680" y="2194560"/>
            <a:ext cx="1463040" cy="1463040"/>
          </a:xfrm>
          <a:prstGeom prst="ellipse">
            <a:avLst/>
          </a:prstGeom>
          <a:solidFill>
            <a:srgbClr val="FFFFFF"/>
          </a:solidFill>
          <a:ln w="182880">
            <a:solidFill>
              <a:srgbClr val="D7261E"/>
            </a:solidFill>
            <a:prstDash val="solid"/>
          </a:ln>
        </p:spPr>
      </p:sp>
      <p:sp>
        <p:nvSpPr>
          <p:cNvPr id="9" name="Shape 7"/>
          <p:cNvSpPr/>
          <p:nvPr/>
        </p:nvSpPr>
        <p:spPr>
          <a:xfrm>
            <a:off x="1358798" y="2560320"/>
            <a:ext cx="102413" cy="616306"/>
          </a:xfrm>
          <a:prstGeom prst="rect">
            <a:avLst/>
          </a:prstGeom>
          <a:solidFill>
            <a:srgbClr val="17191C"/>
          </a:solidFill>
          <a:ln w="12700">
            <a:solidFill>
              <a:srgbClr val="17191C"/>
            </a:solidFill>
            <a:prstDash val="solid"/>
          </a:ln>
        </p:spPr>
      </p:sp>
      <p:sp>
        <p:nvSpPr>
          <p:cNvPr id="10" name="Shape 8"/>
          <p:cNvSpPr/>
          <p:nvPr/>
        </p:nvSpPr>
        <p:spPr>
          <a:xfrm rot="10800000">
            <a:off x="1292230" y="3163824"/>
            <a:ext cx="235549" cy="128016"/>
          </a:xfrm>
          <a:prstGeom prst="triangle">
            <a:avLst/>
          </a:prstGeom>
          <a:solidFill>
            <a:srgbClr val="17191C"/>
          </a:solidFill>
          <a:ln w="12700">
            <a:solidFill>
              <a:srgbClr val="17191C"/>
            </a:solidFill>
            <a:prstDash val="solid"/>
          </a:ln>
        </p:spPr>
      </p:sp>
      <p:sp>
        <p:nvSpPr>
          <p:cNvPr id="11" name="Shape 9"/>
          <p:cNvSpPr/>
          <p:nvPr/>
        </p:nvSpPr>
        <p:spPr>
          <a:xfrm>
            <a:off x="1739189" y="2675534"/>
            <a:ext cx="102413" cy="616306"/>
          </a:xfrm>
          <a:prstGeom prst="rect">
            <a:avLst/>
          </a:prstGeom>
          <a:solidFill>
            <a:srgbClr val="D7261E"/>
          </a:solidFill>
          <a:ln w="12700">
            <a:solidFill>
              <a:srgbClr val="D7261E"/>
            </a:solidFill>
            <a:prstDash val="solid"/>
          </a:ln>
        </p:spPr>
      </p:sp>
      <p:sp>
        <p:nvSpPr>
          <p:cNvPr id="12" name="Shape 10"/>
          <p:cNvSpPr/>
          <p:nvPr/>
        </p:nvSpPr>
        <p:spPr>
          <a:xfrm>
            <a:off x="1672620" y="2560320"/>
            <a:ext cx="235549" cy="128016"/>
          </a:xfrm>
          <a:prstGeom prst="triangle">
            <a:avLst/>
          </a:prstGeom>
          <a:solidFill>
            <a:srgbClr val="D7261E"/>
          </a:solidFill>
          <a:ln w="12700">
            <a:solidFill>
              <a:srgbClr val="D7261E"/>
            </a:solidFill>
            <a:prstDash val="solid"/>
          </a:ln>
        </p:spPr>
      </p:sp>
      <p:sp>
        <p:nvSpPr>
          <p:cNvPr id="13" name="Text 11"/>
          <p:cNvSpPr txBox="1"/>
          <p:nvPr/>
        </p:nvSpPr>
        <p:spPr>
          <a:xfrm>
            <a:off x="2606040" y="2057400"/>
            <a:ext cx="3200400" cy="685800"/>
          </a:xfrm>
          <a:prstGeom prst="rect">
            <a:avLst/>
          </a:prstGeom>
          <a:noFill/>
          <a:ln/>
        </p:spPr>
        <p:txBody>
          <a:bodyPr wrap="square" lIns="0" tIns="0" rIns="0" bIns="0" rtlCol="0" anchor="t"/>
          <a:lstStyle/>
          <a:p>
            <a:pPr indent="0" marL="0">
              <a:buNone/>
            </a:pPr>
            <a:r>
              <a:rPr lang="en-US" sz="1900" b="1" dirty="0">
                <a:solidFill>
                  <a:srgbClr val="15181D"/>
                </a:solidFill>
                <a:latin typeface="Arial" pitchFamily="34" charset="0"/>
                <a:ea typeface="Arial" pitchFamily="34" charset="-122"/>
                <a:cs typeface="Arial" pitchFamily="34" charset="-120"/>
              </a:rPr>
              <a:t>Vorrang des Gegenverkehrs</a:t>
            </a:r>
            <a:endParaRPr lang="en-US" sz="1900" dirty="0"/>
          </a:p>
        </p:txBody>
      </p:sp>
      <p:sp>
        <p:nvSpPr>
          <p:cNvPr id="14" name="Text 12"/>
          <p:cNvSpPr txBox="1"/>
          <p:nvPr/>
        </p:nvSpPr>
        <p:spPr>
          <a:xfrm>
            <a:off x="2606040" y="2788920"/>
            <a:ext cx="3200400" cy="1188720"/>
          </a:xfrm>
          <a:prstGeom prst="rect">
            <a:avLst/>
          </a:prstGeom>
          <a:noFill/>
          <a:ln/>
        </p:spPr>
        <p:txBody>
          <a:bodyPr wrap="square" lIns="0" tIns="0" rIns="0" bIns="0" rtlCol="0" anchor="t"/>
          <a:lstStyle/>
          <a:p>
            <a:pPr indent="0" marL="0">
              <a:buNone/>
            </a:pPr>
            <a:r>
              <a:rPr lang="en-US" sz="1600" dirty="0">
                <a:solidFill>
                  <a:srgbClr val="56606B"/>
                </a:solidFill>
                <a:latin typeface="Arial" pitchFamily="34" charset="0"/>
                <a:ea typeface="Arial" pitchFamily="34" charset="-122"/>
                <a:cs typeface="Arial" pitchFamily="34" charset="-120"/>
              </a:rPr>
              <a:t>Du wartest vor der Engstelle und lässt den Gegenverkehr durch.</a:t>
            </a:r>
            <a:endParaRPr lang="en-US" sz="1600" dirty="0"/>
          </a:p>
        </p:txBody>
      </p:sp>
      <p:sp>
        <p:nvSpPr>
          <p:cNvPr id="15" name="Shape 13"/>
          <p:cNvSpPr/>
          <p:nvPr/>
        </p:nvSpPr>
        <p:spPr>
          <a:xfrm>
            <a:off x="6565392" y="2240280"/>
            <a:ext cx="1371600" cy="1371600"/>
          </a:xfrm>
          <a:prstGeom prst="roundRect">
            <a:avLst>
              <a:gd name="adj" fmla="val 4000"/>
            </a:avLst>
          </a:prstGeom>
          <a:solidFill>
            <a:srgbClr val="4A4A4A"/>
          </a:solidFill>
          <a:ln w="12700">
            <a:solidFill>
              <a:srgbClr val="4A4A4A"/>
            </a:solidFill>
            <a:prstDash val="solid"/>
          </a:ln>
        </p:spPr>
      </p:sp>
      <p:sp>
        <p:nvSpPr>
          <p:cNvPr id="16" name="Shape 14"/>
          <p:cNvSpPr/>
          <p:nvPr/>
        </p:nvSpPr>
        <p:spPr>
          <a:xfrm>
            <a:off x="6606540" y="2281428"/>
            <a:ext cx="1289304" cy="1289304"/>
          </a:xfrm>
          <a:prstGeom prst="roundRect">
            <a:avLst>
              <a:gd name="adj" fmla="val 3546"/>
            </a:avLst>
          </a:prstGeom>
          <a:solidFill>
            <a:srgbClr val="FFFFFF"/>
          </a:solidFill>
          <a:ln w="12700">
            <a:solidFill>
              <a:srgbClr val="FFFFFF"/>
            </a:solidFill>
            <a:prstDash val="solid"/>
          </a:ln>
        </p:spPr>
      </p:sp>
      <p:sp>
        <p:nvSpPr>
          <p:cNvPr id="17" name="Shape 15"/>
          <p:cNvSpPr/>
          <p:nvPr/>
        </p:nvSpPr>
        <p:spPr>
          <a:xfrm>
            <a:off x="6675120" y="2350008"/>
            <a:ext cx="1152144" cy="1152144"/>
          </a:xfrm>
          <a:prstGeom prst="roundRect">
            <a:avLst>
              <a:gd name="adj" fmla="val 3175"/>
            </a:avLst>
          </a:prstGeom>
          <a:solidFill>
            <a:srgbClr val="1F5FAE"/>
          </a:solidFill>
          <a:ln w="12700">
            <a:solidFill>
              <a:srgbClr val="1F5FAE"/>
            </a:solidFill>
            <a:prstDash val="solid"/>
          </a:ln>
        </p:spPr>
      </p:sp>
      <p:sp>
        <p:nvSpPr>
          <p:cNvPr id="18" name="Shape 16"/>
          <p:cNvSpPr/>
          <p:nvPr/>
        </p:nvSpPr>
        <p:spPr>
          <a:xfrm>
            <a:off x="7011162" y="2569464"/>
            <a:ext cx="96012" cy="605219"/>
          </a:xfrm>
          <a:prstGeom prst="rect">
            <a:avLst/>
          </a:prstGeom>
          <a:solidFill>
            <a:srgbClr val="D7261E"/>
          </a:solidFill>
          <a:ln w="12700">
            <a:solidFill>
              <a:srgbClr val="D7261E"/>
            </a:solidFill>
            <a:prstDash val="solid"/>
          </a:ln>
        </p:spPr>
      </p:sp>
      <p:sp>
        <p:nvSpPr>
          <p:cNvPr id="19" name="Shape 17"/>
          <p:cNvSpPr/>
          <p:nvPr/>
        </p:nvSpPr>
        <p:spPr>
          <a:xfrm rot="10800000">
            <a:off x="6948754" y="3162681"/>
            <a:ext cx="220828" cy="120015"/>
          </a:xfrm>
          <a:prstGeom prst="triangle">
            <a:avLst/>
          </a:prstGeom>
          <a:solidFill>
            <a:srgbClr val="D7261E"/>
          </a:solidFill>
          <a:ln w="12700">
            <a:solidFill>
              <a:srgbClr val="D7261E"/>
            </a:solidFill>
            <a:prstDash val="solid"/>
          </a:ln>
        </p:spPr>
      </p:sp>
      <p:sp>
        <p:nvSpPr>
          <p:cNvPr id="20" name="Shape 18"/>
          <p:cNvSpPr/>
          <p:nvPr/>
        </p:nvSpPr>
        <p:spPr>
          <a:xfrm>
            <a:off x="7395210" y="2677478"/>
            <a:ext cx="96012" cy="605219"/>
          </a:xfrm>
          <a:prstGeom prst="rect">
            <a:avLst/>
          </a:prstGeom>
          <a:solidFill>
            <a:srgbClr val="FFFFFF"/>
          </a:solidFill>
          <a:ln w="12700">
            <a:solidFill>
              <a:srgbClr val="FFFFFF"/>
            </a:solidFill>
            <a:prstDash val="solid"/>
          </a:ln>
        </p:spPr>
      </p:sp>
      <p:sp>
        <p:nvSpPr>
          <p:cNvPr id="21" name="Shape 19"/>
          <p:cNvSpPr/>
          <p:nvPr/>
        </p:nvSpPr>
        <p:spPr>
          <a:xfrm>
            <a:off x="7332802" y="2569464"/>
            <a:ext cx="220828" cy="120015"/>
          </a:xfrm>
          <a:prstGeom prst="triangle">
            <a:avLst/>
          </a:prstGeom>
          <a:solidFill>
            <a:srgbClr val="FFFFFF"/>
          </a:solidFill>
          <a:ln w="12700">
            <a:solidFill>
              <a:srgbClr val="FFFFFF"/>
            </a:solidFill>
            <a:prstDash val="solid"/>
          </a:ln>
        </p:spPr>
      </p:sp>
      <p:sp>
        <p:nvSpPr>
          <p:cNvPr id="22" name="Text 20"/>
          <p:cNvSpPr txBox="1"/>
          <p:nvPr/>
        </p:nvSpPr>
        <p:spPr>
          <a:xfrm>
            <a:off x="8257032" y="2057400"/>
            <a:ext cx="3200400" cy="685800"/>
          </a:xfrm>
          <a:prstGeom prst="rect">
            <a:avLst/>
          </a:prstGeom>
          <a:noFill/>
          <a:ln/>
        </p:spPr>
        <p:txBody>
          <a:bodyPr wrap="square" lIns="0" tIns="0" rIns="0" bIns="0" rtlCol="0" anchor="t"/>
          <a:lstStyle/>
          <a:p>
            <a:pPr indent="0" marL="0">
              <a:buNone/>
            </a:pPr>
            <a:r>
              <a:rPr lang="en-US" sz="1900" b="1" dirty="0">
                <a:solidFill>
                  <a:srgbClr val="15181D"/>
                </a:solidFill>
                <a:latin typeface="Arial" pitchFamily="34" charset="0"/>
                <a:ea typeface="Arial" pitchFamily="34" charset="-122"/>
                <a:cs typeface="Arial" pitchFamily="34" charset="-120"/>
              </a:rPr>
              <a:t>Vorrang vor dem Gegenverkehr</a:t>
            </a:r>
            <a:endParaRPr lang="en-US" sz="1900" dirty="0"/>
          </a:p>
        </p:txBody>
      </p:sp>
      <p:sp>
        <p:nvSpPr>
          <p:cNvPr id="23" name="Text 21"/>
          <p:cNvSpPr txBox="1"/>
          <p:nvPr/>
        </p:nvSpPr>
        <p:spPr>
          <a:xfrm>
            <a:off x="8257032" y="2788920"/>
            <a:ext cx="3200400" cy="1188720"/>
          </a:xfrm>
          <a:prstGeom prst="rect">
            <a:avLst/>
          </a:prstGeom>
          <a:noFill/>
          <a:ln/>
        </p:spPr>
        <p:txBody>
          <a:bodyPr wrap="square" lIns="0" tIns="0" rIns="0" bIns="0" rtlCol="0" anchor="t"/>
          <a:lstStyle/>
          <a:p>
            <a:pPr indent="0" marL="0">
              <a:buNone/>
            </a:pPr>
            <a:r>
              <a:rPr lang="en-US" sz="1600" dirty="0">
                <a:solidFill>
                  <a:srgbClr val="56606B"/>
                </a:solidFill>
                <a:latin typeface="Arial" pitchFamily="34" charset="0"/>
                <a:ea typeface="Arial" pitchFamily="34" charset="-122"/>
                <a:cs typeface="Arial" pitchFamily="34" charset="-120"/>
              </a:rPr>
              <a:t>Du darfst zuerst fahren – der Gegenverkehr wartet.</a:t>
            </a:r>
            <a:endParaRPr lang="en-US" sz="1600" dirty="0"/>
          </a:p>
        </p:txBody>
      </p:sp>
      <p:sp>
        <p:nvSpPr>
          <p:cNvPr id="24" name="Shape 22"/>
          <p:cNvSpPr/>
          <p:nvPr/>
        </p:nvSpPr>
        <p:spPr>
          <a:xfrm>
            <a:off x="548640" y="4434840"/>
            <a:ext cx="6766560" cy="1600200"/>
          </a:xfrm>
          <a:prstGeom prst="roundRect">
            <a:avLst>
              <a:gd name="adj" fmla="val 9143"/>
            </a:avLst>
          </a:prstGeom>
          <a:solidFill>
            <a:srgbClr val="E3E8ED"/>
          </a:solidFill>
          <a:ln w="12700">
            <a:solidFill>
              <a:srgbClr val="E3E8ED"/>
            </a:solidFill>
            <a:prstDash val="solid"/>
          </a:ln>
        </p:spPr>
      </p:sp>
      <p:sp>
        <p:nvSpPr>
          <p:cNvPr id="25" name="Shape 23"/>
          <p:cNvSpPr/>
          <p:nvPr/>
        </p:nvSpPr>
        <p:spPr>
          <a:xfrm>
            <a:off x="548640" y="4754880"/>
            <a:ext cx="6766560" cy="960120"/>
          </a:xfrm>
          <a:prstGeom prst="rect">
            <a:avLst/>
          </a:prstGeom>
          <a:solidFill>
            <a:srgbClr val="3B414A"/>
          </a:solidFill>
          <a:ln w="12700">
            <a:solidFill>
              <a:srgbClr val="3B414A"/>
            </a:solidFill>
            <a:prstDash val="solid"/>
          </a:ln>
        </p:spPr>
      </p:sp>
      <p:sp>
        <p:nvSpPr>
          <p:cNvPr id="26" name="Shape 24"/>
          <p:cNvSpPr/>
          <p:nvPr/>
        </p:nvSpPr>
        <p:spPr>
          <a:xfrm>
            <a:off x="685800" y="5234940"/>
            <a:ext cx="6492240" cy="0"/>
          </a:xfrm>
          <a:prstGeom prst="line">
            <a:avLst/>
          </a:prstGeom>
          <a:noFill/>
          <a:ln w="19050">
            <a:solidFill>
              <a:srgbClr val="F2F4F6"/>
            </a:solidFill>
            <a:prstDash val="dash"/>
          </a:ln>
        </p:spPr>
      </p:sp>
      <p:sp>
        <p:nvSpPr>
          <p:cNvPr id="27" name="Shape 25"/>
          <p:cNvSpPr/>
          <p:nvPr/>
        </p:nvSpPr>
        <p:spPr>
          <a:xfrm>
            <a:off x="3291840" y="5294376"/>
            <a:ext cx="1371600" cy="384048"/>
          </a:xfrm>
          <a:prstGeom prst="roundRect">
            <a:avLst>
              <a:gd name="adj" fmla="val 19048"/>
            </a:avLst>
          </a:prstGeom>
          <a:solidFill>
            <a:srgbClr val="6B7480"/>
          </a:solidFill>
          <a:ln w="12700">
            <a:solidFill>
              <a:srgbClr val="FFFFFF"/>
            </a:solidFill>
            <a:prstDash val="solid"/>
          </a:ln>
        </p:spPr>
      </p:sp>
      <p:sp>
        <p:nvSpPr>
          <p:cNvPr id="28" name="Text 26"/>
          <p:cNvSpPr txBox="1"/>
          <p:nvPr/>
        </p:nvSpPr>
        <p:spPr>
          <a:xfrm>
            <a:off x="3291840" y="5294376"/>
            <a:ext cx="13716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Hindernis</a:t>
            </a:r>
            <a:endParaRPr lang="en-US" sz="1100" dirty="0"/>
          </a:p>
        </p:txBody>
      </p:sp>
      <p:sp>
        <p:nvSpPr>
          <p:cNvPr id="29" name="Shape 27"/>
          <p:cNvSpPr/>
          <p:nvPr/>
        </p:nvSpPr>
        <p:spPr>
          <a:xfrm>
            <a:off x="1737360" y="5303520"/>
            <a:ext cx="731520" cy="365760"/>
          </a:xfrm>
          <a:prstGeom prst="roundRect">
            <a:avLst>
              <a:gd name="adj" fmla="val 32500"/>
            </a:avLst>
          </a:prstGeom>
          <a:solidFill>
            <a:srgbClr val="FF9300"/>
          </a:solidFill>
          <a:ln w="15875">
            <a:solidFill>
              <a:srgbClr val="FFFFFF"/>
            </a:solidFill>
            <a:prstDash val="solid"/>
          </a:ln>
        </p:spPr>
      </p:sp>
      <p:sp>
        <p:nvSpPr>
          <p:cNvPr id="30" name="Shape 28"/>
          <p:cNvSpPr/>
          <p:nvPr/>
        </p:nvSpPr>
        <p:spPr>
          <a:xfrm>
            <a:off x="2103120" y="5376672"/>
            <a:ext cx="182880" cy="219456"/>
          </a:xfrm>
          <a:prstGeom prst="roundRect">
            <a:avLst>
              <a:gd name="adj" fmla="val 30000"/>
            </a:avLst>
          </a:prstGeom>
          <a:solidFill>
            <a:srgbClr val="1B1F24"/>
          </a:solidFill>
          <a:ln w="12700">
            <a:solidFill>
              <a:srgbClr val="1B1F24"/>
            </a:solidFill>
            <a:prstDash val="solid"/>
          </a:ln>
        </p:spPr>
      </p:sp>
      <p:sp>
        <p:nvSpPr>
          <p:cNvPr id="31" name="Text 29"/>
          <p:cNvSpPr txBox="1"/>
          <p:nvPr/>
        </p:nvSpPr>
        <p:spPr>
          <a:xfrm>
            <a:off x="1673352" y="536752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32" name="Shape 30"/>
          <p:cNvSpPr/>
          <p:nvPr/>
        </p:nvSpPr>
        <p:spPr>
          <a:xfrm>
            <a:off x="5303520" y="4809744"/>
            <a:ext cx="731520" cy="365760"/>
          </a:xfrm>
          <a:prstGeom prst="roundRect">
            <a:avLst>
              <a:gd name="adj" fmla="val 32500"/>
            </a:avLst>
          </a:prstGeom>
          <a:solidFill>
            <a:srgbClr val="3B82F6"/>
          </a:solidFill>
          <a:ln w="15875">
            <a:solidFill>
              <a:srgbClr val="FFFFFF"/>
            </a:solidFill>
            <a:prstDash val="solid"/>
          </a:ln>
        </p:spPr>
      </p:sp>
      <p:sp>
        <p:nvSpPr>
          <p:cNvPr id="33" name="Shape 31"/>
          <p:cNvSpPr/>
          <p:nvPr/>
        </p:nvSpPr>
        <p:spPr>
          <a:xfrm>
            <a:off x="5486400" y="4882896"/>
            <a:ext cx="182880" cy="219456"/>
          </a:xfrm>
          <a:prstGeom prst="roundRect">
            <a:avLst>
              <a:gd name="adj" fmla="val 30000"/>
            </a:avLst>
          </a:prstGeom>
          <a:solidFill>
            <a:srgbClr val="1B1F24"/>
          </a:solidFill>
          <a:ln w="12700">
            <a:solidFill>
              <a:srgbClr val="1B1F24"/>
            </a:solidFill>
            <a:prstDash val="solid"/>
          </a:ln>
        </p:spPr>
      </p:sp>
      <p:sp>
        <p:nvSpPr>
          <p:cNvPr id="34" name="Text 32"/>
          <p:cNvSpPr txBox="1"/>
          <p:nvPr/>
        </p:nvSpPr>
        <p:spPr>
          <a:xfrm>
            <a:off x="7589520" y="4526280"/>
            <a:ext cx="4050792" cy="1417320"/>
          </a:xfrm>
          <a:prstGeom prst="rect">
            <a:avLst/>
          </a:prstGeom>
          <a:noFill/>
          <a:ln/>
        </p:spPr>
        <p:txBody>
          <a:bodyPr wrap="square" lIns="0" tIns="0" rIns="0" bIns="0" rtlCol="0" anchor="ctr"/>
          <a:lstStyle/>
          <a:p>
            <a:pPr indent="0" marL="0">
              <a:buNone/>
            </a:pPr>
            <a:r>
              <a:rPr lang="en-US" sz="1800" b="1" dirty="0">
                <a:solidFill>
                  <a:srgbClr val="15181D"/>
                </a:solidFill>
                <a:latin typeface="Arial" pitchFamily="34" charset="0"/>
                <a:ea typeface="Arial" pitchFamily="34" charset="-122"/>
                <a:cs typeface="Arial" pitchFamily="34" charset="-120"/>
              </a:rPr>
              <a:t>Ohne Schild: Wer das Hindernis auf seiner Seite hat, lässt den Gegenverkehr durch.</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10469880" y="1097280"/>
            <a:ext cx="731520" cy="4206240"/>
          </a:xfrm>
          <a:prstGeom prst="rect">
            <a:avLst/>
          </a:prstGeom>
          <a:solidFill>
            <a:srgbClr val="1A1F26"/>
          </a:solidFill>
          <a:ln w="12700">
            <a:solidFill>
              <a:srgbClr val="1A1F26"/>
            </a:solidFill>
            <a:prstDash val="solid"/>
          </a:ln>
        </p:spPr>
      </p:sp>
      <p:sp>
        <p:nvSpPr>
          <p:cNvPr id="3" name="Shape 1"/>
          <p:cNvSpPr/>
          <p:nvPr/>
        </p:nvSpPr>
        <p:spPr>
          <a:xfrm>
            <a:off x="9646920" y="2834640"/>
            <a:ext cx="2542032" cy="731520"/>
          </a:xfrm>
          <a:prstGeom prst="rect">
            <a:avLst/>
          </a:prstGeom>
          <a:solidFill>
            <a:srgbClr val="1A1F26"/>
          </a:solidFill>
          <a:ln w="12700">
            <a:solidFill>
              <a:srgbClr val="1A1F26"/>
            </a:solidFill>
            <a:prstDash val="solid"/>
          </a:ln>
        </p:spPr>
      </p:sp>
      <p:sp>
        <p:nvSpPr>
          <p:cNvPr id="4" name="Text 2"/>
          <p:cNvSpPr txBox="1"/>
          <p:nvPr/>
        </p:nvSpPr>
        <p:spPr>
          <a:xfrm>
            <a:off x="548640" y="1417320"/>
            <a:ext cx="3657600" cy="1828800"/>
          </a:xfrm>
          <a:prstGeom prst="rect">
            <a:avLst/>
          </a:prstGeom>
          <a:noFill/>
          <a:ln/>
        </p:spPr>
        <p:txBody>
          <a:bodyPr wrap="square" lIns="0" tIns="0" rIns="0" bIns="0" rtlCol="0" anchor="t"/>
          <a:lstStyle/>
          <a:p>
            <a:pPr indent="0" marL="0">
              <a:buNone/>
            </a:pPr>
            <a:r>
              <a:rPr lang="en-US" sz="14000" b="1" dirty="0">
                <a:solidFill>
                  <a:srgbClr val="FF9300"/>
                </a:solidFill>
                <a:latin typeface="Arial" pitchFamily="34" charset="0"/>
                <a:ea typeface="Arial" pitchFamily="34" charset="-122"/>
                <a:cs typeface="Arial" pitchFamily="34" charset="-120"/>
              </a:rPr>
              <a:t>04</a:t>
            </a:r>
            <a:endParaRPr lang="en-US" sz="14000" dirty="0"/>
          </a:p>
        </p:txBody>
      </p:sp>
      <p:sp>
        <p:nvSpPr>
          <p:cNvPr id="5" name="Text 3"/>
          <p:cNvSpPr txBox="1"/>
          <p:nvPr/>
        </p:nvSpPr>
        <p:spPr>
          <a:xfrm>
            <a:off x="548640" y="3246120"/>
            <a:ext cx="8869680" cy="9144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Abbiegen und Gegenverkehr</a:t>
            </a:r>
            <a:endParaRPr lang="en-US" sz="4400" dirty="0"/>
          </a:p>
        </p:txBody>
      </p:sp>
      <p:sp>
        <p:nvSpPr>
          <p:cNvPr id="6" name="Text 4"/>
          <p:cNvSpPr txBox="1"/>
          <p:nvPr/>
        </p:nvSpPr>
        <p:spPr>
          <a:xfrm>
            <a:off x="566928" y="4251960"/>
            <a:ext cx="8869680" cy="548640"/>
          </a:xfrm>
          <a:prstGeom prst="rect">
            <a:avLst/>
          </a:prstGeom>
          <a:noFill/>
          <a:ln/>
        </p:spPr>
        <p:txBody>
          <a:bodyPr wrap="square" lIns="0" tIns="0" rIns="0" bIns="0" rtlCol="0" anchor="t"/>
          <a:lstStyle/>
          <a:p>
            <a:pPr indent="0" marL="0">
              <a:buNone/>
            </a:pPr>
            <a:r>
              <a:rPr lang="en-US" sz="2200" dirty="0">
                <a:solidFill>
                  <a:srgbClr val="A3ACB7"/>
                </a:solidFill>
                <a:latin typeface="Arial" pitchFamily="34" charset="0"/>
                <a:ea typeface="Arial" pitchFamily="34" charset="-122"/>
                <a:cs typeface="Arial" pitchFamily="34" charset="-120"/>
              </a:rPr>
              <a:t>Wer abbiegt, lässt durch</a:t>
            </a:r>
            <a:endParaRPr lang="en-US" sz="2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04 · ABBIEGEN</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Links abbiegen: Gegenverkehr zuerst</a:t>
            </a:r>
            <a:endParaRPr lang="en-US" sz="3200" dirty="0"/>
          </a:p>
        </p:txBody>
      </p:sp>
      <p:sp>
        <p:nvSpPr>
          <p:cNvPr id="4" name="Shape 2"/>
          <p:cNvSpPr/>
          <p:nvPr/>
        </p:nvSpPr>
        <p:spPr>
          <a:xfrm>
            <a:off x="10180015" y="457200"/>
            <a:ext cx="1463040"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10180015" y="457200"/>
            <a:ext cx="1463040"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9 StVO</a:t>
            </a:r>
            <a:endParaRPr lang="en-US" sz="1200" dirty="0"/>
          </a:p>
        </p:txBody>
      </p:sp>
      <p:sp>
        <p:nvSpPr>
          <p:cNvPr id="6" name="Shape 4"/>
          <p:cNvSpPr/>
          <p:nvPr/>
        </p:nvSpPr>
        <p:spPr>
          <a:xfrm>
            <a:off x="6126480" y="1600200"/>
            <a:ext cx="5513832" cy="4526280"/>
          </a:xfrm>
          <a:prstGeom prst="roundRect">
            <a:avLst>
              <a:gd name="adj" fmla="val 4444"/>
            </a:avLst>
          </a:prstGeom>
          <a:solidFill>
            <a:srgbClr val="E3E8ED"/>
          </a:solidFill>
          <a:ln w="12700">
            <a:solidFill>
              <a:srgbClr val="E3E8ED"/>
            </a:solidFill>
            <a:prstDash val="solid"/>
          </a:ln>
        </p:spPr>
      </p:sp>
      <p:sp>
        <p:nvSpPr>
          <p:cNvPr id="7" name="Shape 5"/>
          <p:cNvSpPr/>
          <p:nvPr/>
        </p:nvSpPr>
        <p:spPr>
          <a:xfrm>
            <a:off x="8083296" y="1600200"/>
            <a:ext cx="1600200" cy="4526280"/>
          </a:xfrm>
          <a:prstGeom prst="rect">
            <a:avLst/>
          </a:prstGeom>
          <a:solidFill>
            <a:srgbClr val="3B414A"/>
          </a:solidFill>
          <a:ln w="12700">
            <a:solidFill>
              <a:srgbClr val="3B414A"/>
            </a:solidFill>
            <a:prstDash val="solid"/>
          </a:ln>
        </p:spPr>
      </p:sp>
      <p:sp>
        <p:nvSpPr>
          <p:cNvPr id="8" name="Shape 6"/>
          <p:cNvSpPr/>
          <p:nvPr/>
        </p:nvSpPr>
        <p:spPr>
          <a:xfrm>
            <a:off x="6126480" y="3063240"/>
            <a:ext cx="5513832" cy="1600200"/>
          </a:xfrm>
          <a:prstGeom prst="rect">
            <a:avLst/>
          </a:prstGeom>
          <a:solidFill>
            <a:srgbClr val="3B414A"/>
          </a:solidFill>
          <a:ln w="12700">
            <a:solidFill>
              <a:srgbClr val="3B414A"/>
            </a:solidFill>
            <a:prstDash val="solid"/>
          </a:ln>
        </p:spPr>
      </p:sp>
      <p:sp>
        <p:nvSpPr>
          <p:cNvPr id="9" name="Shape 7"/>
          <p:cNvSpPr/>
          <p:nvPr/>
        </p:nvSpPr>
        <p:spPr>
          <a:xfrm>
            <a:off x="8883396" y="1709928"/>
            <a:ext cx="0" cy="1243584"/>
          </a:xfrm>
          <a:prstGeom prst="line">
            <a:avLst/>
          </a:prstGeom>
          <a:noFill/>
          <a:ln w="22225">
            <a:solidFill>
              <a:srgbClr val="F2F4F6"/>
            </a:solidFill>
            <a:prstDash val="dash"/>
          </a:ln>
        </p:spPr>
      </p:sp>
      <p:sp>
        <p:nvSpPr>
          <p:cNvPr id="10" name="Shape 8"/>
          <p:cNvSpPr/>
          <p:nvPr/>
        </p:nvSpPr>
        <p:spPr>
          <a:xfrm>
            <a:off x="8883396" y="4773168"/>
            <a:ext cx="0" cy="1243584"/>
          </a:xfrm>
          <a:prstGeom prst="line">
            <a:avLst/>
          </a:prstGeom>
          <a:noFill/>
          <a:ln w="22225">
            <a:solidFill>
              <a:srgbClr val="F2F4F6"/>
            </a:solidFill>
            <a:prstDash val="dash"/>
          </a:ln>
        </p:spPr>
      </p:sp>
      <p:sp>
        <p:nvSpPr>
          <p:cNvPr id="11" name="Shape 9"/>
          <p:cNvSpPr/>
          <p:nvPr/>
        </p:nvSpPr>
        <p:spPr>
          <a:xfrm>
            <a:off x="6236208" y="3863340"/>
            <a:ext cx="1737360" cy="0"/>
          </a:xfrm>
          <a:prstGeom prst="line">
            <a:avLst/>
          </a:prstGeom>
          <a:noFill/>
          <a:ln w="22225">
            <a:solidFill>
              <a:srgbClr val="F2F4F6"/>
            </a:solidFill>
            <a:prstDash val="dash"/>
          </a:ln>
        </p:spPr>
      </p:sp>
      <p:sp>
        <p:nvSpPr>
          <p:cNvPr id="12" name="Shape 10"/>
          <p:cNvSpPr/>
          <p:nvPr/>
        </p:nvSpPr>
        <p:spPr>
          <a:xfrm>
            <a:off x="9793224" y="3863340"/>
            <a:ext cx="1737360" cy="0"/>
          </a:xfrm>
          <a:prstGeom prst="line">
            <a:avLst/>
          </a:prstGeom>
          <a:noFill/>
          <a:ln w="22225">
            <a:solidFill>
              <a:srgbClr val="F2F4F6"/>
            </a:solidFill>
            <a:prstDash val="dash"/>
          </a:ln>
        </p:spPr>
      </p:sp>
      <p:sp>
        <p:nvSpPr>
          <p:cNvPr id="13" name="Shape 11"/>
          <p:cNvSpPr/>
          <p:nvPr/>
        </p:nvSpPr>
        <p:spPr>
          <a:xfrm>
            <a:off x="8874252" y="4809744"/>
            <a:ext cx="475488" cy="896112"/>
          </a:xfrm>
          <a:prstGeom prst="roundRect">
            <a:avLst>
              <a:gd name="adj" fmla="val 25000"/>
            </a:avLst>
          </a:prstGeom>
          <a:solidFill>
            <a:srgbClr val="FF9300"/>
          </a:solidFill>
          <a:ln w="15875">
            <a:solidFill>
              <a:srgbClr val="FFFFFF"/>
            </a:solidFill>
            <a:prstDash val="solid"/>
          </a:ln>
        </p:spPr>
      </p:sp>
      <p:sp>
        <p:nvSpPr>
          <p:cNvPr id="14" name="Shape 12"/>
          <p:cNvSpPr/>
          <p:nvPr/>
        </p:nvSpPr>
        <p:spPr>
          <a:xfrm>
            <a:off x="8947404" y="4992624"/>
            <a:ext cx="329184" cy="182880"/>
          </a:xfrm>
          <a:prstGeom prst="roundRect">
            <a:avLst>
              <a:gd name="adj" fmla="val 30000"/>
            </a:avLst>
          </a:prstGeom>
          <a:solidFill>
            <a:srgbClr val="1B1F24"/>
          </a:solidFill>
          <a:ln w="12700">
            <a:solidFill>
              <a:srgbClr val="1B1F24"/>
            </a:solidFill>
            <a:prstDash val="solid"/>
          </a:ln>
        </p:spPr>
      </p:sp>
      <p:sp>
        <p:nvSpPr>
          <p:cNvPr id="15" name="Shape 13"/>
          <p:cNvSpPr/>
          <p:nvPr/>
        </p:nvSpPr>
        <p:spPr>
          <a:xfrm>
            <a:off x="8814816" y="4860036"/>
            <a:ext cx="118872" cy="118872"/>
          </a:xfrm>
          <a:prstGeom prst="ellipse">
            <a:avLst/>
          </a:prstGeom>
          <a:solidFill>
            <a:srgbClr val="F7B500"/>
          </a:solidFill>
          <a:ln w="9525">
            <a:solidFill>
              <a:srgbClr val="FFFFFF"/>
            </a:solidFill>
            <a:prstDash val="solid"/>
          </a:ln>
        </p:spPr>
      </p:sp>
      <p:sp>
        <p:nvSpPr>
          <p:cNvPr id="16" name="Shape 14"/>
          <p:cNvSpPr/>
          <p:nvPr/>
        </p:nvSpPr>
        <p:spPr>
          <a:xfrm>
            <a:off x="8814816" y="5536692"/>
            <a:ext cx="118872" cy="118872"/>
          </a:xfrm>
          <a:prstGeom prst="ellipse">
            <a:avLst/>
          </a:prstGeom>
          <a:solidFill>
            <a:srgbClr val="F7B500"/>
          </a:solidFill>
          <a:ln w="9525">
            <a:solidFill>
              <a:srgbClr val="FFFFFF"/>
            </a:solidFill>
            <a:prstDash val="solid"/>
          </a:ln>
        </p:spPr>
      </p:sp>
      <p:sp>
        <p:nvSpPr>
          <p:cNvPr id="17" name="Text 15"/>
          <p:cNvSpPr txBox="1"/>
          <p:nvPr/>
        </p:nvSpPr>
        <p:spPr>
          <a:xfrm>
            <a:off x="8837676" y="527608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8" name="Shape 16"/>
          <p:cNvSpPr/>
          <p:nvPr/>
        </p:nvSpPr>
        <p:spPr>
          <a:xfrm>
            <a:off x="8245602" y="1929384"/>
            <a:ext cx="475488" cy="896112"/>
          </a:xfrm>
          <a:prstGeom prst="roundRect">
            <a:avLst>
              <a:gd name="adj" fmla="val 25000"/>
            </a:avLst>
          </a:prstGeom>
          <a:solidFill>
            <a:srgbClr val="12A150"/>
          </a:solidFill>
          <a:ln w="15875">
            <a:solidFill>
              <a:srgbClr val="FFFFFF"/>
            </a:solidFill>
            <a:prstDash val="solid"/>
          </a:ln>
        </p:spPr>
      </p:sp>
      <p:sp>
        <p:nvSpPr>
          <p:cNvPr id="19" name="Shape 17"/>
          <p:cNvSpPr/>
          <p:nvPr/>
        </p:nvSpPr>
        <p:spPr>
          <a:xfrm>
            <a:off x="8318754" y="2459736"/>
            <a:ext cx="329184" cy="182880"/>
          </a:xfrm>
          <a:prstGeom prst="roundRect">
            <a:avLst>
              <a:gd name="adj" fmla="val 30000"/>
            </a:avLst>
          </a:prstGeom>
          <a:solidFill>
            <a:srgbClr val="1B1F24"/>
          </a:solidFill>
          <a:ln w="12700">
            <a:solidFill>
              <a:srgbClr val="1B1F24"/>
            </a:solidFill>
            <a:prstDash val="solid"/>
          </a:ln>
        </p:spPr>
      </p:sp>
      <p:sp>
        <p:nvSpPr>
          <p:cNvPr id="20" name="Shape 18"/>
          <p:cNvSpPr/>
          <p:nvPr/>
        </p:nvSpPr>
        <p:spPr>
          <a:xfrm>
            <a:off x="8186166" y="2656332"/>
            <a:ext cx="118872" cy="118872"/>
          </a:xfrm>
          <a:prstGeom prst="ellipse">
            <a:avLst/>
          </a:prstGeom>
          <a:solidFill>
            <a:srgbClr val="F7B500"/>
          </a:solidFill>
          <a:ln w="9525">
            <a:solidFill>
              <a:srgbClr val="FFFFFF"/>
            </a:solidFill>
            <a:prstDash val="solid"/>
          </a:ln>
        </p:spPr>
      </p:sp>
      <p:sp>
        <p:nvSpPr>
          <p:cNvPr id="21" name="Shape 19"/>
          <p:cNvSpPr/>
          <p:nvPr/>
        </p:nvSpPr>
        <p:spPr>
          <a:xfrm>
            <a:off x="8186166" y="1979676"/>
            <a:ext cx="118872" cy="118872"/>
          </a:xfrm>
          <a:prstGeom prst="ellipse">
            <a:avLst/>
          </a:prstGeom>
          <a:solidFill>
            <a:srgbClr val="F7B500"/>
          </a:solidFill>
          <a:ln w="9525">
            <a:solidFill>
              <a:srgbClr val="FFFFFF"/>
            </a:solidFill>
            <a:prstDash val="solid"/>
          </a:ln>
        </p:spPr>
      </p:sp>
      <p:sp>
        <p:nvSpPr>
          <p:cNvPr id="22" name="Shape 20"/>
          <p:cNvSpPr/>
          <p:nvPr/>
        </p:nvSpPr>
        <p:spPr>
          <a:xfrm>
            <a:off x="7782458" y="2880360"/>
            <a:ext cx="700888" cy="582930"/>
          </a:xfrm>
          <a:custGeom>
            <a:avLst/>
            <a:gdLst/>
            <a:ahLst/>
            <a:cxnLst/>
            <a:rect l="l" t="t" r="r" b="b"/>
            <a:pathLst>
              <a:path w="700888" h="582930">
                <a:moveTo>
                  <a:pt x="700888" y="0"/>
                </a:moveTo>
                <a:quadBezTo>
                  <a:pt x="700888" y="582930"/>
                  <a:pt x="0" y="582930"/>
                </a:quadBezTo>
              </a:path>
            </a:pathLst>
          </a:custGeom>
          <a:noFill/>
          <a:ln w="44450">
            <a:solidFill>
              <a:srgbClr val="FFFFFF"/>
            </a:solidFill>
            <a:prstDash val="solid"/>
          </a:ln>
        </p:spPr>
      </p:sp>
      <p:sp>
        <p:nvSpPr>
          <p:cNvPr id="23" name="Shape 21"/>
          <p:cNvSpPr/>
          <p:nvPr/>
        </p:nvSpPr>
        <p:spPr>
          <a:xfrm rot="16200000">
            <a:off x="7580376" y="3344418"/>
            <a:ext cx="237744" cy="237744"/>
          </a:xfrm>
          <a:prstGeom prst="triangle">
            <a:avLst/>
          </a:prstGeom>
          <a:solidFill>
            <a:srgbClr val="FFFFFF"/>
          </a:solidFill>
          <a:ln w="12700">
            <a:solidFill>
              <a:srgbClr val="FFFFFF"/>
            </a:solidFill>
            <a:prstDash val="solid"/>
          </a:ln>
        </p:spPr>
      </p:sp>
      <p:sp>
        <p:nvSpPr>
          <p:cNvPr id="24" name="Shape 22"/>
          <p:cNvSpPr/>
          <p:nvPr/>
        </p:nvSpPr>
        <p:spPr>
          <a:xfrm>
            <a:off x="7771628" y="3528559"/>
            <a:ext cx="1340368" cy="1226321"/>
          </a:xfrm>
          <a:custGeom>
            <a:avLst/>
            <a:gdLst/>
            <a:ahLst/>
            <a:cxnLst/>
            <a:rect l="l" t="t" r="r" b="b"/>
            <a:pathLst>
              <a:path w="1340368" h="1226321">
                <a:moveTo>
                  <a:pt x="1340368" y="1226321"/>
                </a:moveTo>
                <a:quadBezTo>
                  <a:pt x="1248928" y="426221"/>
                  <a:pt x="0" y="0"/>
                </a:quadBezTo>
              </a:path>
            </a:pathLst>
          </a:custGeom>
          <a:noFill/>
          <a:ln w="44450">
            <a:solidFill>
              <a:srgbClr val="FF9300"/>
            </a:solidFill>
            <a:prstDash val="dash"/>
          </a:ln>
        </p:spPr>
      </p:sp>
      <p:sp>
        <p:nvSpPr>
          <p:cNvPr id="25" name="Shape 23"/>
          <p:cNvSpPr/>
          <p:nvPr/>
        </p:nvSpPr>
        <p:spPr>
          <a:xfrm rot="17330594">
            <a:off x="7574005" y="3382811"/>
            <a:ext cx="237744" cy="237744"/>
          </a:xfrm>
          <a:prstGeom prst="triangle">
            <a:avLst/>
          </a:prstGeom>
          <a:solidFill>
            <a:srgbClr val="FF9300"/>
          </a:solidFill>
          <a:ln w="12700">
            <a:solidFill>
              <a:srgbClr val="FF9300"/>
            </a:solidFill>
            <a:prstDash val="solid"/>
          </a:ln>
        </p:spPr>
      </p:sp>
      <p:sp>
        <p:nvSpPr>
          <p:cNvPr id="26" name="Shape 24"/>
          <p:cNvSpPr/>
          <p:nvPr/>
        </p:nvSpPr>
        <p:spPr>
          <a:xfrm>
            <a:off x="8839962" y="2167128"/>
            <a:ext cx="420624" cy="420624"/>
          </a:xfrm>
          <a:prstGeom prst="ellipse">
            <a:avLst/>
          </a:prstGeom>
          <a:solidFill>
            <a:srgbClr val="FF9300"/>
          </a:solidFill>
          <a:ln w="19050">
            <a:solidFill>
              <a:srgbClr val="FFFFFF"/>
            </a:solidFill>
            <a:prstDash val="solid"/>
          </a:ln>
        </p:spPr>
      </p:sp>
      <p:sp>
        <p:nvSpPr>
          <p:cNvPr id="27" name="Text 25"/>
          <p:cNvSpPr txBox="1"/>
          <p:nvPr/>
        </p:nvSpPr>
        <p:spPr>
          <a:xfrm>
            <a:off x="8839962" y="216712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1</a:t>
            </a:r>
            <a:endParaRPr lang="en-US" sz="1700" dirty="0"/>
          </a:p>
        </p:txBody>
      </p:sp>
      <p:sp>
        <p:nvSpPr>
          <p:cNvPr id="28" name="Shape 26"/>
          <p:cNvSpPr/>
          <p:nvPr/>
        </p:nvSpPr>
        <p:spPr>
          <a:xfrm>
            <a:off x="9468612" y="5138928"/>
            <a:ext cx="420624" cy="420624"/>
          </a:xfrm>
          <a:prstGeom prst="ellipse">
            <a:avLst/>
          </a:prstGeom>
          <a:solidFill>
            <a:srgbClr val="FF9300"/>
          </a:solidFill>
          <a:ln w="19050">
            <a:solidFill>
              <a:srgbClr val="FFFFFF"/>
            </a:solidFill>
            <a:prstDash val="solid"/>
          </a:ln>
        </p:spPr>
      </p:sp>
      <p:sp>
        <p:nvSpPr>
          <p:cNvPr id="29" name="Text 27"/>
          <p:cNvSpPr txBox="1"/>
          <p:nvPr/>
        </p:nvSpPr>
        <p:spPr>
          <a:xfrm>
            <a:off x="9468612" y="513892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2</a:t>
            </a:r>
            <a:endParaRPr lang="en-US" sz="1700" dirty="0"/>
          </a:p>
        </p:txBody>
      </p:sp>
      <p:sp>
        <p:nvSpPr>
          <p:cNvPr id="30" name="Shape 28"/>
          <p:cNvSpPr/>
          <p:nvPr/>
        </p:nvSpPr>
        <p:spPr>
          <a:xfrm>
            <a:off x="580644" y="1888236"/>
            <a:ext cx="155448" cy="155448"/>
          </a:xfrm>
          <a:prstGeom prst="ellipse">
            <a:avLst/>
          </a:prstGeom>
          <a:solidFill>
            <a:srgbClr val="FF9300"/>
          </a:solidFill>
          <a:ln w="12700">
            <a:solidFill>
              <a:srgbClr val="FF9300"/>
            </a:solidFill>
            <a:prstDash val="solid"/>
          </a:ln>
        </p:spPr>
      </p:sp>
      <p:sp>
        <p:nvSpPr>
          <p:cNvPr id="31" name="Text 29"/>
          <p:cNvSpPr txBox="1"/>
          <p:nvPr/>
        </p:nvSpPr>
        <p:spPr>
          <a:xfrm>
            <a:off x="932688" y="1783080"/>
            <a:ext cx="4828032" cy="950976"/>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Vorher: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ankündigen, einordnen, doppelte Rückschau.</a:t>
            </a:r>
            <a:endParaRPr lang="en-US" sz="1900" dirty="0"/>
          </a:p>
        </p:txBody>
      </p:sp>
      <p:sp>
        <p:nvSpPr>
          <p:cNvPr id="32" name="Shape 30"/>
          <p:cNvSpPr/>
          <p:nvPr/>
        </p:nvSpPr>
        <p:spPr>
          <a:xfrm>
            <a:off x="580644" y="2912364"/>
            <a:ext cx="155448" cy="155448"/>
          </a:xfrm>
          <a:prstGeom prst="ellipse">
            <a:avLst/>
          </a:prstGeom>
          <a:solidFill>
            <a:srgbClr val="FF9300"/>
          </a:solidFill>
          <a:ln w="12700">
            <a:solidFill>
              <a:srgbClr val="FF9300"/>
            </a:solidFill>
            <a:prstDash val="solid"/>
          </a:ln>
        </p:spPr>
      </p:sp>
      <p:sp>
        <p:nvSpPr>
          <p:cNvPr id="33" name="Text 31"/>
          <p:cNvSpPr txBox="1"/>
          <p:nvPr/>
        </p:nvSpPr>
        <p:spPr>
          <a:xfrm>
            <a:off x="932688" y="2807208"/>
            <a:ext cx="4828032" cy="950976"/>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Gegenverkehr zuerst –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auch wenn er dir entgegenkommt und rechts abbiegt.</a:t>
            </a:r>
            <a:endParaRPr lang="en-US" sz="1900" dirty="0"/>
          </a:p>
        </p:txBody>
      </p:sp>
      <p:sp>
        <p:nvSpPr>
          <p:cNvPr id="34" name="Shape 32"/>
          <p:cNvSpPr/>
          <p:nvPr/>
        </p:nvSpPr>
        <p:spPr>
          <a:xfrm>
            <a:off x="580644" y="3936492"/>
            <a:ext cx="155448" cy="155448"/>
          </a:xfrm>
          <a:prstGeom prst="ellipse">
            <a:avLst/>
          </a:prstGeom>
          <a:solidFill>
            <a:srgbClr val="FF9300"/>
          </a:solidFill>
          <a:ln w="12700">
            <a:solidFill>
              <a:srgbClr val="FF9300"/>
            </a:solidFill>
            <a:prstDash val="solid"/>
          </a:ln>
        </p:spPr>
      </p:sp>
      <p:sp>
        <p:nvSpPr>
          <p:cNvPr id="35" name="Text 33"/>
          <p:cNvSpPr txBox="1"/>
          <p:nvPr/>
        </p:nvSpPr>
        <p:spPr>
          <a:xfrm>
            <a:off x="932688" y="3831336"/>
            <a:ext cx="4828032" cy="950976"/>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Durchlassen: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Radfahrer, E-Scooter, Straßenbahn, Linienbusse auf Sonderfahrstreifen.</a:t>
            </a:r>
            <a:endParaRPr lang="en-US" sz="1900" dirty="0"/>
          </a:p>
        </p:txBody>
      </p:sp>
      <p:sp>
        <p:nvSpPr>
          <p:cNvPr id="36" name="Shape 34"/>
          <p:cNvSpPr/>
          <p:nvPr/>
        </p:nvSpPr>
        <p:spPr>
          <a:xfrm>
            <a:off x="580644" y="4960620"/>
            <a:ext cx="155448" cy="155448"/>
          </a:xfrm>
          <a:prstGeom prst="ellipse">
            <a:avLst/>
          </a:prstGeom>
          <a:solidFill>
            <a:srgbClr val="FF9300"/>
          </a:solidFill>
          <a:ln w="12700">
            <a:solidFill>
              <a:srgbClr val="FF9300"/>
            </a:solidFill>
            <a:prstDash val="solid"/>
          </a:ln>
        </p:spPr>
      </p:sp>
      <p:sp>
        <p:nvSpPr>
          <p:cNvPr id="37" name="Text 35"/>
          <p:cNvSpPr txBox="1"/>
          <p:nvPr/>
        </p:nvSpPr>
        <p:spPr>
          <a:xfrm>
            <a:off x="932688" y="4855464"/>
            <a:ext cx="4828032" cy="950976"/>
          </a:xfrm>
          <a:prstGeom prst="rect">
            <a:avLst/>
          </a:prstGeom>
          <a:noFill/>
          <a:ln/>
        </p:spPr>
        <p:txBody>
          <a:bodyPr wrap="square" lIns="0" tIns="0" rIns="0" bIns="0" rtlCol="0" anchor="t"/>
          <a:lstStyle/>
          <a:p>
            <a:pPr indent="0" marL="0">
              <a:lnSpc>
                <a:spcPct val="105000"/>
              </a:lnSpc>
              <a:buNone/>
            </a:pPr>
            <a:r>
              <a:rPr lang="en-US" sz="1900" b="1" dirty="0">
                <a:solidFill>
                  <a:srgbClr val="15181D"/>
                </a:solidFill>
                <a:latin typeface="Arial" pitchFamily="34" charset="0"/>
                <a:ea typeface="Arial" pitchFamily="34" charset="-122"/>
                <a:cs typeface="Arial" pitchFamily="34" charset="-120"/>
              </a:rPr>
              <a:t>Fußgänger </a:t>
            </a:r>
            <a:pPr indent="0" marL="0">
              <a:lnSpc>
                <a:spcPct val="105000"/>
              </a:lnSpc>
              <a:buNone/>
            </a:pPr>
            <a:r>
              <a:rPr lang="en-US" sz="1900" dirty="0">
                <a:solidFill>
                  <a:srgbClr val="343B44"/>
                </a:solidFill>
                <a:latin typeface="Arial" pitchFamily="34" charset="0"/>
                <a:ea typeface="Arial" pitchFamily="34" charset="-122"/>
                <a:cs typeface="Arial" pitchFamily="34" charset="-120"/>
              </a:rPr>
              <a:t>beim Abbiegen besonders beachten, notfalls warten.</a:t>
            </a:r>
            <a:endParaRPr lang="en-US" sz="19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04 · ZWEI LINKSABBIEGER</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Voreinander oder hintereinander?</a:t>
            </a:r>
            <a:endParaRPr lang="en-US" sz="3200" dirty="0"/>
          </a:p>
        </p:txBody>
      </p:sp>
      <p:sp>
        <p:nvSpPr>
          <p:cNvPr id="4" name="Shape 2"/>
          <p:cNvSpPr/>
          <p:nvPr/>
        </p:nvSpPr>
        <p:spPr>
          <a:xfrm>
            <a:off x="9882835" y="457200"/>
            <a:ext cx="1760220"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882835" y="457200"/>
            <a:ext cx="1760220"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9 Abs. 4 StVO</a:t>
            </a:r>
            <a:endParaRPr lang="en-US" sz="1200" dirty="0"/>
          </a:p>
        </p:txBody>
      </p:sp>
      <p:sp>
        <p:nvSpPr>
          <p:cNvPr id="6" name="Shape 4"/>
          <p:cNvSpPr/>
          <p:nvPr/>
        </p:nvSpPr>
        <p:spPr>
          <a:xfrm>
            <a:off x="548640" y="1600200"/>
            <a:ext cx="5440680" cy="3383280"/>
          </a:xfrm>
          <a:prstGeom prst="roundRect">
            <a:avLst>
              <a:gd name="adj" fmla="val 5946"/>
            </a:avLst>
          </a:prstGeom>
          <a:solidFill>
            <a:srgbClr val="E3E8ED"/>
          </a:solidFill>
          <a:ln w="12700">
            <a:solidFill>
              <a:srgbClr val="E3E8ED"/>
            </a:solidFill>
            <a:prstDash val="solid"/>
          </a:ln>
        </p:spPr>
      </p:sp>
      <p:sp>
        <p:nvSpPr>
          <p:cNvPr id="7" name="Shape 5"/>
          <p:cNvSpPr/>
          <p:nvPr/>
        </p:nvSpPr>
        <p:spPr>
          <a:xfrm>
            <a:off x="2468880" y="1600200"/>
            <a:ext cx="1600200" cy="3383280"/>
          </a:xfrm>
          <a:prstGeom prst="rect">
            <a:avLst/>
          </a:prstGeom>
          <a:solidFill>
            <a:srgbClr val="3B414A"/>
          </a:solidFill>
          <a:ln w="12700">
            <a:solidFill>
              <a:srgbClr val="3B414A"/>
            </a:solidFill>
            <a:prstDash val="solid"/>
          </a:ln>
        </p:spPr>
      </p:sp>
      <p:sp>
        <p:nvSpPr>
          <p:cNvPr id="8" name="Shape 6"/>
          <p:cNvSpPr/>
          <p:nvPr/>
        </p:nvSpPr>
        <p:spPr>
          <a:xfrm>
            <a:off x="548640" y="2491740"/>
            <a:ext cx="5440680" cy="1600200"/>
          </a:xfrm>
          <a:prstGeom prst="rect">
            <a:avLst/>
          </a:prstGeom>
          <a:solidFill>
            <a:srgbClr val="3B414A"/>
          </a:solidFill>
          <a:ln w="12700">
            <a:solidFill>
              <a:srgbClr val="3B414A"/>
            </a:solidFill>
            <a:prstDash val="solid"/>
          </a:ln>
        </p:spPr>
      </p:sp>
      <p:sp>
        <p:nvSpPr>
          <p:cNvPr id="9" name="Shape 7"/>
          <p:cNvSpPr/>
          <p:nvPr/>
        </p:nvSpPr>
        <p:spPr>
          <a:xfrm>
            <a:off x="3268980" y="1709928"/>
            <a:ext cx="0" cy="672084"/>
          </a:xfrm>
          <a:prstGeom prst="line">
            <a:avLst/>
          </a:prstGeom>
          <a:noFill/>
          <a:ln w="22225">
            <a:solidFill>
              <a:srgbClr val="F2F4F6"/>
            </a:solidFill>
            <a:prstDash val="dash"/>
          </a:ln>
        </p:spPr>
      </p:sp>
      <p:sp>
        <p:nvSpPr>
          <p:cNvPr id="10" name="Shape 8"/>
          <p:cNvSpPr/>
          <p:nvPr/>
        </p:nvSpPr>
        <p:spPr>
          <a:xfrm>
            <a:off x="3268980" y="4201668"/>
            <a:ext cx="0" cy="672084"/>
          </a:xfrm>
          <a:prstGeom prst="line">
            <a:avLst/>
          </a:prstGeom>
          <a:noFill/>
          <a:ln w="22225">
            <a:solidFill>
              <a:srgbClr val="F2F4F6"/>
            </a:solidFill>
            <a:prstDash val="dash"/>
          </a:ln>
        </p:spPr>
      </p:sp>
      <p:sp>
        <p:nvSpPr>
          <p:cNvPr id="11" name="Shape 9"/>
          <p:cNvSpPr/>
          <p:nvPr/>
        </p:nvSpPr>
        <p:spPr>
          <a:xfrm>
            <a:off x="658368" y="3291840"/>
            <a:ext cx="1700784" cy="0"/>
          </a:xfrm>
          <a:prstGeom prst="line">
            <a:avLst/>
          </a:prstGeom>
          <a:noFill/>
          <a:ln w="22225">
            <a:solidFill>
              <a:srgbClr val="F2F4F6"/>
            </a:solidFill>
            <a:prstDash val="dash"/>
          </a:ln>
        </p:spPr>
      </p:sp>
      <p:sp>
        <p:nvSpPr>
          <p:cNvPr id="12" name="Shape 10"/>
          <p:cNvSpPr/>
          <p:nvPr/>
        </p:nvSpPr>
        <p:spPr>
          <a:xfrm>
            <a:off x="4178808" y="3291840"/>
            <a:ext cx="1700784" cy="0"/>
          </a:xfrm>
          <a:prstGeom prst="line">
            <a:avLst/>
          </a:prstGeom>
          <a:noFill/>
          <a:ln w="22225">
            <a:solidFill>
              <a:srgbClr val="F2F4F6"/>
            </a:solidFill>
            <a:prstDash val="dash"/>
          </a:ln>
        </p:spPr>
      </p:sp>
      <p:sp>
        <p:nvSpPr>
          <p:cNvPr id="13" name="Shape 11"/>
          <p:cNvSpPr/>
          <p:nvPr/>
        </p:nvSpPr>
        <p:spPr>
          <a:xfrm>
            <a:off x="3431286" y="4238244"/>
            <a:ext cx="475488" cy="896112"/>
          </a:xfrm>
          <a:prstGeom prst="roundRect">
            <a:avLst>
              <a:gd name="adj" fmla="val 25000"/>
            </a:avLst>
          </a:prstGeom>
          <a:solidFill>
            <a:srgbClr val="FF9300"/>
          </a:solidFill>
          <a:ln w="15875">
            <a:solidFill>
              <a:srgbClr val="FFFFFF"/>
            </a:solidFill>
            <a:prstDash val="solid"/>
          </a:ln>
        </p:spPr>
      </p:sp>
      <p:sp>
        <p:nvSpPr>
          <p:cNvPr id="14" name="Shape 12"/>
          <p:cNvSpPr/>
          <p:nvPr/>
        </p:nvSpPr>
        <p:spPr>
          <a:xfrm>
            <a:off x="3504438" y="4421124"/>
            <a:ext cx="329184" cy="182880"/>
          </a:xfrm>
          <a:prstGeom prst="roundRect">
            <a:avLst>
              <a:gd name="adj" fmla="val 30000"/>
            </a:avLst>
          </a:prstGeom>
          <a:solidFill>
            <a:srgbClr val="1B1F24"/>
          </a:solidFill>
          <a:ln w="12700">
            <a:solidFill>
              <a:srgbClr val="1B1F24"/>
            </a:solidFill>
            <a:prstDash val="solid"/>
          </a:ln>
        </p:spPr>
      </p:sp>
      <p:sp>
        <p:nvSpPr>
          <p:cNvPr id="15" name="Shape 13"/>
          <p:cNvSpPr/>
          <p:nvPr/>
        </p:nvSpPr>
        <p:spPr>
          <a:xfrm>
            <a:off x="3371850" y="4288536"/>
            <a:ext cx="118872" cy="118872"/>
          </a:xfrm>
          <a:prstGeom prst="ellipse">
            <a:avLst/>
          </a:prstGeom>
          <a:solidFill>
            <a:srgbClr val="F7B500"/>
          </a:solidFill>
          <a:ln w="9525">
            <a:solidFill>
              <a:srgbClr val="FFFFFF"/>
            </a:solidFill>
            <a:prstDash val="solid"/>
          </a:ln>
        </p:spPr>
      </p:sp>
      <p:sp>
        <p:nvSpPr>
          <p:cNvPr id="16" name="Shape 14"/>
          <p:cNvSpPr/>
          <p:nvPr/>
        </p:nvSpPr>
        <p:spPr>
          <a:xfrm>
            <a:off x="3371850" y="4965192"/>
            <a:ext cx="118872" cy="118872"/>
          </a:xfrm>
          <a:prstGeom prst="ellipse">
            <a:avLst/>
          </a:prstGeom>
          <a:solidFill>
            <a:srgbClr val="F7B500"/>
          </a:solidFill>
          <a:ln w="9525">
            <a:solidFill>
              <a:srgbClr val="FFFFFF"/>
            </a:solidFill>
            <a:prstDash val="solid"/>
          </a:ln>
        </p:spPr>
      </p:sp>
      <p:sp>
        <p:nvSpPr>
          <p:cNvPr id="17" name="Text 15"/>
          <p:cNvSpPr txBox="1"/>
          <p:nvPr/>
        </p:nvSpPr>
        <p:spPr>
          <a:xfrm>
            <a:off x="3394710" y="470458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8" name="Shape 16"/>
          <p:cNvSpPr/>
          <p:nvPr/>
        </p:nvSpPr>
        <p:spPr>
          <a:xfrm>
            <a:off x="2631186" y="1449324"/>
            <a:ext cx="475488" cy="896112"/>
          </a:xfrm>
          <a:prstGeom prst="roundRect">
            <a:avLst>
              <a:gd name="adj" fmla="val 25000"/>
            </a:avLst>
          </a:prstGeom>
          <a:solidFill>
            <a:srgbClr val="3B82F6"/>
          </a:solidFill>
          <a:ln w="15875">
            <a:solidFill>
              <a:srgbClr val="FFFFFF"/>
            </a:solidFill>
            <a:prstDash val="solid"/>
          </a:ln>
        </p:spPr>
      </p:sp>
      <p:sp>
        <p:nvSpPr>
          <p:cNvPr id="19" name="Shape 17"/>
          <p:cNvSpPr/>
          <p:nvPr/>
        </p:nvSpPr>
        <p:spPr>
          <a:xfrm>
            <a:off x="2704338" y="1979676"/>
            <a:ext cx="329184" cy="182880"/>
          </a:xfrm>
          <a:prstGeom prst="roundRect">
            <a:avLst>
              <a:gd name="adj" fmla="val 30000"/>
            </a:avLst>
          </a:prstGeom>
          <a:solidFill>
            <a:srgbClr val="1B1F24"/>
          </a:solidFill>
          <a:ln w="12700">
            <a:solidFill>
              <a:srgbClr val="1B1F24"/>
            </a:solidFill>
            <a:prstDash val="solid"/>
          </a:ln>
        </p:spPr>
      </p:sp>
      <p:sp>
        <p:nvSpPr>
          <p:cNvPr id="20" name="Shape 18"/>
          <p:cNvSpPr/>
          <p:nvPr/>
        </p:nvSpPr>
        <p:spPr>
          <a:xfrm>
            <a:off x="3047238" y="2176272"/>
            <a:ext cx="118872" cy="118872"/>
          </a:xfrm>
          <a:prstGeom prst="ellipse">
            <a:avLst/>
          </a:prstGeom>
          <a:solidFill>
            <a:srgbClr val="F7B500"/>
          </a:solidFill>
          <a:ln w="9525">
            <a:solidFill>
              <a:srgbClr val="FFFFFF"/>
            </a:solidFill>
            <a:prstDash val="solid"/>
          </a:ln>
        </p:spPr>
      </p:sp>
      <p:sp>
        <p:nvSpPr>
          <p:cNvPr id="21" name="Shape 19"/>
          <p:cNvSpPr/>
          <p:nvPr/>
        </p:nvSpPr>
        <p:spPr>
          <a:xfrm>
            <a:off x="3047238" y="1499616"/>
            <a:ext cx="118872" cy="118872"/>
          </a:xfrm>
          <a:prstGeom prst="ellipse">
            <a:avLst/>
          </a:prstGeom>
          <a:solidFill>
            <a:srgbClr val="F7B500"/>
          </a:solidFill>
          <a:ln w="9525">
            <a:solidFill>
              <a:srgbClr val="FFFFFF"/>
            </a:solidFill>
            <a:prstDash val="solid"/>
          </a:ln>
        </p:spPr>
      </p:sp>
      <p:sp>
        <p:nvSpPr>
          <p:cNvPr id="22" name="Shape 20"/>
          <p:cNvSpPr/>
          <p:nvPr/>
        </p:nvSpPr>
        <p:spPr>
          <a:xfrm>
            <a:off x="2196663" y="2973145"/>
            <a:ext cx="1472367" cy="1210235"/>
          </a:xfrm>
          <a:custGeom>
            <a:avLst/>
            <a:gdLst/>
            <a:ahLst/>
            <a:cxnLst/>
            <a:rect l="l" t="t" r="r" b="b"/>
            <a:pathLst>
              <a:path w="1472367" h="1210235">
                <a:moveTo>
                  <a:pt x="1472367" y="1210235"/>
                </a:moveTo>
                <a:quadBezTo>
                  <a:pt x="1182045" y="519863"/>
                  <a:pt x="0" y="0"/>
                </a:quadBezTo>
              </a:path>
            </a:pathLst>
          </a:custGeom>
          <a:noFill/>
          <a:ln w="44450">
            <a:solidFill>
              <a:srgbClr val="FF9300"/>
            </a:solidFill>
            <a:prstDash val="solid"/>
          </a:ln>
        </p:spPr>
      </p:sp>
      <p:sp>
        <p:nvSpPr>
          <p:cNvPr id="23" name="Shape 21"/>
          <p:cNvSpPr/>
          <p:nvPr/>
        </p:nvSpPr>
        <p:spPr>
          <a:xfrm rot="17624392">
            <a:off x="2001621" y="2820774"/>
            <a:ext cx="237744" cy="237744"/>
          </a:xfrm>
          <a:prstGeom prst="triangle">
            <a:avLst/>
          </a:prstGeom>
          <a:solidFill>
            <a:srgbClr val="FF9300"/>
          </a:solidFill>
          <a:ln w="12700">
            <a:solidFill>
              <a:srgbClr val="FF9300"/>
            </a:solidFill>
            <a:prstDash val="solid"/>
          </a:ln>
        </p:spPr>
      </p:sp>
      <p:sp>
        <p:nvSpPr>
          <p:cNvPr id="24" name="Shape 22"/>
          <p:cNvSpPr/>
          <p:nvPr/>
        </p:nvSpPr>
        <p:spPr>
          <a:xfrm>
            <a:off x="2868930" y="2400300"/>
            <a:ext cx="1472367" cy="1210235"/>
          </a:xfrm>
          <a:custGeom>
            <a:avLst/>
            <a:gdLst/>
            <a:ahLst/>
            <a:cxnLst/>
            <a:rect l="l" t="t" r="r" b="b"/>
            <a:pathLst>
              <a:path w="1472367" h="1210235">
                <a:moveTo>
                  <a:pt x="0" y="0"/>
                </a:moveTo>
                <a:quadBezTo>
                  <a:pt x="290322" y="690372"/>
                  <a:pt x="1472367" y="1210235"/>
                </a:quadBezTo>
              </a:path>
            </a:pathLst>
          </a:custGeom>
          <a:noFill/>
          <a:ln w="44450">
            <a:solidFill>
              <a:srgbClr val="FFFFFF"/>
            </a:solidFill>
            <a:prstDash val="solid"/>
          </a:ln>
        </p:spPr>
      </p:sp>
      <p:sp>
        <p:nvSpPr>
          <p:cNvPr id="25" name="Shape 23"/>
          <p:cNvSpPr/>
          <p:nvPr/>
        </p:nvSpPr>
        <p:spPr>
          <a:xfrm rot="6824392">
            <a:off x="4298595" y="3525162"/>
            <a:ext cx="237744" cy="237744"/>
          </a:xfrm>
          <a:prstGeom prst="triangle">
            <a:avLst/>
          </a:prstGeom>
          <a:solidFill>
            <a:srgbClr val="FFFFFF"/>
          </a:solidFill>
          <a:ln w="12700">
            <a:solidFill>
              <a:srgbClr val="FFFFFF"/>
            </a:solidFill>
            <a:prstDash val="solid"/>
          </a:ln>
        </p:spPr>
      </p:sp>
      <p:sp>
        <p:nvSpPr>
          <p:cNvPr id="26" name="Shape 24"/>
          <p:cNvSpPr/>
          <p:nvPr/>
        </p:nvSpPr>
        <p:spPr>
          <a:xfrm>
            <a:off x="6199632" y="1600200"/>
            <a:ext cx="5440680" cy="3383280"/>
          </a:xfrm>
          <a:prstGeom prst="roundRect">
            <a:avLst>
              <a:gd name="adj" fmla="val 5946"/>
            </a:avLst>
          </a:prstGeom>
          <a:solidFill>
            <a:srgbClr val="E3E8ED"/>
          </a:solidFill>
          <a:ln w="12700">
            <a:solidFill>
              <a:srgbClr val="E3E8ED"/>
            </a:solidFill>
            <a:prstDash val="solid"/>
          </a:ln>
        </p:spPr>
      </p:sp>
      <p:sp>
        <p:nvSpPr>
          <p:cNvPr id="27" name="Shape 25"/>
          <p:cNvSpPr/>
          <p:nvPr/>
        </p:nvSpPr>
        <p:spPr>
          <a:xfrm>
            <a:off x="8119872" y="1600200"/>
            <a:ext cx="1600200" cy="3383280"/>
          </a:xfrm>
          <a:prstGeom prst="rect">
            <a:avLst/>
          </a:prstGeom>
          <a:solidFill>
            <a:srgbClr val="3B414A"/>
          </a:solidFill>
          <a:ln w="12700">
            <a:solidFill>
              <a:srgbClr val="3B414A"/>
            </a:solidFill>
            <a:prstDash val="solid"/>
          </a:ln>
        </p:spPr>
      </p:sp>
      <p:sp>
        <p:nvSpPr>
          <p:cNvPr id="28" name="Shape 26"/>
          <p:cNvSpPr/>
          <p:nvPr/>
        </p:nvSpPr>
        <p:spPr>
          <a:xfrm>
            <a:off x="6199632" y="2491740"/>
            <a:ext cx="5440680" cy="1600200"/>
          </a:xfrm>
          <a:prstGeom prst="rect">
            <a:avLst/>
          </a:prstGeom>
          <a:solidFill>
            <a:srgbClr val="3B414A"/>
          </a:solidFill>
          <a:ln w="12700">
            <a:solidFill>
              <a:srgbClr val="3B414A"/>
            </a:solidFill>
            <a:prstDash val="solid"/>
          </a:ln>
        </p:spPr>
      </p:sp>
      <p:sp>
        <p:nvSpPr>
          <p:cNvPr id="29" name="Shape 27"/>
          <p:cNvSpPr/>
          <p:nvPr/>
        </p:nvSpPr>
        <p:spPr>
          <a:xfrm>
            <a:off x="8919972" y="1709928"/>
            <a:ext cx="0" cy="672084"/>
          </a:xfrm>
          <a:prstGeom prst="line">
            <a:avLst/>
          </a:prstGeom>
          <a:noFill/>
          <a:ln w="22225">
            <a:solidFill>
              <a:srgbClr val="F2F4F6"/>
            </a:solidFill>
            <a:prstDash val="dash"/>
          </a:ln>
        </p:spPr>
      </p:sp>
      <p:sp>
        <p:nvSpPr>
          <p:cNvPr id="30" name="Shape 28"/>
          <p:cNvSpPr/>
          <p:nvPr/>
        </p:nvSpPr>
        <p:spPr>
          <a:xfrm>
            <a:off x="8919972" y="4201668"/>
            <a:ext cx="0" cy="672084"/>
          </a:xfrm>
          <a:prstGeom prst="line">
            <a:avLst/>
          </a:prstGeom>
          <a:noFill/>
          <a:ln w="22225">
            <a:solidFill>
              <a:srgbClr val="F2F4F6"/>
            </a:solidFill>
            <a:prstDash val="dash"/>
          </a:ln>
        </p:spPr>
      </p:sp>
      <p:sp>
        <p:nvSpPr>
          <p:cNvPr id="31" name="Shape 29"/>
          <p:cNvSpPr/>
          <p:nvPr/>
        </p:nvSpPr>
        <p:spPr>
          <a:xfrm>
            <a:off x="6309360" y="3291840"/>
            <a:ext cx="1700784" cy="0"/>
          </a:xfrm>
          <a:prstGeom prst="line">
            <a:avLst/>
          </a:prstGeom>
          <a:noFill/>
          <a:ln w="22225">
            <a:solidFill>
              <a:srgbClr val="F2F4F6"/>
            </a:solidFill>
            <a:prstDash val="dash"/>
          </a:ln>
        </p:spPr>
      </p:sp>
      <p:sp>
        <p:nvSpPr>
          <p:cNvPr id="32" name="Shape 30"/>
          <p:cNvSpPr/>
          <p:nvPr/>
        </p:nvSpPr>
        <p:spPr>
          <a:xfrm>
            <a:off x="9829800" y="3291840"/>
            <a:ext cx="1700784" cy="0"/>
          </a:xfrm>
          <a:prstGeom prst="line">
            <a:avLst/>
          </a:prstGeom>
          <a:noFill/>
          <a:ln w="22225">
            <a:solidFill>
              <a:srgbClr val="F2F4F6"/>
            </a:solidFill>
            <a:prstDash val="dash"/>
          </a:ln>
        </p:spPr>
      </p:sp>
      <p:sp>
        <p:nvSpPr>
          <p:cNvPr id="33" name="Shape 31"/>
          <p:cNvSpPr/>
          <p:nvPr/>
        </p:nvSpPr>
        <p:spPr>
          <a:xfrm>
            <a:off x="9082278" y="4238244"/>
            <a:ext cx="475488" cy="896112"/>
          </a:xfrm>
          <a:prstGeom prst="roundRect">
            <a:avLst>
              <a:gd name="adj" fmla="val 25000"/>
            </a:avLst>
          </a:prstGeom>
          <a:solidFill>
            <a:srgbClr val="FF9300"/>
          </a:solidFill>
          <a:ln w="15875">
            <a:solidFill>
              <a:srgbClr val="FFFFFF"/>
            </a:solidFill>
            <a:prstDash val="solid"/>
          </a:ln>
        </p:spPr>
      </p:sp>
      <p:sp>
        <p:nvSpPr>
          <p:cNvPr id="34" name="Shape 32"/>
          <p:cNvSpPr/>
          <p:nvPr/>
        </p:nvSpPr>
        <p:spPr>
          <a:xfrm>
            <a:off x="9155430" y="4421124"/>
            <a:ext cx="329184" cy="182880"/>
          </a:xfrm>
          <a:prstGeom prst="roundRect">
            <a:avLst>
              <a:gd name="adj" fmla="val 30000"/>
            </a:avLst>
          </a:prstGeom>
          <a:solidFill>
            <a:srgbClr val="1B1F24"/>
          </a:solidFill>
          <a:ln w="12700">
            <a:solidFill>
              <a:srgbClr val="1B1F24"/>
            </a:solidFill>
            <a:prstDash val="solid"/>
          </a:ln>
        </p:spPr>
      </p:sp>
      <p:sp>
        <p:nvSpPr>
          <p:cNvPr id="35" name="Shape 33"/>
          <p:cNvSpPr/>
          <p:nvPr/>
        </p:nvSpPr>
        <p:spPr>
          <a:xfrm>
            <a:off x="9022842" y="4288536"/>
            <a:ext cx="118872" cy="118872"/>
          </a:xfrm>
          <a:prstGeom prst="ellipse">
            <a:avLst/>
          </a:prstGeom>
          <a:solidFill>
            <a:srgbClr val="F7B500"/>
          </a:solidFill>
          <a:ln w="9525">
            <a:solidFill>
              <a:srgbClr val="FFFFFF"/>
            </a:solidFill>
            <a:prstDash val="solid"/>
          </a:ln>
        </p:spPr>
      </p:sp>
      <p:sp>
        <p:nvSpPr>
          <p:cNvPr id="36" name="Shape 34"/>
          <p:cNvSpPr/>
          <p:nvPr/>
        </p:nvSpPr>
        <p:spPr>
          <a:xfrm>
            <a:off x="9022842" y="4965192"/>
            <a:ext cx="118872" cy="118872"/>
          </a:xfrm>
          <a:prstGeom prst="ellipse">
            <a:avLst/>
          </a:prstGeom>
          <a:solidFill>
            <a:srgbClr val="F7B500"/>
          </a:solidFill>
          <a:ln w="9525">
            <a:solidFill>
              <a:srgbClr val="FFFFFF"/>
            </a:solidFill>
            <a:prstDash val="solid"/>
          </a:ln>
        </p:spPr>
      </p:sp>
      <p:sp>
        <p:nvSpPr>
          <p:cNvPr id="37" name="Text 35"/>
          <p:cNvSpPr txBox="1"/>
          <p:nvPr/>
        </p:nvSpPr>
        <p:spPr>
          <a:xfrm>
            <a:off x="9045702" y="470458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38" name="Shape 36"/>
          <p:cNvSpPr/>
          <p:nvPr/>
        </p:nvSpPr>
        <p:spPr>
          <a:xfrm>
            <a:off x="8282178" y="1449324"/>
            <a:ext cx="475488" cy="896112"/>
          </a:xfrm>
          <a:prstGeom prst="roundRect">
            <a:avLst>
              <a:gd name="adj" fmla="val 25000"/>
            </a:avLst>
          </a:prstGeom>
          <a:solidFill>
            <a:srgbClr val="3B82F6"/>
          </a:solidFill>
          <a:ln w="15875">
            <a:solidFill>
              <a:srgbClr val="FFFFFF"/>
            </a:solidFill>
            <a:prstDash val="solid"/>
          </a:ln>
        </p:spPr>
      </p:sp>
      <p:sp>
        <p:nvSpPr>
          <p:cNvPr id="39" name="Shape 37"/>
          <p:cNvSpPr/>
          <p:nvPr/>
        </p:nvSpPr>
        <p:spPr>
          <a:xfrm>
            <a:off x="8355330" y="1979676"/>
            <a:ext cx="329184" cy="182880"/>
          </a:xfrm>
          <a:prstGeom prst="roundRect">
            <a:avLst>
              <a:gd name="adj" fmla="val 30000"/>
            </a:avLst>
          </a:prstGeom>
          <a:solidFill>
            <a:srgbClr val="1B1F24"/>
          </a:solidFill>
          <a:ln w="12700">
            <a:solidFill>
              <a:srgbClr val="1B1F24"/>
            </a:solidFill>
            <a:prstDash val="solid"/>
          </a:ln>
        </p:spPr>
      </p:sp>
      <p:sp>
        <p:nvSpPr>
          <p:cNvPr id="40" name="Shape 38"/>
          <p:cNvSpPr/>
          <p:nvPr/>
        </p:nvSpPr>
        <p:spPr>
          <a:xfrm>
            <a:off x="8698230" y="2176272"/>
            <a:ext cx="118872" cy="118872"/>
          </a:xfrm>
          <a:prstGeom prst="ellipse">
            <a:avLst/>
          </a:prstGeom>
          <a:solidFill>
            <a:srgbClr val="F7B500"/>
          </a:solidFill>
          <a:ln w="9525">
            <a:solidFill>
              <a:srgbClr val="FFFFFF"/>
            </a:solidFill>
            <a:prstDash val="solid"/>
          </a:ln>
        </p:spPr>
      </p:sp>
      <p:sp>
        <p:nvSpPr>
          <p:cNvPr id="41" name="Shape 39"/>
          <p:cNvSpPr/>
          <p:nvPr/>
        </p:nvSpPr>
        <p:spPr>
          <a:xfrm>
            <a:off x="8698230" y="1499616"/>
            <a:ext cx="118872" cy="118872"/>
          </a:xfrm>
          <a:prstGeom prst="ellipse">
            <a:avLst/>
          </a:prstGeom>
          <a:solidFill>
            <a:srgbClr val="F7B500"/>
          </a:solidFill>
          <a:ln w="9525">
            <a:solidFill>
              <a:srgbClr val="FFFFFF"/>
            </a:solidFill>
            <a:prstDash val="solid"/>
          </a:ln>
        </p:spPr>
      </p:sp>
      <p:sp>
        <p:nvSpPr>
          <p:cNvPr id="42" name="Shape 40"/>
          <p:cNvSpPr/>
          <p:nvPr/>
        </p:nvSpPr>
        <p:spPr>
          <a:xfrm>
            <a:off x="7864754" y="2891790"/>
            <a:ext cx="1455268" cy="1291590"/>
          </a:xfrm>
          <a:custGeom>
            <a:avLst/>
            <a:gdLst/>
            <a:ahLst/>
            <a:cxnLst/>
            <a:rect l="l" t="t" r="r" b="b"/>
            <a:pathLst>
              <a:path w="1455268" h="1291590">
                <a:moveTo>
                  <a:pt x="1455268" y="1291590"/>
                </a:moveTo>
                <a:quadBezTo>
                  <a:pt x="1455268" y="0"/>
                  <a:pt x="0" y="0"/>
                </a:quadBezTo>
              </a:path>
            </a:pathLst>
          </a:custGeom>
          <a:noFill/>
          <a:ln w="44450">
            <a:solidFill>
              <a:srgbClr val="FF9300"/>
            </a:solidFill>
            <a:prstDash val="solid"/>
          </a:ln>
        </p:spPr>
      </p:sp>
      <p:sp>
        <p:nvSpPr>
          <p:cNvPr id="43" name="Shape 41"/>
          <p:cNvSpPr/>
          <p:nvPr/>
        </p:nvSpPr>
        <p:spPr>
          <a:xfrm rot="16200000">
            <a:off x="7662672" y="2772918"/>
            <a:ext cx="237744" cy="237744"/>
          </a:xfrm>
          <a:prstGeom prst="triangle">
            <a:avLst/>
          </a:prstGeom>
          <a:solidFill>
            <a:srgbClr val="FF9300"/>
          </a:solidFill>
          <a:ln w="12700">
            <a:solidFill>
              <a:srgbClr val="FF9300"/>
            </a:solidFill>
            <a:prstDash val="solid"/>
          </a:ln>
        </p:spPr>
      </p:sp>
      <p:sp>
        <p:nvSpPr>
          <p:cNvPr id="44" name="Shape 42"/>
          <p:cNvSpPr/>
          <p:nvPr/>
        </p:nvSpPr>
        <p:spPr>
          <a:xfrm>
            <a:off x="8519922" y="2400300"/>
            <a:ext cx="1455268" cy="1291590"/>
          </a:xfrm>
          <a:custGeom>
            <a:avLst/>
            <a:gdLst/>
            <a:ahLst/>
            <a:cxnLst/>
            <a:rect l="l" t="t" r="r" b="b"/>
            <a:pathLst>
              <a:path w="1455268" h="1291590">
                <a:moveTo>
                  <a:pt x="0" y="0"/>
                </a:moveTo>
                <a:quadBezTo>
                  <a:pt x="0" y="1291590"/>
                  <a:pt x="1455268" y="1291590"/>
                </a:quadBezTo>
              </a:path>
            </a:pathLst>
          </a:custGeom>
          <a:noFill/>
          <a:ln w="44450">
            <a:solidFill>
              <a:srgbClr val="FFFFFF"/>
            </a:solidFill>
            <a:prstDash val="solid"/>
          </a:ln>
        </p:spPr>
      </p:sp>
      <p:sp>
        <p:nvSpPr>
          <p:cNvPr id="45" name="Shape 43"/>
          <p:cNvSpPr/>
          <p:nvPr/>
        </p:nvSpPr>
        <p:spPr>
          <a:xfrm rot="5400000">
            <a:off x="9939528" y="3573018"/>
            <a:ext cx="237744" cy="237744"/>
          </a:xfrm>
          <a:prstGeom prst="triangle">
            <a:avLst/>
          </a:prstGeom>
          <a:solidFill>
            <a:srgbClr val="FFFFFF"/>
          </a:solidFill>
          <a:ln w="12700">
            <a:solidFill>
              <a:srgbClr val="FFFFFF"/>
            </a:solidFill>
            <a:prstDash val="solid"/>
          </a:ln>
        </p:spPr>
      </p:sp>
      <p:sp>
        <p:nvSpPr>
          <p:cNvPr id="46" name="Text 44"/>
          <p:cNvSpPr txBox="1"/>
          <p:nvPr/>
        </p:nvSpPr>
        <p:spPr>
          <a:xfrm>
            <a:off x="548640" y="5120640"/>
            <a:ext cx="5440680" cy="365760"/>
          </a:xfrm>
          <a:prstGeom prst="rect">
            <a:avLst/>
          </a:prstGeom>
          <a:noFill/>
          <a:ln/>
        </p:spPr>
        <p:txBody>
          <a:bodyPr wrap="square" lIns="0" tIns="0" rIns="0" bIns="0" rtlCol="0" anchor="t"/>
          <a:lstStyle/>
          <a:p>
            <a:pPr indent="0" marL="0">
              <a:buNone/>
            </a:pPr>
            <a:r>
              <a:rPr lang="en-US" sz="1900" b="1" dirty="0">
                <a:solidFill>
                  <a:srgbClr val="15181D"/>
                </a:solidFill>
                <a:latin typeface="Arial" pitchFamily="34" charset="0"/>
                <a:ea typeface="Arial" pitchFamily="34" charset="-122"/>
                <a:cs typeface="Arial" pitchFamily="34" charset="-120"/>
              </a:rPr>
              <a:t>Voreinander – der Normalfall</a:t>
            </a:r>
            <a:endParaRPr lang="en-US" sz="1900" dirty="0"/>
          </a:p>
        </p:txBody>
      </p:sp>
      <p:sp>
        <p:nvSpPr>
          <p:cNvPr id="47" name="Text 45"/>
          <p:cNvSpPr txBox="1"/>
          <p:nvPr/>
        </p:nvSpPr>
        <p:spPr>
          <a:xfrm>
            <a:off x="548640" y="5486400"/>
            <a:ext cx="5440680" cy="640080"/>
          </a:xfrm>
          <a:prstGeom prst="rect">
            <a:avLst/>
          </a:prstGeom>
          <a:noFill/>
          <a:ln/>
        </p:spPr>
        <p:txBody>
          <a:bodyPr wrap="square" lIns="0" tIns="0" rIns="0" bIns="0" rtlCol="0" anchor="t"/>
          <a:lstStyle/>
          <a:p>
            <a:pPr indent="0" marL="0">
              <a:buNone/>
            </a:pPr>
            <a:r>
              <a:rPr lang="en-US" sz="1600" dirty="0">
                <a:solidFill>
                  <a:srgbClr val="56606B"/>
                </a:solidFill>
                <a:latin typeface="Arial" pitchFamily="34" charset="0"/>
                <a:ea typeface="Arial" pitchFamily="34" charset="-122"/>
                <a:cs typeface="Arial" pitchFamily="34" charset="-120"/>
              </a:rPr>
              <a:t>Jeder biegt vor dem anderen ab, die Wege kreuzen sich nicht.</a:t>
            </a:r>
            <a:endParaRPr lang="en-US" sz="1600" dirty="0"/>
          </a:p>
        </p:txBody>
      </p:sp>
      <p:sp>
        <p:nvSpPr>
          <p:cNvPr id="48" name="Text 46"/>
          <p:cNvSpPr txBox="1"/>
          <p:nvPr/>
        </p:nvSpPr>
        <p:spPr>
          <a:xfrm>
            <a:off x="6199632" y="5120640"/>
            <a:ext cx="5440680" cy="365760"/>
          </a:xfrm>
          <a:prstGeom prst="rect">
            <a:avLst/>
          </a:prstGeom>
          <a:noFill/>
          <a:ln/>
        </p:spPr>
        <p:txBody>
          <a:bodyPr wrap="square" lIns="0" tIns="0" rIns="0" bIns="0" rtlCol="0" anchor="t"/>
          <a:lstStyle/>
          <a:p>
            <a:pPr indent="0" marL="0">
              <a:buNone/>
            </a:pPr>
            <a:r>
              <a:rPr lang="en-US" sz="1900" b="1" dirty="0">
                <a:solidFill>
                  <a:srgbClr val="15181D"/>
                </a:solidFill>
                <a:latin typeface="Arial" pitchFamily="34" charset="0"/>
                <a:ea typeface="Arial" pitchFamily="34" charset="-122"/>
                <a:cs typeface="Arial" pitchFamily="34" charset="-120"/>
              </a:rPr>
              <a:t>Hintereinander – wenn es nötig ist</a:t>
            </a:r>
            <a:endParaRPr lang="en-US" sz="1900" dirty="0"/>
          </a:p>
        </p:txBody>
      </p:sp>
      <p:sp>
        <p:nvSpPr>
          <p:cNvPr id="49" name="Text 47"/>
          <p:cNvSpPr txBox="1"/>
          <p:nvPr/>
        </p:nvSpPr>
        <p:spPr>
          <a:xfrm>
            <a:off x="6199632" y="5486400"/>
            <a:ext cx="5440680" cy="640080"/>
          </a:xfrm>
          <a:prstGeom prst="rect">
            <a:avLst/>
          </a:prstGeom>
          <a:noFill/>
          <a:ln/>
        </p:spPr>
        <p:txBody>
          <a:bodyPr wrap="square" lIns="0" tIns="0" rIns="0" bIns="0" rtlCol="0" anchor="t"/>
          <a:lstStyle/>
          <a:p>
            <a:pPr indent="0" marL="0">
              <a:buNone/>
            </a:pPr>
            <a:r>
              <a:rPr lang="en-US" sz="1600" dirty="0">
                <a:solidFill>
                  <a:srgbClr val="56606B"/>
                </a:solidFill>
                <a:latin typeface="Arial" pitchFamily="34" charset="0"/>
                <a:ea typeface="Arial" pitchFamily="34" charset="-122"/>
                <a:cs typeface="Arial" pitchFamily="34" charset="-120"/>
              </a:rPr>
              <a:t>Wenn Markierungen oder die Lage es verlangen: erst aneinander vorbei, dann abbiegen.</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FRAGE · ABBIEGEN</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Wer fährt zuerst?</a:t>
            </a:r>
            <a:endParaRPr lang="en-US" sz="3200" dirty="0"/>
          </a:p>
        </p:txBody>
      </p:sp>
      <p:sp>
        <p:nvSpPr>
          <p:cNvPr id="4" name="Shape 2"/>
          <p:cNvSpPr/>
          <p:nvPr/>
        </p:nvSpPr>
        <p:spPr>
          <a:xfrm>
            <a:off x="5669280" y="1600200"/>
            <a:ext cx="5971032" cy="4526280"/>
          </a:xfrm>
          <a:prstGeom prst="roundRect">
            <a:avLst>
              <a:gd name="adj" fmla="val 4444"/>
            </a:avLst>
          </a:prstGeom>
          <a:solidFill>
            <a:srgbClr val="1C2129"/>
          </a:solidFill>
          <a:ln w="12700">
            <a:solidFill>
              <a:srgbClr val="1C2129"/>
            </a:solidFill>
            <a:prstDash val="solid"/>
          </a:ln>
        </p:spPr>
      </p:sp>
      <p:sp>
        <p:nvSpPr>
          <p:cNvPr id="5" name="Shape 3"/>
          <p:cNvSpPr/>
          <p:nvPr/>
        </p:nvSpPr>
        <p:spPr>
          <a:xfrm>
            <a:off x="7854696" y="1600200"/>
            <a:ext cx="1600200" cy="4526280"/>
          </a:xfrm>
          <a:prstGeom prst="rect">
            <a:avLst/>
          </a:prstGeom>
          <a:solidFill>
            <a:srgbClr val="3B414A"/>
          </a:solidFill>
          <a:ln w="12700">
            <a:solidFill>
              <a:srgbClr val="3B414A"/>
            </a:solidFill>
            <a:prstDash val="solid"/>
          </a:ln>
        </p:spPr>
      </p:sp>
      <p:sp>
        <p:nvSpPr>
          <p:cNvPr id="6" name="Shape 4"/>
          <p:cNvSpPr/>
          <p:nvPr/>
        </p:nvSpPr>
        <p:spPr>
          <a:xfrm>
            <a:off x="5669280" y="3063240"/>
            <a:ext cx="5971032" cy="1600200"/>
          </a:xfrm>
          <a:prstGeom prst="rect">
            <a:avLst/>
          </a:prstGeom>
          <a:solidFill>
            <a:srgbClr val="3B414A"/>
          </a:solidFill>
          <a:ln w="12700">
            <a:solidFill>
              <a:srgbClr val="3B414A"/>
            </a:solidFill>
            <a:prstDash val="solid"/>
          </a:ln>
        </p:spPr>
      </p:sp>
      <p:sp>
        <p:nvSpPr>
          <p:cNvPr id="7" name="Shape 5"/>
          <p:cNvSpPr/>
          <p:nvPr/>
        </p:nvSpPr>
        <p:spPr>
          <a:xfrm>
            <a:off x="8654796" y="1709928"/>
            <a:ext cx="0" cy="1243584"/>
          </a:xfrm>
          <a:prstGeom prst="line">
            <a:avLst/>
          </a:prstGeom>
          <a:noFill/>
          <a:ln w="22225">
            <a:solidFill>
              <a:srgbClr val="F2F4F6"/>
            </a:solidFill>
            <a:prstDash val="dash"/>
          </a:ln>
        </p:spPr>
      </p:sp>
      <p:sp>
        <p:nvSpPr>
          <p:cNvPr id="8" name="Shape 6"/>
          <p:cNvSpPr/>
          <p:nvPr/>
        </p:nvSpPr>
        <p:spPr>
          <a:xfrm>
            <a:off x="8654796" y="4773168"/>
            <a:ext cx="0" cy="1243584"/>
          </a:xfrm>
          <a:prstGeom prst="line">
            <a:avLst/>
          </a:prstGeom>
          <a:noFill/>
          <a:ln w="22225">
            <a:solidFill>
              <a:srgbClr val="F2F4F6"/>
            </a:solidFill>
            <a:prstDash val="dash"/>
          </a:ln>
        </p:spPr>
      </p:sp>
      <p:sp>
        <p:nvSpPr>
          <p:cNvPr id="9" name="Shape 7"/>
          <p:cNvSpPr/>
          <p:nvPr/>
        </p:nvSpPr>
        <p:spPr>
          <a:xfrm>
            <a:off x="5779008" y="3863340"/>
            <a:ext cx="1965960" cy="0"/>
          </a:xfrm>
          <a:prstGeom prst="line">
            <a:avLst/>
          </a:prstGeom>
          <a:noFill/>
          <a:ln w="22225">
            <a:solidFill>
              <a:srgbClr val="F2F4F6"/>
            </a:solidFill>
            <a:prstDash val="dash"/>
          </a:ln>
        </p:spPr>
      </p:sp>
      <p:sp>
        <p:nvSpPr>
          <p:cNvPr id="10" name="Shape 8"/>
          <p:cNvSpPr/>
          <p:nvPr/>
        </p:nvSpPr>
        <p:spPr>
          <a:xfrm>
            <a:off x="9564624" y="3863340"/>
            <a:ext cx="1965960" cy="0"/>
          </a:xfrm>
          <a:prstGeom prst="line">
            <a:avLst/>
          </a:prstGeom>
          <a:noFill/>
          <a:ln w="22225">
            <a:solidFill>
              <a:srgbClr val="F2F4F6"/>
            </a:solidFill>
            <a:prstDash val="dash"/>
          </a:ln>
        </p:spPr>
      </p:sp>
      <p:sp>
        <p:nvSpPr>
          <p:cNvPr id="11" name="Shape 9"/>
          <p:cNvSpPr/>
          <p:nvPr/>
        </p:nvSpPr>
        <p:spPr>
          <a:xfrm>
            <a:off x="8645652" y="4809744"/>
            <a:ext cx="475488" cy="896112"/>
          </a:xfrm>
          <a:prstGeom prst="roundRect">
            <a:avLst>
              <a:gd name="adj" fmla="val 25000"/>
            </a:avLst>
          </a:prstGeom>
          <a:solidFill>
            <a:srgbClr val="FF9300"/>
          </a:solidFill>
          <a:ln w="15875">
            <a:solidFill>
              <a:srgbClr val="FFFFFF"/>
            </a:solidFill>
            <a:prstDash val="solid"/>
          </a:ln>
        </p:spPr>
      </p:sp>
      <p:sp>
        <p:nvSpPr>
          <p:cNvPr id="12" name="Shape 10"/>
          <p:cNvSpPr/>
          <p:nvPr/>
        </p:nvSpPr>
        <p:spPr>
          <a:xfrm>
            <a:off x="8718804" y="4992624"/>
            <a:ext cx="329184" cy="182880"/>
          </a:xfrm>
          <a:prstGeom prst="roundRect">
            <a:avLst>
              <a:gd name="adj" fmla="val 30000"/>
            </a:avLst>
          </a:prstGeom>
          <a:solidFill>
            <a:srgbClr val="1B1F24"/>
          </a:solidFill>
          <a:ln w="12700">
            <a:solidFill>
              <a:srgbClr val="1B1F24"/>
            </a:solidFill>
            <a:prstDash val="solid"/>
          </a:ln>
        </p:spPr>
      </p:sp>
      <p:sp>
        <p:nvSpPr>
          <p:cNvPr id="13" name="Shape 11"/>
          <p:cNvSpPr/>
          <p:nvPr/>
        </p:nvSpPr>
        <p:spPr>
          <a:xfrm>
            <a:off x="8586216" y="4860036"/>
            <a:ext cx="118872" cy="118872"/>
          </a:xfrm>
          <a:prstGeom prst="ellipse">
            <a:avLst/>
          </a:prstGeom>
          <a:solidFill>
            <a:srgbClr val="F7B500"/>
          </a:solidFill>
          <a:ln w="9525">
            <a:solidFill>
              <a:srgbClr val="FFFFFF"/>
            </a:solidFill>
            <a:prstDash val="solid"/>
          </a:ln>
        </p:spPr>
      </p:sp>
      <p:sp>
        <p:nvSpPr>
          <p:cNvPr id="14" name="Shape 12"/>
          <p:cNvSpPr/>
          <p:nvPr/>
        </p:nvSpPr>
        <p:spPr>
          <a:xfrm>
            <a:off x="8586216" y="5536692"/>
            <a:ext cx="118872" cy="118872"/>
          </a:xfrm>
          <a:prstGeom prst="ellipse">
            <a:avLst/>
          </a:prstGeom>
          <a:solidFill>
            <a:srgbClr val="F7B500"/>
          </a:solidFill>
          <a:ln w="9525">
            <a:solidFill>
              <a:srgbClr val="FFFFFF"/>
            </a:solidFill>
            <a:prstDash val="solid"/>
          </a:ln>
        </p:spPr>
      </p:sp>
      <p:sp>
        <p:nvSpPr>
          <p:cNvPr id="15" name="Text 13"/>
          <p:cNvSpPr txBox="1"/>
          <p:nvPr/>
        </p:nvSpPr>
        <p:spPr>
          <a:xfrm>
            <a:off x="8609076" y="527608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6" name="Shape 14"/>
          <p:cNvSpPr/>
          <p:nvPr/>
        </p:nvSpPr>
        <p:spPr>
          <a:xfrm>
            <a:off x="8017002" y="1563624"/>
            <a:ext cx="475488" cy="896112"/>
          </a:xfrm>
          <a:prstGeom prst="roundRect">
            <a:avLst>
              <a:gd name="adj" fmla="val 25000"/>
            </a:avLst>
          </a:prstGeom>
          <a:solidFill>
            <a:srgbClr val="3B82F6"/>
          </a:solidFill>
          <a:ln w="15875">
            <a:solidFill>
              <a:srgbClr val="FFFFFF"/>
            </a:solidFill>
            <a:prstDash val="solid"/>
          </a:ln>
        </p:spPr>
      </p:sp>
      <p:sp>
        <p:nvSpPr>
          <p:cNvPr id="17" name="Shape 15"/>
          <p:cNvSpPr/>
          <p:nvPr/>
        </p:nvSpPr>
        <p:spPr>
          <a:xfrm>
            <a:off x="8090154" y="2093976"/>
            <a:ext cx="329184" cy="182880"/>
          </a:xfrm>
          <a:prstGeom prst="roundRect">
            <a:avLst>
              <a:gd name="adj" fmla="val 30000"/>
            </a:avLst>
          </a:prstGeom>
          <a:solidFill>
            <a:srgbClr val="1B1F24"/>
          </a:solidFill>
          <a:ln w="12700">
            <a:solidFill>
              <a:srgbClr val="1B1F24"/>
            </a:solidFill>
            <a:prstDash val="solid"/>
          </a:ln>
        </p:spPr>
      </p:sp>
      <p:sp>
        <p:nvSpPr>
          <p:cNvPr id="18" name="Shape 16"/>
          <p:cNvSpPr/>
          <p:nvPr/>
        </p:nvSpPr>
        <p:spPr>
          <a:xfrm>
            <a:off x="7957566" y="2290572"/>
            <a:ext cx="118872" cy="118872"/>
          </a:xfrm>
          <a:prstGeom prst="ellipse">
            <a:avLst/>
          </a:prstGeom>
          <a:solidFill>
            <a:srgbClr val="F7B500"/>
          </a:solidFill>
          <a:ln w="9525">
            <a:solidFill>
              <a:srgbClr val="FFFFFF"/>
            </a:solidFill>
            <a:prstDash val="solid"/>
          </a:ln>
        </p:spPr>
      </p:sp>
      <p:sp>
        <p:nvSpPr>
          <p:cNvPr id="19" name="Shape 17"/>
          <p:cNvSpPr/>
          <p:nvPr/>
        </p:nvSpPr>
        <p:spPr>
          <a:xfrm>
            <a:off x="7957566" y="1613916"/>
            <a:ext cx="118872" cy="118872"/>
          </a:xfrm>
          <a:prstGeom prst="ellipse">
            <a:avLst/>
          </a:prstGeom>
          <a:solidFill>
            <a:srgbClr val="F7B500"/>
          </a:solidFill>
          <a:ln w="9525">
            <a:solidFill>
              <a:srgbClr val="FFFFFF"/>
            </a:solidFill>
            <a:prstDash val="solid"/>
          </a:ln>
        </p:spPr>
      </p:sp>
      <p:sp>
        <p:nvSpPr>
          <p:cNvPr id="20" name="Shape 18"/>
          <p:cNvSpPr/>
          <p:nvPr/>
        </p:nvSpPr>
        <p:spPr>
          <a:xfrm>
            <a:off x="7891272" y="2487168"/>
            <a:ext cx="146304" cy="566928"/>
          </a:xfrm>
          <a:prstGeom prst="roundRect">
            <a:avLst>
              <a:gd name="adj" fmla="val 37500"/>
            </a:avLst>
          </a:prstGeom>
          <a:solidFill>
            <a:srgbClr val="17191C"/>
          </a:solidFill>
          <a:ln w="12700">
            <a:solidFill>
              <a:srgbClr val="FFFFFF"/>
            </a:solidFill>
            <a:prstDash val="solid"/>
          </a:ln>
        </p:spPr>
      </p:sp>
      <p:sp>
        <p:nvSpPr>
          <p:cNvPr id="21" name="Shape 19"/>
          <p:cNvSpPr/>
          <p:nvPr/>
        </p:nvSpPr>
        <p:spPr>
          <a:xfrm>
            <a:off x="7827264" y="2633472"/>
            <a:ext cx="274320" cy="274320"/>
          </a:xfrm>
          <a:prstGeom prst="ellipse">
            <a:avLst/>
          </a:prstGeom>
          <a:solidFill>
            <a:srgbClr val="12A150"/>
          </a:solidFill>
          <a:ln w="15875">
            <a:solidFill>
              <a:srgbClr val="FFFFFF"/>
            </a:solidFill>
            <a:prstDash val="solid"/>
          </a:ln>
        </p:spPr>
      </p:sp>
      <p:sp>
        <p:nvSpPr>
          <p:cNvPr id="22" name="Shape 20"/>
          <p:cNvSpPr/>
          <p:nvPr/>
        </p:nvSpPr>
        <p:spPr>
          <a:xfrm>
            <a:off x="7543028" y="3528559"/>
            <a:ext cx="1340368" cy="1226321"/>
          </a:xfrm>
          <a:custGeom>
            <a:avLst/>
            <a:gdLst/>
            <a:ahLst/>
            <a:cxnLst/>
            <a:rect l="l" t="t" r="r" b="b"/>
            <a:pathLst>
              <a:path w="1340368" h="1226321">
                <a:moveTo>
                  <a:pt x="1340368" y="1226321"/>
                </a:moveTo>
                <a:quadBezTo>
                  <a:pt x="1248928" y="426221"/>
                  <a:pt x="0" y="0"/>
                </a:quadBezTo>
              </a:path>
            </a:pathLst>
          </a:custGeom>
          <a:noFill/>
          <a:ln w="44450">
            <a:solidFill>
              <a:srgbClr val="FF9300"/>
            </a:solidFill>
            <a:prstDash val="dash"/>
          </a:ln>
        </p:spPr>
      </p:sp>
      <p:sp>
        <p:nvSpPr>
          <p:cNvPr id="23" name="Shape 21"/>
          <p:cNvSpPr/>
          <p:nvPr/>
        </p:nvSpPr>
        <p:spPr>
          <a:xfrm rot="17330594">
            <a:off x="7345405" y="3382811"/>
            <a:ext cx="237744" cy="237744"/>
          </a:xfrm>
          <a:prstGeom prst="triangle">
            <a:avLst/>
          </a:prstGeom>
          <a:solidFill>
            <a:srgbClr val="FF9300"/>
          </a:solidFill>
          <a:ln w="12700">
            <a:solidFill>
              <a:srgbClr val="FF9300"/>
            </a:solidFill>
            <a:prstDash val="solid"/>
          </a:ln>
        </p:spPr>
      </p:sp>
      <p:sp>
        <p:nvSpPr>
          <p:cNvPr id="24" name="Shape 22"/>
          <p:cNvSpPr/>
          <p:nvPr/>
        </p:nvSpPr>
        <p:spPr>
          <a:xfrm>
            <a:off x="7599578" y="2514600"/>
            <a:ext cx="655168" cy="948690"/>
          </a:xfrm>
          <a:custGeom>
            <a:avLst/>
            <a:gdLst/>
            <a:ahLst/>
            <a:cxnLst/>
            <a:rect l="l" t="t" r="r" b="b"/>
            <a:pathLst>
              <a:path w="655168" h="948690">
                <a:moveTo>
                  <a:pt x="655168" y="0"/>
                </a:moveTo>
                <a:quadBezTo>
                  <a:pt x="655168" y="948690"/>
                  <a:pt x="0" y="948690"/>
                </a:quadBezTo>
              </a:path>
            </a:pathLst>
          </a:custGeom>
          <a:noFill/>
          <a:ln w="44450">
            <a:solidFill>
              <a:srgbClr val="FFFFFF"/>
            </a:solidFill>
            <a:prstDash val="solid"/>
          </a:ln>
        </p:spPr>
      </p:sp>
      <p:sp>
        <p:nvSpPr>
          <p:cNvPr id="25" name="Shape 23"/>
          <p:cNvSpPr/>
          <p:nvPr/>
        </p:nvSpPr>
        <p:spPr>
          <a:xfrm rot="16200000">
            <a:off x="7397496" y="3344418"/>
            <a:ext cx="237744" cy="237744"/>
          </a:xfrm>
          <a:prstGeom prst="triangle">
            <a:avLst/>
          </a:prstGeom>
          <a:solidFill>
            <a:srgbClr val="FFFFFF"/>
          </a:solidFill>
          <a:ln w="12700">
            <a:solidFill>
              <a:srgbClr val="FFFFFF"/>
            </a:solidFill>
            <a:prstDash val="solid"/>
          </a:ln>
        </p:spPr>
      </p:sp>
      <p:sp>
        <p:nvSpPr>
          <p:cNvPr id="26" name="Shape 24"/>
          <p:cNvSpPr/>
          <p:nvPr/>
        </p:nvSpPr>
        <p:spPr>
          <a:xfrm>
            <a:off x="7964424" y="3118104"/>
            <a:ext cx="18288" cy="1938528"/>
          </a:xfrm>
          <a:custGeom>
            <a:avLst/>
            <a:gdLst/>
            <a:ahLst/>
            <a:cxnLst/>
            <a:rect l="l" t="t" r="r" b="b"/>
            <a:pathLst>
              <a:path w="18288" h="1938528">
                <a:moveTo>
                  <a:pt x="0" y="0"/>
                </a:moveTo>
                <a:lnTo>
                  <a:pt x="0" y="1938528"/>
                </a:lnTo>
              </a:path>
            </a:pathLst>
          </a:custGeom>
          <a:noFill/>
          <a:ln w="31750">
            <a:solidFill>
              <a:srgbClr val="12A150"/>
            </a:solidFill>
            <a:prstDash val="solid"/>
          </a:ln>
        </p:spPr>
      </p:sp>
      <p:sp>
        <p:nvSpPr>
          <p:cNvPr id="27" name="Shape 25"/>
          <p:cNvSpPr/>
          <p:nvPr/>
        </p:nvSpPr>
        <p:spPr>
          <a:xfrm rot="10800000">
            <a:off x="7872984" y="5029200"/>
            <a:ext cx="182880" cy="182880"/>
          </a:xfrm>
          <a:prstGeom prst="triangle">
            <a:avLst/>
          </a:prstGeom>
          <a:solidFill>
            <a:srgbClr val="12A150"/>
          </a:solidFill>
          <a:ln w="12700">
            <a:solidFill>
              <a:srgbClr val="12A150"/>
            </a:solidFill>
            <a:prstDash val="solid"/>
          </a:ln>
        </p:spPr>
      </p:sp>
      <p:sp>
        <p:nvSpPr>
          <p:cNvPr id="28" name="Shape 26"/>
          <p:cNvSpPr/>
          <p:nvPr/>
        </p:nvSpPr>
        <p:spPr>
          <a:xfrm>
            <a:off x="580644" y="1888236"/>
            <a:ext cx="155448" cy="155448"/>
          </a:xfrm>
          <a:prstGeom prst="ellipse">
            <a:avLst/>
          </a:prstGeom>
          <a:solidFill>
            <a:srgbClr val="FF9300"/>
          </a:solidFill>
          <a:ln w="12700">
            <a:solidFill>
              <a:srgbClr val="FF9300"/>
            </a:solidFill>
            <a:prstDash val="solid"/>
          </a:ln>
        </p:spPr>
      </p:sp>
      <p:sp>
        <p:nvSpPr>
          <p:cNvPr id="29" name="Text 27"/>
          <p:cNvSpPr txBox="1"/>
          <p:nvPr/>
        </p:nvSpPr>
        <p:spPr>
          <a:xfrm>
            <a:off x="932688" y="1783080"/>
            <a:ext cx="4370832" cy="93268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Du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willst links abbiegen.</a:t>
            </a:r>
            <a:endParaRPr lang="en-US" sz="2100" dirty="0"/>
          </a:p>
        </p:txBody>
      </p:sp>
      <p:sp>
        <p:nvSpPr>
          <p:cNvPr id="30" name="Shape 28"/>
          <p:cNvSpPr/>
          <p:nvPr/>
        </p:nvSpPr>
        <p:spPr>
          <a:xfrm>
            <a:off x="580644" y="2894076"/>
            <a:ext cx="155448" cy="155448"/>
          </a:xfrm>
          <a:prstGeom prst="ellipse">
            <a:avLst/>
          </a:prstGeom>
          <a:solidFill>
            <a:srgbClr val="FF9300"/>
          </a:solidFill>
          <a:ln w="12700">
            <a:solidFill>
              <a:srgbClr val="FF9300"/>
            </a:solidFill>
            <a:prstDash val="solid"/>
          </a:ln>
        </p:spPr>
      </p:sp>
      <p:sp>
        <p:nvSpPr>
          <p:cNvPr id="31" name="Text 29"/>
          <p:cNvSpPr txBox="1"/>
          <p:nvPr/>
        </p:nvSpPr>
        <p:spPr>
          <a:xfrm>
            <a:off x="932688" y="2788920"/>
            <a:ext cx="4370832" cy="93268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Blau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kommt dir entgegen und biegt rechts ab.</a:t>
            </a:r>
            <a:endParaRPr lang="en-US" sz="2100" dirty="0"/>
          </a:p>
        </p:txBody>
      </p:sp>
      <p:sp>
        <p:nvSpPr>
          <p:cNvPr id="32" name="Shape 30"/>
          <p:cNvSpPr/>
          <p:nvPr/>
        </p:nvSpPr>
        <p:spPr>
          <a:xfrm>
            <a:off x="580644" y="3899916"/>
            <a:ext cx="155448" cy="155448"/>
          </a:xfrm>
          <a:prstGeom prst="ellipse">
            <a:avLst/>
          </a:prstGeom>
          <a:solidFill>
            <a:srgbClr val="FF9300"/>
          </a:solidFill>
          <a:ln w="12700">
            <a:solidFill>
              <a:srgbClr val="FF9300"/>
            </a:solidFill>
            <a:prstDash val="solid"/>
          </a:ln>
        </p:spPr>
      </p:sp>
      <p:sp>
        <p:nvSpPr>
          <p:cNvPr id="33" name="Text 31"/>
          <p:cNvSpPr txBox="1"/>
          <p:nvPr/>
        </p:nvSpPr>
        <p:spPr>
          <a:xfrm>
            <a:off x="932688" y="3794760"/>
            <a:ext cx="4370832" cy="932688"/>
          </a:xfrm>
          <a:prstGeom prst="rect">
            <a:avLst/>
          </a:prstGeom>
          <a:noFill/>
          <a:ln/>
        </p:spPr>
        <p:txBody>
          <a:bodyPr wrap="square" lIns="0" tIns="0" rIns="0" bIns="0" rtlCol="0" anchor="t"/>
          <a:lstStyle/>
          <a:p>
            <a:pPr indent="0" marL="0">
              <a:lnSpc>
                <a:spcPct val="105000"/>
              </a:lnSpc>
              <a:buNone/>
            </a:pPr>
            <a:r>
              <a:rPr lang="en-US" sz="2100" b="1" dirty="0">
                <a:solidFill>
                  <a:srgbClr val="FFFFFF"/>
                </a:solidFill>
                <a:latin typeface="Arial" pitchFamily="34" charset="0"/>
                <a:ea typeface="Arial" pitchFamily="34" charset="-122"/>
                <a:cs typeface="Arial" pitchFamily="34" charset="-120"/>
              </a:rPr>
              <a:t>Grün </a:t>
            </a:r>
            <a:pPr indent="0" marL="0">
              <a:lnSpc>
                <a:spcPct val="105000"/>
              </a:lnSpc>
              <a:buNone/>
            </a:pPr>
            <a:r>
              <a:rPr lang="en-US" sz="2100" dirty="0">
                <a:solidFill>
                  <a:srgbClr val="D5DAE0"/>
                </a:solidFill>
                <a:latin typeface="Arial" pitchFamily="34" charset="0"/>
                <a:ea typeface="Arial" pitchFamily="34" charset="-122"/>
                <a:cs typeface="Arial" pitchFamily="34" charset="-120"/>
              </a:rPr>
              <a:t>fährt mit dem Rad geradeaus.</a:t>
            </a:r>
            <a:endParaRPr lang="en-US" sz="2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AUFLÖSUNG</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Rad, dann Blau, dann du</a:t>
            </a:r>
            <a:endParaRPr lang="en-US" sz="3200" dirty="0"/>
          </a:p>
        </p:txBody>
      </p:sp>
      <p:sp>
        <p:nvSpPr>
          <p:cNvPr id="4" name="Shape 2"/>
          <p:cNvSpPr/>
          <p:nvPr/>
        </p:nvSpPr>
        <p:spPr>
          <a:xfrm>
            <a:off x="5669280" y="1600200"/>
            <a:ext cx="5971032" cy="4526280"/>
          </a:xfrm>
          <a:prstGeom prst="roundRect">
            <a:avLst>
              <a:gd name="adj" fmla="val 4444"/>
            </a:avLst>
          </a:prstGeom>
          <a:solidFill>
            <a:srgbClr val="1C2129"/>
          </a:solidFill>
          <a:ln w="12700">
            <a:solidFill>
              <a:srgbClr val="1C2129"/>
            </a:solidFill>
            <a:prstDash val="solid"/>
          </a:ln>
        </p:spPr>
      </p:sp>
      <p:sp>
        <p:nvSpPr>
          <p:cNvPr id="5" name="Shape 3"/>
          <p:cNvSpPr/>
          <p:nvPr/>
        </p:nvSpPr>
        <p:spPr>
          <a:xfrm>
            <a:off x="7854696" y="1600200"/>
            <a:ext cx="1600200" cy="4526280"/>
          </a:xfrm>
          <a:prstGeom prst="rect">
            <a:avLst/>
          </a:prstGeom>
          <a:solidFill>
            <a:srgbClr val="3B414A"/>
          </a:solidFill>
          <a:ln w="12700">
            <a:solidFill>
              <a:srgbClr val="3B414A"/>
            </a:solidFill>
            <a:prstDash val="solid"/>
          </a:ln>
        </p:spPr>
      </p:sp>
      <p:sp>
        <p:nvSpPr>
          <p:cNvPr id="6" name="Shape 4"/>
          <p:cNvSpPr/>
          <p:nvPr/>
        </p:nvSpPr>
        <p:spPr>
          <a:xfrm>
            <a:off x="5669280" y="3063240"/>
            <a:ext cx="5971032" cy="1600200"/>
          </a:xfrm>
          <a:prstGeom prst="rect">
            <a:avLst/>
          </a:prstGeom>
          <a:solidFill>
            <a:srgbClr val="3B414A"/>
          </a:solidFill>
          <a:ln w="12700">
            <a:solidFill>
              <a:srgbClr val="3B414A"/>
            </a:solidFill>
            <a:prstDash val="solid"/>
          </a:ln>
        </p:spPr>
      </p:sp>
      <p:sp>
        <p:nvSpPr>
          <p:cNvPr id="7" name="Shape 5"/>
          <p:cNvSpPr/>
          <p:nvPr/>
        </p:nvSpPr>
        <p:spPr>
          <a:xfrm>
            <a:off x="8654796" y="1709928"/>
            <a:ext cx="0" cy="1243584"/>
          </a:xfrm>
          <a:prstGeom prst="line">
            <a:avLst/>
          </a:prstGeom>
          <a:noFill/>
          <a:ln w="22225">
            <a:solidFill>
              <a:srgbClr val="F2F4F6"/>
            </a:solidFill>
            <a:prstDash val="dash"/>
          </a:ln>
        </p:spPr>
      </p:sp>
      <p:sp>
        <p:nvSpPr>
          <p:cNvPr id="8" name="Shape 6"/>
          <p:cNvSpPr/>
          <p:nvPr/>
        </p:nvSpPr>
        <p:spPr>
          <a:xfrm>
            <a:off x="8654796" y="4773168"/>
            <a:ext cx="0" cy="1243584"/>
          </a:xfrm>
          <a:prstGeom prst="line">
            <a:avLst/>
          </a:prstGeom>
          <a:noFill/>
          <a:ln w="22225">
            <a:solidFill>
              <a:srgbClr val="F2F4F6"/>
            </a:solidFill>
            <a:prstDash val="dash"/>
          </a:ln>
        </p:spPr>
      </p:sp>
      <p:sp>
        <p:nvSpPr>
          <p:cNvPr id="9" name="Shape 7"/>
          <p:cNvSpPr/>
          <p:nvPr/>
        </p:nvSpPr>
        <p:spPr>
          <a:xfrm>
            <a:off x="5779008" y="3863340"/>
            <a:ext cx="1965960" cy="0"/>
          </a:xfrm>
          <a:prstGeom prst="line">
            <a:avLst/>
          </a:prstGeom>
          <a:noFill/>
          <a:ln w="22225">
            <a:solidFill>
              <a:srgbClr val="F2F4F6"/>
            </a:solidFill>
            <a:prstDash val="dash"/>
          </a:ln>
        </p:spPr>
      </p:sp>
      <p:sp>
        <p:nvSpPr>
          <p:cNvPr id="10" name="Shape 8"/>
          <p:cNvSpPr/>
          <p:nvPr/>
        </p:nvSpPr>
        <p:spPr>
          <a:xfrm>
            <a:off x="9564624" y="3863340"/>
            <a:ext cx="1965960" cy="0"/>
          </a:xfrm>
          <a:prstGeom prst="line">
            <a:avLst/>
          </a:prstGeom>
          <a:noFill/>
          <a:ln w="22225">
            <a:solidFill>
              <a:srgbClr val="F2F4F6"/>
            </a:solidFill>
            <a:prstDash val="dash"/>
          </a:ln>
        </p:spPr>
      </p:sp>
      <p:sp>
        <p:nvSpPr>
          <p:cNvPr id="11" name="Shape 9"/>
          <p:cNvSpPr/>
          <p:nvPr/>
        </p:nvSpPr>
        <p:spPr>
          <a:xfrm>
            <a:off x="8645652" y="4809744"/>
            <a:ext cx="475488" cy="896112"/>
          </a:xfrm>
          <a:prstGeom prst="roundRect">
            <a:avLst>
              <a:gd name="adj" fmla="val 25000"/>
            </a:avLst>
          </a:prstGeom>
          <a:solidFill>
            <a:srgbClr val="FF9300"/>
          </a:solidFill>
          <a:ln w="15875">
            <a:solidFill>
              <a:srgbClr val="FFFFFF"/>
            </a:solidFill>
            <a:prstDash val="solid"/>
          </a:ln>
        </p:spPr>
      </p:sp>
      <p:sp>
        <p:nvSpPr>
          <p:cNvPr id="12" name="Shape 10"/>
          <p:cNvSpPr/>
          <p:nvPr/>
        </p:nvSpPr>
        <p:spPr>
          <a:xfrm>
            <a:off x="8718804" y="4992624"/>
            <a:ext cx="329184" cy="182880"/>
          </a:xfrm>
          <a:prstGeom prst="roundRect">
            <a:avLst>
              <a:gd name="adj" fmla="val 30000"/>
            </a:avLst>
          </a:prstGeom>
          <a:solidFill>
            <a:srgbClr val="1B1F24"/>
          </a:solidFill>
          <a:ln w="12700">
            <a:solidFill>
              <a:srgbClr val="1B1F24"/>
            </a:solidFill>
            <a:prstDash val="solid"/>
          </a:ln>
        </p:spPr>
      </p:sp>
      <p:sp>
        <p:nvSpPr>
          <p:cNvPr id="13" name="Shape 11"/>
          <p:cNvSpPr/>
          <p:nvPr/>
        </p:nvSpPr>
        <p:spPr>
          <a:xfrm>
            <a:off x="8586216" y="4860036"/>
            <a:ext cx="118872" cy="118872"/>
          </a:xfrm>
          <a:prstGeom prst="ellipse">
            <a:avLst/>
          </a:prstGeom>
          <a:solidFill>
            <a:srgbClr val="F7B500"/>
          </a:solidFill>
          <a:ln w="9525">
            <a:solidFill>
              <a:srgbClr val="FFFFFF"/>
            </a:solidFill>
            <a:prstDash val="solid"/>
          </a:ln>
        </p:spPr>
      </p:sp>
      <p:sp>
        <p:nvSpPr>
          <p:cNvPr id="14" name="Shape 12"/>
          <p:cNvSpPr/>
          <p:nvPr/>
        </p:nvSpPr>
        <p:spPr>
          <a:xfrm>
            <a:off x="8586216" y="5536692"/>
            <a:ext cx="118872" cy="118872"/>
          </a:xfrm>
          <a:prstGeom prst="ellipse">
            <a:avLst/>
          </a:prstGeom>
          <a:solidFill>
            <a:srgbClr val="F7B500"/>
          </a:solidFill>
          <a:ln w="9525">
            <a:solidFill>
              <a:srgbClr val="FFFFFF"/>
            </a:solidFill>
            <a:prstDash val="solid"/>
          </a:ln>
        </p:spPr>
      </p:sp>
      <p:sp>
        <p:nvSpPr>
          <p:cNvPr id="15" name="Text 13"/>
          <p:cNvSpPr txBox="1"/>
          <p:nvPr/>
        </p:nvSpPr>
        <p:spPr>
          <a:xfrm>
            <a:off x="8609076" y="527608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6" name="Shape 14"/>
          <p:cNvSpPr/>
          <p:nvPr/>
        </p:nvSpPr>
        <p:spPr>
          <a:xfrm>
            <a:off x="8017002" y="1563624"/>
            <a:ext cx="475488" cy="896112"/>
          </a:xfrm>
          <a:prstGeom prst="roundRect">
            <a:avLst>
              <a:gd name="adj" fmla="val 25000"/>
            </a:avLst>
          </a:prstGeom>
          <a:solidFill>
            <a:srgbClr val="3B82F6"/>
          </a:solidFill>
          <a:ln w="15875">
            <a:solidFill>
              <a:srgbClr val="FFFFFF"/>
            </a:solidFill>
            <a:prstDash val="solid"/>
          </a:ln>
        </p:spPr>
      </p:sp>
      <p:sp>
        <p:nvSpPr>
          <p:cNvPr id="17" name="Shape 15"/>
          <p:cNvSpPr/>
          <p:nvPr/>
        </p:nvSpPr>
        <p:spPr>
          <a:xfrm>
            <a:off x="8090154" y="2093976"/>
            <a:ext cx="329184" cy="182880"/>
          </a:xfrm>
          <a:prstGeom prst="roundRect">
            <a:avLst>
              <a:gd name="adj" fmla="val 30000"/>
            </a:avLst>
          </a:prstGeom>
          <a:solidFill>
            <a:srgbClr val="1B1F24"/>
          </a:solidFill>
          <a:ln w="12700">
            <a:solidFill>
              <a:srgbClr val="1B1F24"/>
            </a:solidFill>
            <a:prstDash val="solid"/>
          </a:ln>
        </p:spPr>
      </p:sp>
      <p:sp>
        <p:nvSpPr>
          <p:cNvPr id="18" name="Shape 16"/>
          <p:cNvSpPr/>
          <p:nvPr/>
        </p:nvSpPr>
        <p:spPr>
          <a:xfrm>
            <a:off x="7957566" y="2290572"/>
            <a:ext cx="118872" cy="118872"/>
          </a:xfrm>
          <a:prstGeom prst="ellipse">
            <a:avLst/>
          </a:prstGeom>
          <a:solidFill>
            <a:srgbClr val="F7B500"/>
          </a:solidFill>
          <a:ln w="9525">
            <a:solidFill>
              <a:srgbClr val="FFFFFF"/>
            </a:solidFill>
            <a:prstDash val="solid"/>
          </a:ln>
        </p:spPr>
      </p:sp>
      <p:sp>
        <p:nvSpPr>
          <p:cNvPr id="19" name="Shape 17"/>
          <p:cNvSpPr/>
          <p:nvPr/>
        </p:nvSpPr>
        <p:spPr>
          <a:xfrm>
            <a:off x="7957566" y="1613916"/>
            <a:ext cx="118872" cy="118872"/>
          </a:xfrm>
          <a:prstGeom prst="ellipse">
            <a:avLst/>
          </a:prstGeom>
          <a:solidFill>
            <a:srgbClr val="F7B500"/>
          </a:solidFill>
          <a:ln w="9525">
            <a:solidFill>
              <a:srgbClr val="FFFFFF"/>
            </a:solidFill>
            <a:prstDash val="solid"/>
          </a:ln>
        </p:spPr>
      </p:sp>
      <p:sp>
        <p:nvSpPr>
          <p:cNvPr id="20" name="Shape 18"/>
          <p:cNvSpPr/>
          <p:nvPr/>
        </p:nvSpPr>
        <p:spPr>
          <a:xfrm>
            <a:off x="7891272" y="2487168"/>
            <a:ext cx="146304" cy="566928"/>
          </a:xfrm>
          <a:prstGeom prst="roundRect">
            <a:avLst>
              <a:gd name="adj" fmla="val 37500"/>
            </a:avLst>
          </a:prstGeom>
          <a:solidFill>
            <a:srgbClr val="17191C"/>
          </a:solidFill>
          <a:ln w="12700">
            <a:solidFill>
              <a:srgbClr val="FFFFFF"/>
            </a:solidFill>
            <a:prstDash val="solid"/>
          </a:ln>
        </p:spPr>
      </p:sp>
      <p:sp>
        <p:nvSpPr>
          <p:cNvPr id="21" name="Shape 19"/>
          <p:cNvSpPr/>
          <p:nvPr/>
        </p:nvSpPr>
        <p:spPr>
          <a:xfrm>
            <a:off x="7827264" y="2633472"/>
            <a:ext cx="274320" cy="274320"/>
          </a:xfrm>
          <a:prstGeom prst="ellipse">
            <a:avLst/>
          </a:prstGeom>
          <a:solidFill>
            <a:srgbClr val="12A150"/>
          </a:solidFill>
          <a:ln w="15875">
            <a:solidFill>
              <a:srgbClr val="FFFFFF"/>
            </a:solidFill>
            <a:prstDash val="solid"/>
          </a:ln>
        </p:spPr>
      </p:sp>
      <p:sp>
        <p:nvSpPr>
          <p:cNvPr id="22" name="Shape 20"/>
          <p:cNvSpPr/>
          <p:nvPr/>
        </p:nvSpPr>
        <p:spPr>
          <a:xfrm>
            <a:off x="7543028" y="3528559"/>
            <a:ext cx="1340368" cy="1226321"/>
          </a:xfrm>
          <a:custGeom>
            <a:avLst/>
            <a:gdLst/>
            <a:ahLst/>
            <a:cxnLst/>
            <a:rect l="l" t="t" r="r" b="b"/>
            <a:pathLst>
              <a:path w="1340368" h="1226321">
                <a:moveTo>
                  <a:pt x="1340368" y="1226321"/>
                </a:moveTo>
                <a:quadBezTo>
                  <a:pt x="1248928" y="426221"/>
                  <a:pt x="0" y="0"/>
                </a:quadBezTo>
              </a:path>
            </a:pathLst>
          </a:custGeom>
          <a:noFill/>
          <a:ln w="44450">
            <a:solidFill>
              <a:srgbClr val="FF9300"/>
            </a:solidFill>
            <a:prstDash val="dash"/>
          </a:ln>
        </p:spPr>
      </p:sp>
      <p:sp>
        <p:nvSpPr>
          <p:cNvPr id="23" name="Shape 21"/>
          <p:cNvSpPr/>
          <p:nvPr/>
        </p:nvSpPr>
        <p:spPr>
          <a:xfrm rot="17330594">
            <a:off x="7345405" y="3382811"/>
            <a:ext cx="237744" cy="237744"/>
          </a:xfrm>
          <a:prstGeom prst="triangle">
            <a:avLst/>
          </a:prstGeom>
          <a:solidFill>
            <a:srgbClr val="FF9300"/>
          </a:solidFill>
          <a:ln w="12700">
            <a:solidFill>
              <a:srgbClr val="FF9300"/>
            </a:solidFill>
            <a:prstDash val="solid"/>
          </a:ln>
        </p:spPr>
      </p:sp>
      <p:sp>
        <p:nvSpPr>
          <p:cNvPr id="24" name="Shape 22"/>
          <p:cNvSpPr/>
          <p:nvPr/>
        </p:nvSpPr>
        <p:spPr>
          <a:xfrm>
            <a:off x="7599578" y="2514600"/>
            <a:ext cx="655168" cy="948690"/>
          </a:xfrm>
          <a:custGeom>
            <a:avLst/>
            <a:gdLst/>
            <a:ahLst/>
            <a:cxnLst/>
            <a:rect l="l" t="t" r="r" b="b"/>
            <a:pathLst>
              <a:path w="655168" h="948690">
                <a:moveTo>
                  <a:pt x="655168" y="0"/>
                </a:moveTo>
                <a:quadBezTo>
                  <a:pt x="655168" y="948690"/>
                  <a:pt x="0" y="948690"/>
                </a:quadBezTo>
              </a:path>
            </a:pathLst>
          </a:custGeom>
          <a:noFill/>
          <a:ln w="44450">
            <a:solidFill>
              <a:srgbClr val="FFFFFF"/>
            </a:solidFill>
            <a:prstDash val="solid"/>
          </a:ln>
        </p:spPr>
      </p:sp>
      <p:sp>
        <p:nvSpPr>
          <p:cNvPr id="25" name="Shape 23"/>
          <p:cNvSpPr/>
          <p:nvPr/>
        </p:nvSpPr>
        <p:spPr>
          <a:xfrm rot="16200000">
            <a:off x="7397496" y="3344418"/>
            <a:ext cx="237744" cy="237744"/>
          </a:xfrm>
          <a:prstGeom prst="triangle">
            <a:avLst/>
          </a:prstGeom>
          <a:solidFill>
            <a:srgbClr val="FFFFFF"/>
          </a:solidFill>
          <a:ln w="12700">
            <a:solidFill>
              <a:srgbClr val="FFFFFF"/>
            </a:solidFill>
            <a:prstDash val="solid"/>
          </a:ln>
        </p:spPr>
      </p:sp>
      <p:sp>
        <p:nvSpPr>
          <p:cNvPr id="26" name="Shape 24"/>
          <p:cNvSpPr/>
          <p:nvPr/>
        </p:nvSpPr>
        <p:spPr>
          <a:xfrm>
            <a:off x="7964424" y="3118104"/>
            <a:ext cx="18288" cy="1938528"/>
          </a:xfrm>
          <a:custGeom>
            <a:avLst/>
            <a:gdLst/>
            <a:ahLst/>
            <a:cxnLst/>
            <a:rect l="l" t="t" r="r" b="b"/>
            <a:pathLst>
              <a:path w="18288" h="1938528">
                <a:moveTo>
                  <a:pt x="0" y="0"/>
                </a:moveTo>
                <a:lnTo>
                  <a:pt x="0" y="1938528"/>
                </a:lnTo>
              </a:path>
            </a:pathLst>
          </a:custGeom>
          <a:noFill/>
          <a:ln w="31750">
            <a:solidFill>
              <a:srgbClr val="12A150"/>
            </a:solidFill>
            <a:prstDash val="solid"/>
          </a:ln>
        </p:spPr>
      </p:sp>
      <p:sp>
        <p:nvSpPr>
          <p:cNvPr id="27" name="Shape 25"/>
          <p:cNvSpPr/>
          <p:nvPr/>
        </p:nvSpPr>
        <p:spPr>
          <a:xfrm rot="10800000">
            <a:off x="7872984" y="5029200"/>
            <a:ext cx="182880" cy="182880"/>
          </a:xfrm>
          <a:prstGeom prst="triangle">
            <a:avLst/>
          </a:prstGeom>
          <a:solidFill>
            <a:srgbClr val="12A150"/>
          </a:solidFill>
          <a:ln w="12700">
            <a:solidFill>
              <a:srgbClr val="12A150"/>
            </a:solidFill>
            <a:prstDash val="solid"/>
          </a:ln>
        </p:spPr>
      </p:sp>
      <p:sp>
        <p:nvSpPr>
          <p:cNvPr id="28" name="Shape 26"/>
          <p:cNvSpPr/>
          <p:nvPr/>
        </p:nvSpPr>
        <p:spPr>
          <a:xfrm>
            <a:off x="7342632" y="2560320"/>
            <a:ext cx="420624" cy="420624"/>
          </a:xfrm>
          <a:prstGeom prst="ellipse">
            <a:avLst/>
          </a:prstGeom>
          <a:solidFill>
            <a:srgbClr val="FF9300"/>
          </a:solidFill>
          <a:ln w="19050">
            <a:solidFill>
              <a:srgbClr val="FFFFFF"/>
            </a:solidFill>
            <a:prstDash val="solid"/>
          </a:ln>
        </p:spPr>
      </p:sp>
      <p:sp>
        <p:nvSpPr>
          <p:cNvPr id="29" name="Text 27"/>
          <p:cNvSpPr txBox="1"/>
          <p:nvPr/>
        </p:nvSpPr>
        <p:spPr>
          <a:xfrm>
            <a:off x="7342632" y="2560320"/>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1</a:t>
            </a:r>
            <a:endParaRPr lang="en-US" sz="1700" dirty="0"/>
          </a:p>
        </p:txBody>
      </p:sp>
      <p:sp>
        <p:nvSpPr>
          <p:cNvPr id="30" name="Shape 28"/>
          <p:cNvSpPr/>
          <p:nvPr/>
        </p:nvSpPr>
        <p:spPr>
          <a:xfrm>
            <a:off x="8611362" y="1801368"/>
            <a:ext cx="420624" cy="420624"/>
          </a:xfrm>
          <a:prstGeom prst="ellipse">
            <a:avLst/>
          </a:prstGeom>
          <a:solidFill>
            <a:srgbClr val="FF9300"/>
          </a:solidFill>
          <a:ln w="19050">
            <a:solidFill>
              <a:srgbClr val="FFFFFF"/>
            </a:solidFill>
            <a:prstDash val="solid"/>
          </a:ln>
        </p:spPr>
      </p:sp>
      <p:sp>
        <p:nvSpPr>
          <p:cNvPr id="31" name="Text 29"/>
          <p:cNvSpPr txBox="1"/>
          <p:nvPr/>
        </p:nvSpPr>
        <p:spPr>
          <a:xfrm>
            <a:off x="8611362" y="180136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2</a:t>
            </a:r>
            <a:endParaRPr lang="en-US" sz="1700" dirty="0"/>
          </a:p>
        </p:txBody>
      </p:sp>
      <p:sp>
        <p:nvSpPr>
          <p:cNvPr id="32" name="Shape 30"/>
          <p:cNvSpPr/>
          <p:nvPr/>
        </p:nvSpPr>
        <p:spPr>
          <a:xfrm>
            <a:off x="9240012" y="5138928"/>
            <a:ext cx="420624" cy="420624"/>
          </a:xfrm>
          <a:prstGeom prst="ellipse">
            <a:avLst/>
          </a:prstGeom>
          <a:solidFill>
            <a:srgbClr val="FF9300"/>
          </a:solidFill>
          <a:ln w="19050">
            <a:solidFill>
              <a:srgbClr val="FFFFFF"/>
            </a:solidFill>
            <a:prstDash val="solid"/>
          </a:ln>
        </p:spPr>
      </p:sp>
      <p:sp>
        <p:nvSpPr>
          <p:cNvPr id="33" name="Text 31"/>
          <p:cNvSpPr txBox="1"/>
          <p:nvPr/>
        </p:nvSpPr>
        <p:spPr>
          <a:xfrm>
            <a:off x="9240012" y="5138928"/>
            <a:ext cx="420624" cy="420624"/>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3</a:t>
            </a:r>
            <a:endParaRPr lang="en-US" sz="1700" dirty="0"/>
          </a:p>
        </p:txBody>
      </p:sp>
      <p:sp>
        <p:nvSpPr>
          <p:cNvPr id="34" name="Shape 32"/>
          <p:cNvSpPr/>
          <p:nvPr/>
        </p:nvSpPr>
        <p:spPr>
          <a:xfrm>
            <a:off x="580644" y="1888236"/>
            <a:ext cx="155448" cy="155448"/>
          </a:xfrm>
          <a:prstGeom prst="ellipse">
            <a:avLst/>
          </a:prstGeom>
          <a:solidFill>
            <a:srgbClr val="FF9300"/>
          </a:solidFill>
          <a:ln w="12700">
            <a:solidFill>
              <a:srgbClr val="FF9300"/>
            </a:solidFill>
            <a:prstDash val="solid"/>
          </a:ln>
        </p:spPr>
      </p:sp>
      <p:sp>
        <p:nvSpPr>
          <p:cNvPr id="35" name="Text 33"/>
          <p:cNvSpPr txBox="1"/>
          <p:nvPr/>
        </p:nvSpPr>
        <p:spPr>
          <a:xfrm>
            <a:off x="932688" y="1783080"/>
            <a:ext cx="4370832" cy="1069848"/>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1 Rad: </a:t>
            </a:r>
            <a:pPr indent="0" marL="0">
              <a:lnSpc>
                <a:spcPct val="105000"/>
              </a:lnSpc>
              <a:buNone/>
            </a:pPr>
            <a:r>
              <a:rPr lang="en-US" sz="2000" dirty="0">
                <a:solidFill>
                  <a:srgbClr val="D5DAE0"/>
                </a:solidFill>
                <a:latin typeface="Arial" pitchFamily="34" charset="0"/>
                <a:ea typeface="Arial" pitchFamily="34" charset="-122"/>
                <a:cs typeface="Arial" pitchFamily="34" charset="-120"/>
              </a:rPr>
              <a:t>fährt geradeaus – Blau muss es beim Abbiegen durchlassen.</a:t>
            </a:r>
            <a:endParaRPr lang="en-US" sz="2000" dirty="0"/>
          </a:p>
        </p:txBody>
      </p:sp>
      <p:sp>
        <p:nvSpPr>
          <p:cNvPr id="36" name="Shape 34"/>
          <p:cNvSpPr/>
          <p:nvPr/>
        </p:nvSpPr>
        <p:spPr>
          <a:xfrm>
            <a:off x="580644" y="3031236"/>
            <a:ext cx="155448" cy="155448"/>
          </a:xfrm>
          <a:prstGeom prst="ellipse">
            <a:avLst/>
          </a:prstGeom>
          <a:solidFill>
            <a:srgbClr val="FF9300"/>
          </a:solidFill>
          <a:ln w="12700">
            <a:solidFill>
              <a:srgbClr val="FF9300"/>
            </a:solidFill>
            <a:prstDash val="solid"/>
          </a:ln>
        </p:spPr>
      </p:sp>
      <p:sp>
        <p:nvSpPr>
          <p:cNvPr id="37" name="Text 35"/>
          <p:cNvSpPr txBox="1"/>
          <p:nvPr/>
        </p:nvSpPr>
        <p:spPr>
          <a:xfrm>
            <a:off x="932688" y="2926080"/>
            <a:ext cx="4370832" cy="1069848"/>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2 Blau: </a:t>
            </a:r>
            <a:pPr indent="0" marL="0">
              <a:lnSpc>
                <a:spcPct val="105000"/>
              </a:lnSpc>
              <a:buNone/>
            </a:pPr>
            <a:r>
              <a:rPr lang="en-US" sz="2000" dirty="0">
                <a:solidFill>
                  <a:srgbClr val="D5DAE0"/>
                </a:solidFill>
                <a:latin typeface="Arial" pitchFamily="34" charset="0"/>
                <a:ea typeface="Arial" pitchFamily="34" charset="-122"/>
                <a:cs typeface="Arial" pitchFamily="34" charset="-120"/>
              </a:rPr>
              <a:t>Gegenverkehr, auch als Rechtsabbieger vor dir.</a:t>
            </a:r>
            <a:endParaRPr lang="en-US" sz="2000" dirty="0"/>
          </a:p>
        </p:txBody>
      </p:sp>
      <p:sp>
        <p:nvSpPr>
          <p:cNvPr id="38" name="Shape 36"/>
          <p:cNvSpPr/>
          <p:nvPr/>
        </p:nvSpPr>
        <p:spPr>
          <a:xfrm>
            <a:off x="580644" y="4174236"/>
            <a:ext cx="155448" cy="155448"/>
          </a:xfrm>
          <a:prstGeom prst="ellipse">
            <a:avLst/>
          </a:prstGeom>
          <a:solidFill>
            <a:srgbClr val="FF9300"/>
          </a:solidFill>
          <a:ln w="12700">
            <a:solidFill>
              <a:srgbClr val="FF9300"/>
            </a:solidFill>
            <a:prstDash val="solid"/>
          </a:ln>
        </p:spPr>
      </p:sp>
      <p:sp>
        <p:nvSpPr>
          <p:cNvPr id="39" name="Text 37"/>
          <p:cNvSpPr txBox="1"/>
          <p:nvPr/>
        </p:nvSpPr>
        <p:spPr>
          <a:xfrm>
            <a:off x="932688" y="4069080"/>
            <a:ext cx="4370832" cy="1069848"/>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3 Du: </a:t>
            </a:r>
            <a:pPr indent="0" marL="0">
              <a:lnSpc>
                <a:spcPct val="105000"/>
              </a:lnSpc>
              <a:buNone/>
            </a:pPr>
            <a:r>
              <a:rPr lang="en-US" sz="2000" dirty="0">
                <a:solidFill>
                  <a:srgbClr val="D5DAE0"/>
                </a:solidFill>
                <a:latin typeface="Arial" pitchFamily="34" charset="0"/>
                <a:ea typeface="Arial" pitchFamily="34" charset="-122"/>
                <a:cs typeface="Arial" pitchFamily="34" charset="-120"/>
              </a:rPr>
              <a:t>Linksabbieger lassen den Gegenverkehr durch.</a:t>
            </a:r>
            <a:endParaRPr lang="en-US" sz="2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10469880" y="1097280"/>
            <a:ext cx="731520" cy="4206240"/>
          </a:xfrm>
          <a:prstGeom prst="rect">
            <a:avLst/>
          </a:prstGeom>
          <a:solidFill>
            <a:srgbClr val="1A1F26"/>
          </a:solidFill>
          <a:ln w="12700">
            <a:solidFill>
              <a:srgbClr val="1A1F26"/>
            </a:solidFill>
            <a:prstDash val="solid"/>
          </a:ln>
        </p:spPr>
      </p:sp>
      <p:sp>
        <p:nvSpPr>
          <p:cNvPr id="3" name="Shape 1"/>
          <p:cNvSpPr/>
          <p:nvPr/>
        </p:nvSpPr>
        <p:spPr>
          <a:xfrm>
            <a:off x="9646920" y="2834640"/>
            <a:ext cx="2542032" cy="731520"/>
          </a:xfrm>
          <a:prstGeom prst="rect">
            <a:avLst/>
          </a:prstGeom>
          <a:solidFill>
            <a:srgbClr val="1A1F26"/>
          </a:solidFill>
          <a:ln w="12700">
            <a:solidFill>
              <a:srgbClr val="1A1F26"/>
            </a:solidFill>
            <a:prstDash val="solid"/>
          </a:ln>
        </p:spPr>
      </p:sp>
      <p:sp>
        <p:nvSpPr>
          <p:cNvPr id="4" name="Text 2"/>
          <p:cNvSpPr txBox="1"/>
          <p:nvPr/>
        </p:nvSpPr>
        <p:spPr>
          <a:xfrm>
            <a:off x="548640" y="1417320"/>
            <a:ext cx="3657600" cy="1828800"/>
          </a:xfrm>
          <a:prstGeom prst="rect">
            <a:avLst/>
          </a:prstGeom>
          <a:noFill/>
          <a:ln/>
        </p:spPr>
        <p:txBody>
          <a:bodyPr wrap="square" lIns="0" tIns="0" rIns="0" bIns="0" rtlCol="0" anchor="t"/>
          <a:lstStyle/>
          <a:p>
            <a:pPr indent="0" marL="0">
              <a:buNone/>
            </a:pPr>
            <a:r>
              <a:rPr lang="en-US" sz="14000" b="1" dirty="0">
                <a:solidFill>
                  <a:srgbClr val="FF9300"/>
                </a:solidFill>
                <a:latin typeface="Arial" pitchFamily="34" charset="0"/>
                <a:ea typeface="Arial" pitchFamily="34" charset="-122"/>
                <a:cs typeface="Arial" pitchFamily="34" charset="-120"/>
              </a:rPr>
              <a:t>05</a:t>
            </a:r>
            <a:endParaRPr lang="en-US" sz="14000" dirty="0"/>
          </a:p>
        </p:txBody>
      </p:sp>
      <p:sp>
        <p:nvSpPr>
          <p:cNvPr id="5" name="Text 3"/>
          <p:cNvSpPr txBox="1"/>
          <p:nvPr/>
        </p:nvSpPr>
        <p:spPr>
          <a:xfrm>
            <a:off x="548640" y="3246120"/>
            <a:ext cx="8869680" cy="9144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Ampel und Polizei</a:t>
            </a:r>
            <a:endParaRPr lang="en-US" sz="4400" dirty="0"/>
          </a:p>
        </p:txBody>
      </p:sp>
      <p:sp>
        <p:nvSpPr>
          <p:cNvPr id="6" name="Text 4"/>
          <p:cNvSpPr txBox="1"/>
          <p:nvPr/>
        </p:nvSpPr>
        <p:spPr>
          <a:xfrm>
            <a:off x="566928" y="4251960"/>
            <a:ext cx="8869680" cy="548640"/>
          </a:xfrm>
          <a:prstGeom prst="rect">
            <a:avLst/>
          </a:prstGeom>
          <a:noFill/>
          <a:ln/>
        </p:spPr>
        <p:txBody>
          <a:bodyPr wrap="square" lIns="0" tIns="0" rIns="0" bIns="0" rtlCol="0" anchor="t"/>
          <a:lstStyle/>
          <a:p>
            <a:pPr indent="0" marL="0">
              <a:buNone/>
            </a:pPr>
            <a:r>
              <a:rPr lang="en-US" sz="2200" dirty="0">
                <a:solidFill>
                  <a:srgbClr val="A3ACB7"/>
                </a:solidFill>
                <a:latin typeface="Arial" pitchFamily="34" charset="0"/>
                <a:ea typeface="Arial" pitchFamily="34" charset="-122"/>
                <a:cs typeface="Arial" pitchFamily="34" charset="-120"/>
              </a:rPr>
              <a:t>Lichtzeichen und Handzeichen gehen den Schildern vor</a:t>
            </a:r>
            <a:endParaRPr lang="en-US" sz="2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05 · AMPEL</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Was die Ampel sagt</a:t>
            </a:r>
            <a:endParaRPr lang="en-US" sz="3200" dirty="0"/>
          </a:p>
        </p:txBody>
      </p:sp>
      <p:sp>
        <p:nvSpPr>
          <p:cNvPr id="4" name="Shape 2"/>
          <p:cNvSpPr/>
          <p:nvPr/>
        </p:nvSpPr>
        <p:spPr>
          <a:xfrm>
            <a:off x="9795967" y="457200"/>
            <a:ext cx="1847088"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795967" y="457200"/>
            <a:ext cx="1847088"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37 Abs. 2 StVO</a:t>
            </a:r>
            <a:endParaRPr lang="en-US" sz="1200" dirty="0"/>
          </a:p>
        </p:txBody>
      </p:sp>
      <p:sp>
        <p:nvSpPr>
          <p:cNvPr id="6" name="Shape 4"/>
          <p:cNvSpPr/>
          <p:nvPr/>
        </p:nvSpPr>
        <p:spPr>
          <a:xfrm>
            <a:off x="685800" y="1645920"/>
            <a:ext cx="364846" cy="960120"/>
          </a:xfrm>
          <a:prstGeom prst="roundRect">
            <a:avLst>
              <a:gd name="adj" fmla="val 30075"/>
            </a:avLst>
          </a:prstGeom>
          <a:solidFill>
            <a:srgbClr val="1E2228"/>
          </a:solidFill>
          <a:ln w="12700">
            <a:solidFill>
              <a:srgbClr val="3A3F46"/>
            </a:solidFill>
            <a:prstDash val="solid"/>
          </a:ln>
        </p:spPr>
      </p:sp>
      <p:sp>
        <p:nvSpPr>
          <p:cNvPr id="7" name="Shape 5"/>
          <p:cNvSpPr/>
          <p:nvPr/>
        </p:nvSpPr>
        <p:spPr>
          <a:xfrm>
            <a:off x="744175" y="1713896"/>
            <a:ext cx="248095" cy="248095"/>
          </a:xfrm>
          <a:prstGeom prst="ellipse">
            <a:avLst/>
          </a:prstGeom>
          <a:solidFill>
            <a:srgbClr val="3A3F46"/>
          </a:solidFill>
          <a:ln w="12700">
            <a:solidFill>
              <a:srgbClr val="3A3F46"/>
            </a:solidFill>
            <a:prstDash val="solid"/>
          </a:ln>
        </p:spPr>
      </p:sp>
      <p:sp>
        <p:nvSpPr>
          <p:cNvPr id="8" name="Shape 6"/>
          <p:cNvSpPr/>
          <p:nvPr/>
        </p:nvSpPr>
        <p:spPr>
          <a:xfrm>
            <a:off x="744175" y="2001932"/>
            <a:ext cx="248095" cy="248095"/>
          </a:xfrm>
          <a:prstGeom prst="ellipse">
            <a:avLst/>
          </a:prstGeom>
          <a:solidFill>
            <a:srgbClr val="3A3F46"/>
          </a:solidFill>
          <a:ln w="12700">
            <a:solidFill>
              <a:srgbClr val="3A3F46"/>
            </a:solidFill>
            <a:prstDash val="solid"/>
          </a:ln>
        </p:spPr>
      </p:sp>
      <p:sp>
        <p:nvSpPr>
          <p:cNvPr id="9" name="Shape 7"/>
          <p:cNvSpPr/>
          <p:nvPr/>
        </p:nvSpPr>
        <p:spPr>
          <a:xfrm>
            <a:off x="744175" y="2289968"/>
            <a:ext cx="248095" cy="248095"/>
          </a:xfrm>
          <a:prstGeom prst="ellipse">
            <a:avLst/>
          </a:prstGeom>
          <a:solidFill>
            <a:srgbClr val="19B45A"/>
          </a:solidFill>
          <a:ln w="12700">
            <a:solidFill>
              <a:srgbClr val="19B45A"/>
            </a:solidFill>
            <a:prstDash val="solid"/>
          </a:ln>
        </p:spPr>
      </p:sp>
      <p:sp>
        <p:nvSpPr>
          <p:cNvPr id="10" name="Text 8"/>
          <p:cNvSpPr txBox="1"/>
          <p:nvPr/>
        </p:nvSpPr>
        <p:spPr>
          <a:xfrm>
            <a:off x="1325880" y="1691640"/>
            <a:ext cx="1828800" cy="365760"/>
          </a:xfrm>
          <a:prstGeom prst="rect">
            <a:avLst/>
          </a:prstGeom>
          <a:noFill/>
          <a:ln/>
        </p:spPr>
        <p:txBody>
          <a:bodyPr wrap="square" lIns="0" tIns="0" rIns="0" bIns="0" rtlCol="0" anchor="t"/>
          <a:lstStyle/>
          <a:p>
            <a:pPr indent="0" marL="0">
              <a:buNone/>
            </a:pPr>
            <a:r>
              <a:rPr lang="en-US" sz="2000" b="1" dirty="0">
                <a:solidFill>
                  <a:srgbClr val="15181D"/>
                </a:solidFill>
                <a:latin typeface="Arial" pitchFamily="34" charset="0"/>
                <a:ea typeface="Arial" pitchFamily="34" charset="-122"/>
                <a:cs typeface="Arial" pitchFamily="34" charset="-120"/>
              </a:rPr>
              <a:t>Grün</a:t>
            </a:r>
            <a:endParaRPr lang="en-US" sz="2000" dirty="0"/>
          </a:p>
        </p:txBody>
      </p:sp>
      <p:sp>
        <p:nvSpPr>
          <p:cNvPr id="11" name="Text 9"/>
          <p:cNvSpPr txBox="1"/>
          <p:nvPr/>
        </p:nvSpPr>
        <p:spPr>
          <a:xfrm>
            <a:off x="1325880" y="2057400"/>
            <a:ext cx="5852160" cy="594360"/>
          </a:xfrm>
          <a:prstGeom prst="rect">
            <a:avLst/>
          </a:prstGeom>
          <a:noFill/>
          <a:ln/>
        </p:spPr>
        <p:txBody>
          <a:bodyPr wrap="square" lIns="0" tIns="0" rIns="0" bIns="0" rtlCol="0" anchor="t"/>
          <a:lstStyle/>
          <a:p>
            <a:pPr indent="0" marL="0">
              <a:buNone/>
            </a:pPr>
            <a:r>
              <a:rPr lang="en-US" sz="1500" dirty="0">
                <a:solidFill>
                  <a:srgbClr val="56606B"/>
                </a:solidFill>
                <a:latin typeface="Arial" pitchFamily="34" charset="0"/>
                <a:ea typeface="Arial" pitchFamily="34" charset="-122"/>
                <a:cs typeface="Arial" pitchFamily="34" charset="-120"/>
              </a:rPr>
              <a:t>Fahren. Beim Abbiegen trotzdem Gegenverkehr, Rad- und Fußverkehr durchlassen.</a:t>
            </a:r>
            <a:endParaRPr lang="en-US" sz="1500" dirty="0"/>
          </a:p>
        </p:txBody>
      </p:sp>
      <p:sp>
        <p:nvSpPr>
          <p:cNvPr id="12" name="Shape 10"/>
          <p:cNvSpPr/>
          <p:nvPr/>
        </p:nvSpPr>
        <p:spPr>
          <a:xfrm>
            <a:off x="685800" y="2724912"/>
            <a:ext cx="364846" cy="960120"/>
          </a:xfrm>
          <a:prstGeom prst="roundRect">
            <a:avLst>
              <a:gd name="adj" fmla="val 30075"/>
            </a:avLst>
          </a:prstGeom>
          <a:solidFill>
            <a:srgbClr val="1E2228"/>
          </a:solidFill>
          <a:ln w="12700">
            <a:solidFill>
              <a:srgbClr val="3A3F46"/>
            </a:solidFill>
            <a:prstDash val="solid"/>
          </a:ln>
        </p:spPr>
      </p:sp>
      <p:sp>
        <p:nvSpPr>
          <p:cNvPr id="13" name="Shape 11"/>
          <p:cNvSpPr/>
          <p:nvPr/>
        </p:nvSpPr>
        <p:spPr>
          <a:xfrm>
            <a:off x="744175" y="2792888"/>
            <a:ext cx="248095" cy="248095"/>
          </a:xfrm>
          <a:prstGeom prst="ellipse">
            <a:avLst/>
          </a:prstGeom>
          <a:solidFill>
            <a:srgbClr val="3A3F46"/>
          </a:solidFill>
          <a:ln w="12700">
            <a:solidFill>
              <a:srgbClr val="3A3F46"/>
            </a:solidFill>
            <a:prstDash val="solid"/>
          </a:ln>
        </p:spPr>
      </p:sp>
      <p:sp>
        <p:nvSpPr>
          <p:cNvPr id="14" name="Shape 12"/>
          <p:cNvSpPr/>
          <p:nvPr/>
        </p:nvSpPr>
        <p:spPr>
          <a:xfrm>
            <a:off x="744175" y="3080924"/>
            <a:ext cx="248095" cy="248095"/>
          </a:xfrm>
          <a:prstGeom prst="ellipse">
            <a:avLst/>
          </a:prstGeom>
          <a:solidFill>
            <a:srgbClr val="F7B500"/>
          </a:solidFill>
          <a:ln w="12700">
            <a:solidFill>
              <a:srgbClr val="F7B500"/>
            </a:solidFill>
            <a:prstDash val="solid"/>
          </a:ln>
        </p:spPr>
      </p:sp>
      <p:sp>
        <p:nvSpPr>
          <p:cNvPr id="15" name="Shape 13"/>
          <p:cNvSpPr/>
          <p:nvPr/>
        </p:nvSpPr>
        <p:spPr>
          <a:xfrm>
            <a:off x="744175" y="3368960"/>
            <a:ext cx="248095" cy="248095"/>
          </a:xfrm>
          <a:prstGeom prst="ellipse">
            <a:avLst/>
          </a:prstGeom>
          <a:solidFill>
            <a:srgbClr val="3A3F46"/>
          </a:solidFill>
          <a:ln w="12700">
            <a:solidFill>
              <a:srgbClr val="3A3F46"/>
            </a:solidFill>
            <a:prstDash val="solid"/>
          </a:ln>
        </p:spPr>
      </p:sp>
      <p:sp>
        <p:nvSpPr>
          <p:cNvPr id="16" name="Text 14"/>
          <p:cNvSpPr txBox="1"/>
          <p:nvPr/>
        </p:nvSpPr>
        <p:spPr>
          <a:xfrm>
            <a:off x="1325880" y="2770632"/>
            <a:ext cx="1828800" cy="365760"/>
          </a:xfrm>
          <a:prstGeom prst="rect">
            <a:avLst/>
          </a:prstGeom>
          <a:noFill/>
          <a:ln/>
        </p:spPr>
        <p:txBody>
          <a:bodyPr wrap="square" lIns="0" tIns="0" rIns="0" bIns="0" rtlCol="0" anchor="t"/>
          <a:lstStyle/>
          <a:p>
            <a:pPr indent="0" marL="0">
              <a:buNone/>
            </a:pPr>
            <a:r>
              <a:rPr lang="en-US" sz="2000" b="1" dirty="0">
                <a:solidFill>
                  <a:srgbClr val="15181D"/>
                </a:solidFill>
                <a:latin typeface="Arial" pitchFamily="34" charset="0"/>
                <a:ea typeface="Arial" pitchFamily="34" charset="-122"/>
                <a:cs typeface="Arial" pitchFamily="34" charset="-120"/>
              </a:rPr>
              <a:t>Gelb</a:t>
            </a:r>
            <a:endParaRPr lang="en-US" sz="2000" dirty="0"/>
          </a:p>
        </p:txBody>
      </p:sp>
      <p:sp>
        <p:nvSpPr>
          <p:cNvPr id="17" name="Text 15"/>
          <p:cNvSpPr txBox="1"/>
          <p:nvPr/>
        </p:nvSpPr>
        <p:spPr>
          <a:xfrm>
            <a:off x="1325880" y="3136392"/>
            <a:ext cx="5852160" cy="594360"/>
          </a:xfrm>
          <a:prstGeom prst="rect">
            <a:avLst/>
          </a:prstGeom>
          <a:noFill/>
          <a:ln/>
        </p:spPr>
        <p:txBody>
          <a:bodyPr wrap="square" lIns="0" tIns="0" rIns="0" bIns="0" rtlCol="0" anchor="t"/>
          <a:lstStyle/>
          <a:p>
            <a:pPr indent="0" marL="0">
              <a:buNone/>
            </a:pPr>
            <a:r>
              <a:rPr lang="en-US" sz="1500" dirty="0">
                <a:solidFill>
                  <a:srgbClr val="56606B"/>
                </a:solidFill>
                <a:latin typeface="Arial" pitchFamily="34" charset="0"/>
                <a:ea typeface="Arial" pitchFamily="34" charset="-122"/>
                <a:cs typeface="Arial" pitchFamily="34" charset="-120"/>
              </a:rPr>
              <a:t>Vor der Kreuzung auf das nächste Zeichen warten – anhalten, wenn das mit normaler Bremsung möglich ist.</a:t>
            </a:r>
            <a:endParaRPr lang="en-US" sz="1500" dirty="0"/>
          </a:p>
        </p:txBody>
      </p:sp>
      <p:sp>
        <p:nvSpPr>
          <p:cNvPr id="18" name="Shape 16"/>
          <p:cNvSpPr/>
          <p:nvPr/>
        </p:nvSpPr>
        <p:spPr>
          <a:xfrm>
            <a:off x="685800" y="3803904"/>
            <a:ext cx="364846" cy="960120"/>
          </a:xfrm>
          <a:prstGeom prst="roundRect">
            <a:avLst>
              <a:gd name="adj" fmla="val 30075"/>
            </a:avLst>
          </a:prstGeom>
          <a:solidFill>
            <a:srgbClr val="1E2228"/>
          </a:solidFill>
          <a:ln w="12700">
            <a:solidFill>
              <a:srgbClr val="3A3F46"/>
            </a:solidFill>
            <a:prstDash val="solid"/>
          </a:ln>
        </p:spPr>
      </p:sp>
      <p:sp>
        <p:nvSpPr>
          <p:cNvPr id="19" name="Shape 17"/>
          <p:cNvSpPr/>
          <p:nvPr/>
        </p:nvSpPr>
        <p:spPr>
          <a:xfrm>
            <a:off x="744175" y="3871880"/>
            <a:ext cx="248095" cy="248095"/>
          </a:xfrm>
          <a:prstGeom prst="ellipse">
            <a:avLst/>
          </a:prstGeom>
          <a:solidFill>
            <a:srgbClr val="E5322D"/>
          </a:solidFill>
          <a:ln w="12700">
            <a:solidFill>
              <a:srgbClr val="E5322D"/>
            </a:solidFill>
            <a:prstDash val="solid"/>
          </a:ln>
        </p:spPr>
      </p:sp>
      <p:sp>
        <p:nvSpPr>
          <p:cNvPr id="20" name="Shape 18"/>
          <p:cNvSpPr/>
          <p:nvPr/>
        </p:nvSpPr>
        <p:spPr>
          <a:xfrm>
            <a:off x="744175" y="4159916"/>
            <a:ext cx="248095" cy="248095"/>
          </a:xfrm>
          <a:prstGeom prst="ellipse">
            <a:avLst/>
          </a:prstGeom>
          <a:solidFill>
            <a:srgbClr val="3A3F46"/>
          </a:solidFill>
          <a:ln w="12700">
            <a:solidFill>
              <a:srgbClr val="3A3F46"/>
            </a:solidFill>
            <a:prstDash val="solid"/>
          </a:ln>
        </p:spPr>
      </p:sp>
      <p:sp>
        <p:nvSpPr>
          <p:cNvPr id="21" name="Shape 19"/>
          <p:cNvSpPr/>
          <p:nvPr/>
        </p:nvSpPr>
        <p:spPr>
          <a:xfrm>
            <a:off x="744175" y="4447952"/>
            <a:ext cx="248095" cy="248095"/>
          </a:xfrm>
          <a:prstGeom prst="ellipse">
            <a:avLst/>
          </a:prstGeom>
          <a:solidFill>
            <a:srgbClr val="3A3F46"/>
          </a:solidFill>
          <a:ln w="12700">
            <a:solidFill>
              <a:srgbClr val="3A3F46"/>
            </a:solidFill>
            <a:prstDash val="solid"/>
          </a:ln>
        </p:spPr>
      </p:sp>
      <p:sp>
        <p:nvSpPr>
          <p:cNvPr id="22" name="Text 20"/>
          <p:cNvSpPr txBox="1"/>
          <p:nvPr/>
        </p:nvSpPr>
        <p:spPr>
          <a:xfrm>
            <a:off x="1325880" y="3849624"/>
            <a:ext cx="1828800" cy="365760"/>
          </a:xfrm>
          <a:prstGeom prst="rect">
            <a:avLst/>
          </a:prstGeom>
          <a:noFill/>
          <a:ln/>
        </p:spPr>
        <p:txBody>
          <a:bodyPr wrap="square" lIns="0" tIns="0" rIns="0" bIns="0" rtlCol="0" anchor="t"/>
          <a:lstStyle/>
          <a:p>
            <a:pPr indent="0" marL="0">
              <a:buNone/>
            </a:pPr>
            <a:r>
              <a:rPr lang="en-US" sz="2000" b="1" dirty="0">
                <a:solidFill>
                  <a:srgbClr val="15181D"/>
                </a:solidFill>
                <a:latin typeface="Arial" pitchFamily="34" charset="0"/>
                <a:ea typeface="Arial" pitchFamily="34" charset="-122"/>
                <a:cs typeface="Arial" pitchFamily="34" charset="-120"/>
              </a:rPr>
              <a:t>Rot</a:t>
            </a:r>
            <a:endParaRPr lang="en-US" sz="2000" dirty="0"/>
          </a:p>
        </p:txBody>
      </p:sp>
      <p:sp>
        <p:nvSpPr>
          <p:cNvPr id="23" name="Text 21"/>
          <p:cNvSpPr txBox="1"/>
          <p:nvPr/>
        </p:nvSpPr>
        <p:spPr>
          <a:xfrm>
            <a:off x="1325880" y="4215384"/>
            <a:ext cx="5852160" cy="594360"/>
          </a:xfrm>
          <a:prstGeom prst="rect">
            <a:avLst/>
          </a:prstGeom>
          <a:noFill/>
          <a:ln/>
        </p:spPr>
        <p:txBody>
          <a:bodyPr wrap="square" lIns="0" tIns="0" rIns="0" bIns="0" rtlCol="0" anchor="t"/>
          <a:lstStyle/>
          <a:p>
            <a:pPr indent="0" marL="0">
              <a:buNone/>
            </a:pPr>
            <a:r>
              <a:rPr lang="en-US" sz="1500" dirty="0">
                <a:solidFill>
                  <a:srgbClr val="56606B"/>
                </a:solidFill>
                <a:latin typeface="Arial" pitchFamily="34" charset="0"/>
                <a:ea typeface="Arial" pitchFamily="34" charset="-122"/>
                <a:cs typeface="Arial" pitchFamily="34" charset="-120"/>
              </a:rPr>
              <a:t>Vor der Kreuzung halten.</a:t>
            </a:r>
            <a:endParaRPr lang="en-US" sz="1500" dirty="0"/>
          </a:p>
        </p:txBody>
      </p:sp>
      <p:sp>
        <p:nvSpPr>
          <p:cNvPr id="24" name="Shape 22"/>
          <p:cNvSpPr/>
          <p:nvPr/>
        </p:nvSpPr>
        <p:spPr>
          <a:xfrm>
            <a:off x="685800" y="4882896"/>
            <a:ext cx="364846" cy="960120"/>
          </a:xfrm>
          <a:prstGeom prst="roundRect">
            <a:avLst>
              <a:gd name="adj" fmla="val 30075"/>
            </a:avLst>
          </a:prstGeom>
          <a:solidFill>
            <a:srgbClr val="1E2228"/>
          </a:solidFill>
          <a:ln w="12700">
            <a:solidFill>
              <a:srgbClr val="3A3F46"/>
            </a:solidFill>
            <a:prstDash val="solid"/>
          </a:ln>
        </p:spPr>
      </p:sp>
      <p:sp>
        <p:nvSpPr>
          <p:cNvPr id="25" name="Shape 23"/>
          <p:cNvSpPr/>
          <p:nvPr/>
        </p:nvSpPr>
        <p:spPr>
          <a:xfrm>
            <a:off x="744175" y="4950872"/>
            <a:ext cx="248095" cy="248095"/>
          </a:xfrm>
          <a:prstGeom prst="ellipse">
            <a:avLst/>
          </a:prstGeom>
          <a:solidFill>
            <a:srgbClr val="E5322D"/>
          </a:solidFill>
          <a:ln w="12700">
            <a:solidFill>
              <a:srgbClr val="E5322D"/>
            </a:solidFill>
            <a:prstDash val="solid"/>
          </a:ln>
        </p:spPr>
      </p:sp>
      <p:sp>
        <p:nvSpPr>
          <p:cNvPr id="26" name="Shape 24"/>
          <p:cNvSpPr/>
          <p:nvPr/>
        </p:nvSpPr>
        <p:spPr>
          <a:xfrm>
            <a:off x="744175" y="5238908"/>
            <a:ext cx="248095" cy="248095"/>
          </a:xfrm>
          <a:prstGeom prst="ellipse">
            <a:avLst/>
          </a:prstGeom>
          <a:solidFill>
            <a:srgbClr val="F7B500"/>
          </a:solidFill>
          <a:ln w="12700">
            <a:solidFill>
              <a:srgbClr val="F7B500"/>
            </a:solidFill>
            <a:prstDash val="solid"/>
          </a:ln>
        </p:spPr>
      </p:sp>
      <p:sp>
        <p:nvSpPr>
          <p:cNvPr id="27" name="Shape 25"/>
          <p:cNvSpPr/>
          <p:nvPr/>
        </p:nvSpPr>
        <p:spPr>
          <a:xfrm>
            <a:off x="744175" y="5526944"/>
            <a:ext cx="248095" cy="248095"/>
          </a:xfrm>
          <a:prstGeom prst="ellipse">
            <a:avLst/>
          </a:prstGeom>
          <a:solidFill>
            <a:srgbClr val="3A3F46"/>
          </a:solidFill>
          <a:ln w="12700">
            <a:solidFill>
              <a:srgbClr val="3A3F46"/>
            </a:solidFill>
            <a:prstDash val="solid"/>
          </a:ln>
        </p:spPr>
      </p:sp>
      <p:sp>
        <p:nvSpPr>
          <p:cNvPr id="28" name="Text 26"/>
          <p:cNvSpPr txBox="1"/>
          <p:nvPr/>
        </p:nvSpPr>
        <p:spPr>
          <a:xfrm>
            <a:off x="1325880" y="4928616"/>
            <a:ext cx="1828800" cy="365760"/>
          </a:xfrm>
          <a:prstGeom prst="rect">
            <a:avLst/>
          </a:prstGeom>
          <a:noFill/>
          <a:ln/>
        </p:spPr>
        <p:txBody>
          <a:bodyPr wrap="square" lIns="0" tIns="0" rIns="0" bIns="0" rtlCol="0" anchor="t"/>
          <a:lstStyle/>
          <a:p>
            <a:pPr indent="0" marL="0">
              <a:buNone/>
            </a:pPr>
            <a:r>
              <a:rPr lang="en-US" sz="2000" b="1" dirty="0">
                <a:solidFill>
                  <a:srgbClr val="15181D"/>
                </a:solidFill>
                <a:latin typeface="Arial" pitchFamily="34" charset="0"/>
                <a:ea typeface="Arial" pitchFamily="34" charset="-122"/>
                <a:cs typeface="Arial" pitchFamily="34" charset="-120"/>
              </a:rPr>
              <a:t>Rot und Gelb</a:t>
            </a:r>
            <a:endParaRPr lang="en-US" sz="2000" dirty="0"/>
          </a:p>
        </p:txBody>
      </p:sp>
      <p:sp>
        <p:nvSpPr>
          <p:cNvPr id="29" name="Text 27"/>
          <p:cNvSpPr txBox="1"/>
          <p:nvPr/>
        </p:nvSpPr>
        <p:spPr>
          <a:xfrm>
            <a:off x="1325880" y="5294376"/>
            <a:ext cx="5852160" cy="594360"/>
          </a:xfrm>
          <a:prstGeom prst="rect">
            <a:avLst/>
          </a:prstGeom>
          <a:noFill/>
          <a:ln/>
        </p:spPr>
        <p:txBody>
          <a:bodyPr wrap="square" lIns="0" tIns="0" rIns="0" bIns="0" rtlCol="0" anchor="t"/>
          <a:lstStyle/>
          <a:p>
            <a:pPr indent="0" marL="0">
              <a:buNone/>
            </a:pPr>
            <a:r>
              <a:rPr lang="en-US" sz="1500" dirty="0">
                <a:solidFill>
                  <a:srgbClr val="56606B"/>
                </a:solidFill>
                <a:latin typeface="Arial" pitchFamily="34" charset="0"/>
                <a:ea typeface="Arial" pitchFamily="34" charset="-122"/>
                <a:cs typeface="Arial" pitchFamily="34" charset="-120"/>
              </a:rPr>
              <a:t>Gleich wird es Grün – du stehst noch.</a:t>
            </a:r>
            <a:endParaRPr lang="en-US" sz="1500" dirty="0"/>
          </a:p>
        </p:txBody>
      </p:sp>
      <p:sp>
        <p:nvSpPr>
          <p:cNvPr id="30" name="Shape 28"/>
          <p:cNvSpPr/>
          <p:nvPr/>
        </p:nvSpPr>
        <p:spPr>
          <a:xfrm>
            <a:off x="7589520" y="1645920"/>
            <a:ext cx="4050792" cy="2011680"/>
          </a:xfrm>
          <a:prstGeom prst="roundRect">
            <a:avLst>
              <a:gd name="adj" fmla="val 8182"/>
            </a:avLst>
          </a:prstGeom>
          <a:solidFill>
            <a:srgbClr val="F1F3F6"/>
          </a:solidFill>
          <a:ln w="12700">
            <a:solidFill>
              <a:srgbClr val="F1F3F6"/>
            </a:solidFill>
            <a:prstDash val="solid"/>
          </a:ln>
        </p:spPr>
      </p:sp>
      <p:sp>
        <p:nvSpPr>
          <p:cNvPr id="31" name="Text 29"/>
          <p:cNvSpPr txBox="1"/>
          <p:nvPr/>
        </p:nvSpPr>
        <p:spPr>
          <a:xfrm>
            <a:off x="7863840" y="1874520"/>
            <a:ext cx="3566160" cy="411480"/>
          </a:xfrm>
          <a:prstGeom prst="rect">
            <a:avLst/>
          </a:prstGeom>
          <a:noFill/>
          <a:ln/>
        </p:spPr>
        <p:txBody>
          <a:bodyPr wrap="square" lIns="0" tIns="0" rIns="0" bIns="0" rtlCol="0" anchor="t"/>
          <a:lstStyle/>
          <a:p>
            <a:pPr indent="0" marL="0">
              <a:buNone/>
            </a:pPr>
            <a:r>
              <a:rPr lang="en-US" sz="1900" b="1" dirty="0">
                <a:solidFill>
                  <a:srgbClr val="15181D"/>
                </a:solidFill>
                <a:latin typeface="Arial" pitchFamily="34" charset="0"/>
                <a:ea typeface="Arial" pitchFamily="34" charset="-122"/>
                <a:cs typeface="Arial" pitchFamily="34" charset="-120"/>
              </a:rPr>
              <a:t>Ampel geht vor Schild</a:t>
            </a:r>
            <a:endParaRPr lang="en-US" sz="1900" dirty="0"/>
          </a:p>
        </p:txBody>
      </p:sp>
      <p:sp>
        <p:nvSpPr>
          <p:cNvPr id="32" name="Text 30"/>
          <p:cNvSpPr txBox="1"/>
          <p:nvPr/>
        </p:nvSpPr>
        <p:spPr>
          <a:xfrm>
            <a:off x="7863840" y="2331720"/>
            <a:ext cx="3566160" cy="1188720"/>
          </a:xfrm>
          <a:prstGeom prst="rect">
            <a:avLst/>
          </a:prstGeom>
          <a:noFill/>
          <a:ln/>
        </p:spPr>
        <p:txBody>
          <a:bodyPr wrap="square" lIns="0" tIns="0" rIns="0" bIns="0" rtlCol="0" anchor="t"/>
          <a:lstStyle/>
          <a:p>
            <a:pPr indent="0" marL="0">
              <a:buNone/>
            </a:pPr>
            <a:r>
              <a:rPr lang="en-US" sz="1600" dirty="0">
                <a:solidFill>
                  <a:srgbClr val="56606B"/>
                </a:solidFill>
                <a:latin typeface="Arial" pitchFamily="34" charset="0"/>
                <a:ea typeface="Arial" pitchFamily="34" charset="-122"/>
                <a:cs typeface="Arial" pitchFamily="34" charset="-120"/>
              </a:rPr>
              <a:t>Lichtzeichen gehen Vorfahrtsschildern und der Grundregel vor.</a:t>
            </a:r>
            <a:endParaRPr lang="en-US" sz="1600" dirty="0"/>
          </a:p>
        </p:txBody>
      </p:sp>
      <p:sp>
        <p:nvSpPr>
          <p:cNvPr id="33" name="Shape 31"/>
          <p:cNvSpPr/>
          <p:nvPr/>
        </p:nvSpPr>
        <p:spPr>
          <a:xfrm>
            <a:off x="7589520" y="3840480"/>
            <a:ext cx="4050792" cy="2103120"/>
          </a:xfrm>
          <a:prstGeom prst="roundRect">
            <a:avLst>
              <a:gd name="adj" fmla="val 7826"/>
            </a:avLst>
          </a:prstGeom>
          <a:solidFill>
            <a:srgbClr val="F1F3F6"/>
          </a:solidFill>
          <a:ln w="12700">
            <a:solidFill>
              <a:srgbClr val="F1F3F6"/>
            </a:solidFill>
            <a:prstDash val="solid"/>
          </a:ln>
        </p:spPr>
      </p:sp>
      <p:sp>
        <p:nvSpPr>
          <p:cNvPr id="34" name="Text 32"/>
          <p:cNvSpPr txBox="1"/>
          <p:nvPr/>
        </p:nvSpPr>
        <p:spPr>
          <a:xfrm>
            <a:off x="7863840" y="4069080"/>
            <a:ext cx="3566160" cy="685800"/>
          </a:xfrm>
          <a:prstGeom prst="rect">
            <a:avLst/>
          </a:prstGeom>
          <a:noFill/>
          <a:ln/>
        </p:spPr>
        <p:txBody>
          <a:bodyPr wrap="square" lIns="0" tIns="0" rIns="0" bIns="0" rtlCol="0" anchor="t"/>
          <a:lstStyle/>
          <a:p>
            <a:pPr indent="0" marL="0">
              <a:buNone/>
            </a:pPr>
            <a:r>
              <a:rPr lang="en-US" sz="1900" b="1" dirty="0">
                <a:solidFill>
                  <a:srgbClr val="15181D"/>
                </a:solidFill>
                <a:latin typeface="Arial" pitchFamily="34" charset="0"/>
                <a:ea typeface="Arial" pitchFamily="34" charset="-122"/>
                <a:cs typeface="Arial" pitchFamily="34" charset="-120"/>
              </a:rPr>
              <a:t>Ampel aus oder gelbes Blinklicht?</a:t>
            </a:r>
            <a:endParaRPr lang="en-US" sz="1900" dirty="0"/>
          </a:p>
        </p:txBody>
      </p:sp>
      <p:sp>
        <p:nvSpPr>
          <p:cNvPr id="35" name="Text 33"/>
          <p:cNvSpPr txBox="1"/>
          <p:nvPr/>
        </p:nvSpPr>
        <p:spPr>
          <a:xfrm>
            <a:off x="7863840" y="4754880"/>
            <a:ext cx="3566160" cy="1097280"/>
          </a:xfrm>
          <a:prstGeom prst="rect">
            <a:avLst/>
          </a:prstGeom>
          <a:noFill/>
          <a:ln/>
        </p:spPr>
        <p:txBody>
          <a:bodyPr wrap="square" lIns="0" tIns="0" rIns="0" bIns="0" rtlCol="0" anchor="t"/>
          <a:lstStyle/>
          <a:p>
            <a:pPr indent="0" marL="0">
              <a:buNone/>
            </a:pPr>
            <a:r>
              <a:rPr lang="en-US" sz="1600" dirty="0">
                <a:solidFill>
                  <a:srgbClr val="56606B"/>
                </a:solidFill>
                <a:latin typeface="Arial" pitchFamily="34" charset="0"/>
                <a:ea typeface="Arial" pitchFamily="34" charset="-122"/>
                <a:cs typeface="Arial" pitchFamily="34" charset="-120"/>
              </a:rPr>
              <a:t>Dann gelten die Schilder – gibt es keine: rechts vor links.</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05 · AMPEL</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Grünpfeil-Schild oder grüner Pfeil?</a:t>
            </a:r>
            <a:endParaRPr lang="en-US" sz="3200" dirty="0"/>
          </a:p>
        </p:txBody>
      </p:sp>
      <p:sp>
        <p:nvSpPr>
          <p:cNvPr id="4" name="Shape 2"/>
          <p:cNvSpPr/>
          <p:nvPr/>
        </p:nvSpPr>
        <p:spPr>
          <a:xfrm>
            <a:off x="9795967" y="457200"/>
            <a:ext cx="1847088"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795967" y="457200"/>
            <a:ext cx="1847088"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37 Abs. 2 StVO</a:t>
            </a:r>
            <a:endParaRPr lang="en-US" sz="1200" dirty="0"/>
          </a:p>
        </p:txBody>
      </p:sp>
      <p:sp>
        <p:nvSpPr>
          <p:cNvPr id="6" name="Shape 4"/>
          <p:cNvSpPr/>
          <p:nvPr/>
        </p:nvSpPr>
        <p:spPr>
          <a:xfrm>
            <a:off x="548640" y="1645920"/>
            <a:ext cx="5440680" cy="4480560"/>
          </a:xfrm>
          <a:prstGeom prst="roundRect">
            <a:avLst>
              <a:gd name="adj" fmla="val 3673"/>
            </a:avLst>
          </a:prstGeom>
          <a:solidFill>
            <a:srgbClr val="F1F3F6"/>
          </a:solidFill>
          <a:ln w="12700">
            <a:solidFill>
              <a:srgbClr val="F1F3F6"/>
            </a:solidFill>
            <a:prstDash val="solid"/>
          </a:ln>
        </p:spPr>
      </p:sp>
      <p:sp>
        <p:nvSpPr>
          <p:cNvPr id="7" name="Shape 5"/>
          <p:cNvSpPr/>
          <p:nvPr/>
        </p:nvSpPr>
        <p:spPr>
          <a:xfrm>
            <a:off x="6199632" y="1645920"/>
            <a:ext cx="5440680" cy="4480560"/>
          </a:xfrm>
          <a:prstGeom prst="roundRect">
            <a:avLst>
              <a:gd name="adj" fmla="val 3673"/>
            </a:avLst>
          </a:prstGeom>
          <a:solidFill>
            <a:srgbClr val="F1F3F6"/>
          </a:solidFill>
          <a:ln w="12700">
            <a:solidFill>
              <a:srgbClr val="F1F3F6"/>
            </a:solidFill>
            <a:prstDash val="solid"/>
          </a:ln>
        </p:spPr>
      </p:sp>
      <p:sp>
        <p:nvSpPr>
          <p:cNvPr id="8" name="Shape 6"/>
          <p:cNvSpPr/>
          <p:nvPr/>
        </p:nvSpPr>
        <p:spPr>
          <a:xfrm>
            <a:off x="960120" y="1965960"/>
            <a:ext cx="729691" cy="1920240"/>
          </a:xfrm>
          <a:prstGeom prst="roundRect">
            <a:avLst>
              <a:gd name="adj" fmla="val 15038"/>
            </a:avLst>
          </a:prstGeom>
          <a:solidFill>
            <a:srgbClr val="1E2228"/>
          </a:solidFill>
          <a:ln w="12700">
            <a:solidFill>
              <a:srgbClr val="3A3F46"/>
            </a:solidFill>
            <a:prstDash val="solid"/>
          </a:ln>
        </p:spPr>
      </p:sp>
      <p:sp>
        <p:nvSpPr>
          <p:cNvPr id="9" name="Shape 7"/>
          <p:cNvSpPr/>
          <p:nvPr/>
        </p:nvSpPr>
        <p:spPr>
          <a:xfrm>
            <a:off x="1076871" y="2101913"/>
            <a:ext cx="496190" cy="496190"/>
          </a:xfrm>
          <a:prstGeom prst="ellipse">
            <a:avLst/>
          </a:prstGeom>
          <a:solidFill>
            <a:srgbClr val="E5322D"/>
          </a:solidFill>
          <a:ln w="12700">
            <a:solidFill>
              <a:srgbClr val="E5322D"/>
            </a:solidFill>
            <a:prstDash val="solid"/>
          </a:ln>
        </p:spPr>
      </p:sp>
      <p:sp>
        <p:nvSpPr>
          <p:cNvPr id="10" name="Shape 8"/>
          <p:cNvSpPr/>
          <p:nvPr/>
        </p:nvSpPr>
        <p:spPr>
          <a:xfrm>
            <a:off x="1076871" y="2677985"/>
            <a:ext cx="496190" cy="496190"/>
          </a:xfrm>
          <a:prstGeom prst="ellipse">
            <a:avLst/>
          </a:prstGeom>
          <a:solidFill>
            <a:srgbClr val="3A3F46"/>
          </a:solidFill>
          <a:ln w="12700">
            <a:solidFill>
              <a:srgbClr val="3A3F46"/>
            </a:solidFill>
            <a:prstDash val="solid"/>
          </a:ln>
        </p:spPr>
      </p:sp>
      <p:sp>
        <p:nvSpPr>
          <p:cNvPr id="11" name="Shape 9"/>
          <p:cNvSpPr/>
          <p:nvPr/>
        </p:nvSpPr>
        <p:spPr>
          <a:xfrm>
            <a:off x="1076871" y="3254057"/>
            <a:ext cx="496190" cy="496190"/>
          </a:xfrm>
          <a:prstGeom prst="ellipse">
            <a:avLst/>
          </a:prstGeom>
          <a:solidFill>
            <a:srgbClr val="3A3F46"/>
          </a:solidFill>
          <a:ln w="12700">
            <a:solidFill>
              <a:srgbClr val="3A3F46"/>
            </a:solidFill>
            <a:prstDash val="solid"/>
          </a:ln>
        </p:spPr>
      </p:sp>
      <p:sp>
        <p:nvSpPr>
          <p:cNvPr id="12" name="Shape 10"/>
          <p:cNvSpPr/>
          <p:nvPr/>
        </p:nvSpPr>
        <p:spPr>
          <a:xfrm>
            <a:off x="1828800" y="2029968"/>
            <a:ext cx="640080" cy="640080"/>
          </a:xfrm>
          <a:prstGeom prst="roundRect">
            <a:avLst>
              <a:gd name="adj" fmla="val 8571"/>
            </a:avLst>
          </a:prstGeom>
          <a:solidFill>
            <a:srgbClr val="17191C"/>
          </a:solidFill>
          <a:ln w="12700">
            <a:solidFill>
              <a:srgbClr val="4A4A4A"/>
            </a:solidFill>
            <a:prstDash val="solid"/>
          </a:ln>
        </p:spPr>
      </p:sp>
      <p:sp>
        <p:nvSpPr>
          <p:cNvPr id="13" name="Shape 11"/>
          <p:cNvSpPr/>
          <p:nvPr/>
        </p:nvSpPr>
        <p:spPr>
          <a:xfrm>
            <a:off x="1950415" y="2308403"/>
            <a:ext cx="303238" cy="83210"/>
          </a:xfrm>
          <a:prstGeom prst="rect">
            <a:avLst/>
          </a:prstGeom>
          <a:solidFill>
            <a:srgbClr val="19B45A"/>
          </a:solidFill>
          <a:ln w="12700">
            <a:solidFill>
              <a:srgbClr val="19B45A"/>
            </a:solidFill>
            <a:prstDash val="solid"/>
          </a:ln>
        </p:spPr>
      </p:sp>
      <p:sp>
        <p:nvSpPr>
          <p:cNvPr id="14" name="Shape 12"/>
          <p:cNvSpPr/>
          <p:nvPr/>
        </p:nvSpPr>
        <p:spPr>
          <a:xfrm rot="5400000">
            <a:off x="2199566" y="2298002"/>
            <a:ext cx="191384" cy="104013"/>
          </a:xfrm>
          <a:prstGeom prst="triangle">
            <a:avLst/>
          </a:prstGeom>
          <a:solidFill>
            <a:srgbClr val="19B45A"/>
          </a:solidFill>
          <a:ln w="12700">
            <a:solidFill>
              <a:srgbClr val="19B45A"/>
            </a:solidFill>
            <a:prstDash val="solid"/>
          </a:ln>
        </p:spPr>
      </p:sp>
      <p:sp>
        <p:nvSpPr>
          <p:cNvPr id="15" name="Text 13"/>
          <p:cNvSpPr txBox="1"/>
          <p:nvPr/>
        </p:nvSpPr>
        <p:spPr>
          <a:xfrm>
            <a:off x="2880360" y="2011680"/>
            <a:ext cx="2926080" cy="411480"/>
          </a:xfrm>
          <a:prstGeom prst="rect">
            <a:avLst/>
          </a:prstGeom>
          <a:noFill/>
          <a:ln/>
        </p:spPr>
        <p:txBody>
          <a:bodyPr wrap="square" lIns="0" tIns="0" rIns="0" bIns="0" rtlCol="0" anchor="t"/>
          <a:lstStyle/>
          <a:p>
            <a:pPr indent="0" marL="0">
              <a:buNone/>
            </a:pPr>
            <a:r>
              <a:rPr lang="en-US" sz="2000" b="1" dirty="0">
                <a:solidFill>
                  <a:srgbClr val="15181D"/>
                </a:solidFill>
                <a:latin typeface="Arial" pitchFamily="34" charset="0"/>
                <a:ea typeface="Arial" pitchFamily="34" charset="-122"/>
                <a:cs typeface="Arial" pitchFamily="34" charset="-120"/>
              </a:rPr>
              <a:t>Grünpfeil-Schild</a:t>
            </a:r>
            <a:endParaRPr lang="en-US" sz="2000" dirty="0"/>
          </a:p>
        </p:txBody>
      </p:sp>
      <p:sp>
        <p:nvSpPr>
          <p:cNvPr id="16" name="Text 14"/>
          <p:cNvSpPr txBox="1"/>
          <p:nvPr/>
        </p:nvSpPr>
        <p:spPr>
          <a:xfrm>
            <a:off x="2880360" y="2423160"/>
            <a:ext cx="2926080" cy="5943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Blechschild neben dem roten Licht</a:t>
            </a:r>
            <a:endParaRPr lang="en-US" sz="1400" dirty="0"/>
          </a:p>
        </p:txBody>
      </p:sp>
      <p:sp>
        <p:nvSpPr>
          <p:cNvPr id="17" name="Shape 15"/>
          <p:cNvSpPr/>
          <p:nvPr/>
        </p:nvSpPr>
        <p:spPr>
          <a:xfrm>
            <a:off x="900684" y="4128516"/>
            <a:ext cx="155448" cy="155448"/>
          </a:xfrm>
          <a:prstGeom prst="ellipse">
            <a:avLst/>
          </a:prstGeom>
          <a:solidFill>
            <a:srgbClr val="FF9300"/>
          </a:solidFill>
          <a:ln w="12700">
            <a:solidFill>
              <a:srgbClr val="FF9300"/>
            </a:solidFill>
            <a:prstDash val="solid"/>
          </a:ln>
        </p:spPr>
      </p:sp>
      <p:sp>
        <p:nvSpPr>
          <p:cNvPr id="18" name="Text 16"/>
          <p:cNvSpPr txBox="1"/>
          <p:nvPr/>
        </p:nvSpPr>
        <p:spPr>
          <a:xfrm>
            <a:off x="1252728" y="4023360"/>
            <a:ext cx="4553712" cy="585216"/>
          </a:xfrm>
          <a:prstGeom prst="rect">
            <a:avLst/>
          </a:prstGeom>
          <a:noFill/>
          <a:ln/>
        </p:spPr>
        <p:txBody>
          <a:bodyPr wrap="square" lIns="0" tIns="0" rIns="0" bIns="0" rtlCol="0" anchor="t"/>
          <a:lstStyle/>
          <a:p>
            <a:pPr indent="0" marL="0">
              <a:lnSpc>
                <a:spcPct val="105000"/>
              </a:lnSpc>
              <a:buNone/>
            </a:pPr>
            <a:r>
              <a:rPr lang="en-US" sz="1600" dirty="0">
                <a:solidFill>
                  <a:srgbClr val="343B44"/>
                </a:solidFill>
                <a:latin typeface="Arial" pitchFamily="34" charset="0"/>
                <a:ea typeface="Arial" pitchFamily="34" charset="-122"/>
                <a:cs typeface="Arial" pitchFamily="34" charset="-120"/>
              </a:rPr>
              <a:t>Erst anhalten, dann bei Rot rechts abbiegen.</a:t>
            </a:r>
            <a:endParaRPr lang="en-US" sz="1600" dirty="0"/>
          </a:p>
        </p:txBody>
      </p:sp>
      <p:sp>
        <p:nvSpPr>
          <p:cNvPr id="19" name="Shape 17"/>
          <p:cNvSpPr/>
          <p:nvPr/>
        </p:nvSpPr>
        <p:spPr>
          <a:xfrm>
            <a:off x="900684" y="4786884"/>
            <a:ext cx="155448" cy="155448"/>
          </a:xfrm>
          <a:prstGeom prst="ellipse">
            <a:avLst/>
          </a:prstGeom>
          <a:solidFill>
            <a:srgbClr val="FF9300"/>
          </a:solidFill>
          <a:ln w="12700">
            <a:solidFill>
              <a:srgbClr val="FF9300"/>
            </a:solidFill>
            <a:prstDash val="solid"/>
          </a:ln>
        </p:spPr>
      </p:sp>
      <p:sp>
        <p:nvSpPr>
          <p:cNvPr id="20" name="Text 18"/>
          <p:cNvSpPr txBox="1"/>
          <p:nvPr/>
        </p:nvSpPr>
        <p:spPr>
          <a:xfrm>
            <a:off x="1252728" y="4681728"/>
            <a:ext cx="4553712" cy="585216"/>
          </a:xfrm>
          <a:prstGeom prst="rect">
            <a:avLst/>
          </a:prstGeom>
          <a:noFill/>
          <a:ln/>
        </p:spPr>
        <p:txBody>
          <a:bodyPr wrap="square" lIns="0" tIns="0" rIns="0" bIns="0" rtlCol="0" anchor="t"/>
          <a:lstStyle/>
          <a:p>
            <a:pPr indent="0" marL="0">
              <a:lnSpc>
                <a:spcPct val="105000"/>
              </a:lnSpc>
              <a:buNone/>
            </a:pPr>
            <a:r>
              <a:rPr lang="en-US" sz="1600" dirty="0">
                <a:solidFill>
                  <a:srgbClr val="343B44"/>
                </a:solidFill>
                <a:latin typeface="Arial" pitchFamily="34" charset="0"/>
                <a:ea typeface="Arial" pitchFamily="34" charset="-122"/>
                <a:cs typeface="Arial" pitchFamily="34" charset="-120"/>
              </a:rPr>
              <a:t>Nur vom rechten Fahrstreifen.</a:t>
            </a:r>
            <a:endParaRPr lang="en-US" sz="1600" dirty="0"/>
          </a:p>
        </p:txBody>
      </p:sp>
      <p:sp>
        <p:nvSpPr>
          <p:cNvPr id="21" name="Shape 19"/>
          <p:cNvSpPr/>
          <p:nvPr/>
        </p:nvSpPr>
        <p:spPr>
          <a:xfrm>
            <a:off x="900684" y="5445252"/>
            <a:ext cx="155448" cy="155448"/>
          </a:xfrm>
          <a:prstGeom prst="ellipse">
            <a:avLst/>
          </a:prstGeom>
          <a:solidFill>
            <a:srgbClr val="FF9300"/>
          </a:solidFill>
          <a:ln w="12700">
            <a:solidFill>
              <a:srgbClr val="FF9300"/>
            </a:solidFill>
            <a:prstDash val="solid"/>
          </a:ln>
        </p:spPr>
      </p:sp>
      <p:sp>
        <p:nvSpPr>
          <p:cNvPr id="22" name="Text 20"/>
          <p:cNvSpPr txBox="1"/>
          <p:nvPr/>
        </p:nvSpPr>
        <p:spPr>
          <a:xfrm>
            <a:off x="1252728" y="5340096"/>
            <a:ext cx="4553712" cy="585216"/>
          </a:xfrm>
          <a:prstGeom prst="rect">
            <a:avLst/>
          </a:prstGeom>
          <a:noFill/>
          <a:ln/>
        </p:spPr>
        <p:txBody>
          <a:bodyPr wrap="square" lIns="0" tIns="0" rIns="0" bIns="0" rtlCol="0" anchor="t"/>
          <a:lstStyle/>
          <a:p>
            <a:pPr indent="0" marL="0">
              <a:lnSpc>
                <a:spcPct val="105000"/>
              </a:lnSpc>
              <a:buNone/>
            </a:pPr>
            <a:r>
              <a:rPr lang="en-US" sz="1600" dirty="0">
                <a:solidFill>
                  <a:srgbClr val="343B44"/>
                </a:solidFill>
                <a:latin typeface="Arial" pitchFamily="34" charset="0"/>
                <a:ea typeface="Arial" pitchFamily="34" charset="-122"/>
                <a:cs typeface="Arial" pitchFamily="34" charset="-120"/>
              </a:rPr>
              <a:t>Niemanden behindern oder gefährden – besonders Fuß- und Radverkehr mit Grün.</a:t>
            </a:r>
            <a:endParaRPr lang="en-US" sz="1600" dirty="0"/>
          </a:p>
        </p:txBody>
      </p:sp>
      <p:sp>
        <p:nvSpPr>
          <p:cNvPr id="23" name="Shape 21"/>
          <p:cNvSpPr/>
          <p:nvPr/>
        </p:nvSpPr>
        <p:spPr>
          <a:xfrm>
            <a:off x="6629400" y="1965960"/>
            <a:ext cx="729691" cy="1920240"/>
          </a:xfrm>
          <a:prstGeom prst="roundRect">
            <a:avLst>
              <a:gd name="adj" fmla="val 15038"/>
            </a:avLst>
          </a:prstGeom>
          <a:solidFill>
            <a:srgbClr val="1E2228"/>
          </a:solidFill>
          <a:ln w="12700">
            <a:solidFill>
              <a:srgbClr val="3A3F46"/>
            </a:solidFill>
            <a:prstDash val="solid"/>
          </a:ln>
        </p:spPr>
      </p:sp>
      <p:sp>
        <p:nvSpPr>
          <p:cNvPr id="24" name="Shape 22"/>
          <p:cNvSpPr/>
          <p:nvPr/>
        </p:nvSpPr>
        <p:spPr>
          <a:xfrm>
            <a:off x="6746151" y="2101913"/>
            <a:ext cx="496190" cy="496190"/>
          </a:xfrm>
          <a:prstGeom prst="ellipse">
            <a:avLst/>
          </a:prstGeom>
          <a:solidFill>
            <a:srgbClr val="3A3F46"/>
          </a:solidFill>
          <a:ln w="12700">
            <a:solidFill>
              <a:srgbClr val="3A3F46"/>
            </a:solidFill>
            <a:prstDash val="solid"/>
          </a:ln>
        </p:spPr>
      </p:sp>
      <p:sp>
        <p:nvSpPr>
          <p:cNvPr id="25" name="Shape 23"/>
          <p:cNvSpPr/>
          <p:nvPr/>
        </p:nvSpPr>
        <p:spPr>
          <a:xfrm>
            <a:off x="6746151" y="2677985"/>
            <a:ext cx="496190" cy="496190"/>
          </a:xfrm>
          <a:prstGeom prst="ellipse">
            <a:avLst/>
          </a:prstGeom>
          <a:solidFill>
            <a:srgbClr val="3A3F46"/>
          </a:solidFill>
          <a:ln w="12700">
            <a:solidFill>
              <a:srgbClr val="3A3F46"/>
            </a:solidFill>
            <a:prstDash val="solid"/>
          </a:ln>
        </p:spPr>
      </p:sp>
      <p:sp>
        <p:nvSpPr>
          <p:cNvPr id="26" name="Shape 24"/>
          <p:cNvSpPr/>
          <p:nvPr/>
        </p:nvSpPr>
        <p:spPr>
          <a:xfrm>
            <a:off x="6746151" y="3254057"/>
            <a:ext cx="496190" cy="496190"/>
          </a:xfrm>
          <a:prstGeom prst="ellipse">
            <a:avLst/>
          </a:prstGeom>
          <a:solidFill>
            <a:srgbClr val="3A3F46"/>
          </a:solidFill>
          <a:ln w="12700">
            <a:solidFill>
              <a:srgbClr val="3A3F46"/>
            </a:solidFill>
            <a:prstDash val="solid"/>
          </a:ln>
        </p:spPr>
      </p:sp>
      <p:sp>
        <p:nvSpPr>
          <p:cNvPr id="27" name="Shape 25"/>
          <p:cNvSpPr/>
          <p:nvPr/>
        </p:nvSpPr>
        <p:spPr>
          <a:xfrm>
            <a:off x="6893147" y="3469900"/>
            <a:ext cx="274765" cy="64505"/>
          </a:xfrm>
          <a:prstGeom prst="rect">
            <a:avLst/>
          </a:prstGeom>
          <a:solidFill>
            <a:srgbClr val="19B45A"/>
          </a:solidFill>
          <a:ln w="12700">
            <a:solidFill>
              <a:srgbClr val="19B45A"/>
            </a:solidFill>
            <a:prstDash val="solid"/>
          </a:ln>
        </p:spPr>
      </p:sp>
      <p:sp>
        <p:nvSpPr>
          <p:cNvPr id="28" name="Shape 26"/>
          <p:cNvSpPr/>
          <p:nvPr/>
        </p:nvSpPr>
        <p:spPr>
          <a:xfrm rot="16200000">
            <a:off x="6786714" y="3461837"/>
            <a:ext cx="148361" cy="80631"/>
          </a:xfrm>
          <a:prstGeom prst="triangle">
            <a:avLst/>
          </a:prstGeom>
          <a:solidFill>
            <a:srgbClr val="19B45A"/>
          </a:solidFill>
          <a:ln w="12700">
            <a:solidFill>
              <a:srgbClr val="19B45A"/>
            </a:solidFill>
            <a:prstDash val="solid"/>
          </a:ln>
        </p:spPr>
      </p:sp>
      <p:sp>
        <p:nvSpPr>
          <p:cNvPr id="29" name="Text 27"/>
          <p:cNvSpPr txBox="1"/>
          <p:nvPr/>
        </p:nvSpPr>
        <p:spPr>
          <a:xfrm>
            <a:off x="7635240" y="2011680"/>
            <a:ext cx="3840480" cy="411480"/>
          </a:xfrm>
          <a:prstGeom prst="rect">
            <a:avLst/>
          </a:prstGeom>
          <a:noFill/>
          <a:ln/>
        </p:spPr>
        <p:txBody>
          <a:bodyPr wrap="square" lIns="0" tIns="0" rIns="0" bIns="0" rtlCol="0" anchor="t"/>
          <a:lstStyle/>
          <a:p>
            <a:pPr indent="0" marL="0">
              <a:buNone/>
            </a:pPr>
            <a:r>
              <a:rPr lang="en-US" sz="2000" b="1" dirty="0">
                <a:solidFill>
                  <a:srgbClr val="15181D"/>
                </a:solidFill>
                <a:latin typeface="Arial" pitchFamily="34" charset="0"/>
                <a:ea typeface="Arial" pitchFamily="34" charset="-122"/>
                <a:cs typeface="Arial" pitchFamily="34" charset="-120"/>
              </a:rPr>
              <a:t>Grüner Leuchtpfeil</a:t>
            </a:r>
            <a:endParaRPr lang="en-US" sz="2000" dirty="0"/>
          </a:p>
        </p:txBody>
      </p:sp>
      <p:sp>
        <p:nvSpPr>
          <p:cNvPr id="30" name="Text 28"/>
          <p:cNvSpPr txBox="1"/>
          <p:nvPr/>
        </p:nvSpPr>
        <p:spPr>
          <a:xfrm>
            <a:off x="7635240" y="2423160"/>
            <a:ext cx="3840480" cy="594360"/>
          </a:xfrm>
          <a:prstGeom prst="rect">
            <a:avLst/>
          </a:prstGeom>
          <a:noFill/>
          <a:ln/>
        </p:spPr>
        <p:txBody>
          <a:bodyPr wrap="square" lIns="0" tIns="0" rIns="0" bIns="0" rtlCol="0" anchor="t"/>
          <a:lstStyle/>
          <a:p>
            <a:pPr indent="0" marL="0">
              <a:buNone/>
            </a:pPr>
            <a:r>
              <a:rPr lang="en-US" sz="1400" dirty="0">
                <a:solidFill>
                  <a:srgbClr val="56606B"/>
                </a:solidFill>
                <a:latin typeface="Arial" pitchFamily="34" charset="0"/>
                <a:ea typeface="Arial" pitchFamily="34" charset="-122"/>
                <a:cs typeface="Arial" pitchFamily="34" charset="-120"/>
              </a:rPr>
              <a:t>leuchtet in der Ampel</a:t>
            </a:r>
            <a:endParaRPr lang="en-US" sz="1400" dirty="0"/>
          </a:p>
        </p:txBody>
      </p:sp>
      <p:sp>
        <p:nvSpPr>
          <p:cNvPr id="31" name="Shape 29"/>
          <p:cNvSpPr/>
          <p:nvPr/>
        </p:nvSpPr>
        <p:spPr>
          <a:xfrm>
            <a:off x="6551676" y="4128516"/>
            <a:ext cx="155448" cy="155448"/>
          </a:xfrm>
          <a:prstGeom prst="ellipse">
            <a:avLst/>
          </a:prstGeom>
          <a:solidFill>
            <a:srgbClr val="FF9300"/>
          </a:solidFill>
          <a:ln w="12700">
            <a:solidFill>
              <a:srgbClr val="FF9300"/>
            </a:solidFill>
            <a:prstDash val="solid"/>
          </a:ln>
        </p:spPr>
      </p:sp>
      <p:sp>
        <p:nvSpPr>
          <p:cNvPr id="32" name="Text 30"/>
          <p:cNvSpPr txBox="1"/>
          <p:nvPr/>
        </p:nvSpPr>
        <p:spPr>
          <a:xfrm>
            <a:off x="6903720" y="4023360"/>
            <a:ext cx="4553712" cy="795528"/>
          </a:xfrm>
          <a:prstGeom prst="rect">
            <a:avLst/>
          </a:prstGeom>
          <a:noFill/>
          <a:ln/>
        </p:spPr>
        <p:txBody>
          <a:bodyPr wrap="square" lIns="0" tIns="0" rIns="0" bIns="0" rtlCol="0" anchor="t"/>
          <a:lstStyle/>
          <a:p>
            <a:pPr indent="0" marL="0">
              <a:lnSpc>
                <a:spcPct val="105000"/>
              </a:lnSpc>
              <a:buNone/>
            </a:pPr>
            <a:r>
              <a:rPr lang="en-US" sz="1600" dirty="0">
                <a:solidFill>
                  <a:srgbClr val="343B44"/>
                </a:solidFill>
                <a:latin typeface="Arial" pitchFamily="34" charset="0"/>
                <a:ea typeface="Arial" pitchFamily="34" charset="-122"/>
                <a:cs typeface="Arial" pitchFamily="34" charset="-120"/>
              </a:rPr>
              <a:t>Du fährst nur in Pfeilrichtung.</a:t>
            </a:r>
            <a:endParaRPr lang="en-US" sz="1600" dirty="0"/>
          </a:p>
        </p:txBody>
      </p:sp>
      <p:sp>
        <p:nvSpPr>
          <p:cNvPr id="33" name="Shape 31"/>
          <p:cNvSpPr/>
          <p:nvPr/>
        </p:nvSpPr>
        <p:spPr>
          <a:xfrm>
            <a:off x="6551676" y="4997196"/>
            <a:ext cx="155448" cy="155448"/>
          </a:xfrm>
          <a:prstGeom prst="ellipse">
            <a:avLst/>
          </a:prstGeom>
          <a:solidFill>
            <a:srgbClr val="FF9300"/>
          </a:solidFill>
          <a:ln w="12700">
            <a:solidFill>
              <a:srgbClr val="FF9300"/>
            </a:solidFill>
            <a:prstDash val="solid"/>
          </a:ln>
        </p:spPr>
      </p:sp>
      <p:sp>
        <p:nvSpPr>
          <p:cNvPr id="34" name="Text 32"/>
          <p:cNvSpPr txBox="1"/>
          <p:nvPr/>
        </p:nvSpPr>
        <p:spPr>
          <a:xfrm>
            <a:off x="6903720" y="4892040"/>
            <a:ext cx="4553712" cy="795528"/>
          </a:xfrm>
          <a:prstGeom prst="rect">
            <a:avLst/>
          </a:prstGeom>
          <a:noFill/>
          <a:ln/>
        </p:spPr>
        <p:txBody>
          <a:bodyPr wrap="square" lIns="0" tIns="0" rIns="0" bIns="0" rtlCol="0" anchor="t"/>
          <a:lstStyle/>
          <a:p>
            <a:pPr indent="0" marL="0">
              <a:lnSpc>
                <a:spcPct val="105000"/>
              </a:lnSpc>
              <a:buNone/>
            </a:pPr>
            <a:r>
              <a:rPr lang="en-US" sz="1600" dirty="0">
                <a:solidFill>
                  <a:srgbClr val="343B44"/>
                </a:solidFill>
                <a:latin typeface="Arial" pitchFamily="34" charset="0"/>
                <a:ea typeface="Arial" pitchFamily="34" charset="-122"/>
                <a:cs typeface="Arial" pitchFamily="34" charset="-120"/>
              </a:rPr>
              <a:t>Grüner Linkspfeil hinter der Kreuzung: Der Gegenverkehr hat Rot – du biegst ungehindert ab.</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05 · POLIZEI</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Handzeichen der Polizei</a:t>
            </a:r>
            <a:endParaRPr lang="en-US" sz="3200" dirty="0"/>
          </a:p>
        </p:txBody>
      </p:sp>
      <p:sp>
        <p:nvSpPr>
          <p:cNvPr id="4" name="Shape 2"/>
          <p:cNvSpPr/>
          <p:nvPr/>
        </p:nvSpPr>
        <p:spPr>
          <a:xfrm>
            <a:off x="9795967" y="457200"/>
            <a:ext cx="1847088"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795967" y="457200"/>
            <a:ext cx="1847088"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36 Abs. 2 StVO</a:t>
            </a:r>
            <a:endParaRPr lang="en-US" sz="1200" dirty="0"/>
          </a:p>
        </p:txBody>
      </p:sp>
      <p:sp>
        <p:nvSpPr>
          <p:cNvPr id="6" name="Shape 4"/>
          <p:cNvSpPr/>
          <p:nvPr/>
        </p:nvSpPr>
        <p:spPr>
          <a:xfrm>
            <a:off x="548640" y="1645920"/>
            <a:ext cx="3611880" cy="4480560"/>
          </a:xfrm>
          <a:prstGeom prst="roundRect">
            <a:avLst>
              <a:gd name="adj" fmla="val 4557"/>
            </a:avLst>
          </a:prstGeom>
          <a:solidFill>
            <a:srgbClr val="F1F3F6"/>
          </a:solidFill>
          <a:ln w="12700">
            <a:solidFill>
              <a:srgbClr val="F1F3F6"/>
            </a:solidFill>
            <a:prstDash val="solid"/>
          </a:ln>
        </p:spPr>
      </p:sp>
      <p:sp>
        <p:nvSpPr>
          <p:cNvPr id="7" name="Shape 5"/>
          <p:cNvSpPr/>
          <p:nvPr/>
        </p:nvSpPr>
        <p:spPr>
          <a:xfrm>
            <a:off x="4370832" y="1645920"/>
            <a:ext cx="3611880" cy="4480560"/>
          </a:xfrm>
          <a:prstGeom prst="roundRect">
            <a:avLst>
              <a:gd name="adj" fmla="val 4557"/>
            </a:avLst>
          </a:prstGeom>
          <a:solidFill>
            <a:srgbClr val="F1F3F6"/>
          </a:solidFill>
          <a:ln w="12700">
            <a:solidFill>
              <a:srgbClr val="F1F3F6"/>
            </a:solidFill>
            <a:prstDash val="solid"/>
          </a:ln>
        </p:spPr>
      </p:sp>
      <p:sp>
        <p:nvSpPr>
          <p:cNvPr id="8" name="Shape 6"/>
          <p:cNvSpPr/>
          <p:nvPr/>
        </p:nvSpPr>
        <p:spPr>
          <a:xfrm>
            <a:off x="2162556" y="2095805"/>
            <a:ext cx="384048" cy="384048"/>
          </a:xfrm>
          <a:prstGeom prst="ellipse">
            <a:avLst/>
          </a:prstGeom>
          <a:solidFill>
            <a:srgbClr val="E9C9A8"/>
          </a:solidFill>
          <a:ln w="12700">
            <a:solidFill>
              <a:srgbClr val="FFFFFF"/>
            </a:solidFill>
            <a:prstDash val="solid"/>
          </a:ln>
        </p:spPr>
      </p:sp>
      <p:sp>
        <p:nvSpPr>
          <p:cNvPr id="9" name="Shape 7"/>
          <p:cNvSpPr/>
          <p:nvPr/>
        </p:nvSpPr>
        <p:spPr>
          <a:xfrm>
            <a:off x="2124151" y="2057400"/>
            <a:ext cx="460858" cy="134417"/>
          </a:xfrm>
          <a:prstGeom prst="roundRect">
            <a:avLst>
              <a:gd name="adj" fmla="val 13605"/>
            </a:avLst>
          </a:prstGeom>
          <a:solidFill>
            <a:srgbClr val="2C5282"/>
          </a:solidFill>
          <a:ln w="12700">
            <a:solidFill>
              <a:srgbClr val="2C5282"/>
            </a:solidFill>
            <a:prstDash val="solid"/>
          </a:ln>
        </p:spPr>
      </p:sp>
      <p:sp>
        <p:nvSpPr>
          <p:cNvPr id="10" name="Shape 8"/>
          <p:cNvSpPr/>
          <p:nvPr/>
        </p:nvSpPr>
        <p:spPr>
          <a:xfrm>
            <a:off x="2066544" y="2518258"/>
            <a:ext cx="576072" cy="806501"/>
          </a:xfrm>
          <a:prstGeom prst="roundRect">
            <a:avLst>
              <a:gd name="adj" fmla="val 9524"/>
            </a:avLst>
          </a:prstGeom>
          <a:solidFill>
            <a:srgbClr val="2C5282"/>
          </a:solidFill>
          <a:ln w="12700">
            <a:solidFill>
              <a:srgbClr val="2C5282"/>
            </a:solidFill>
            <a:prstDash val="solid"/>
          </a:ln>
        </p:spPr>
      </p:sp>
      <p:sp>
        <p:nvSpPr>
          <p:cNvPr id="11" name="Shape 9"/>
          <p:cNvSpPr/>
          <p:nvPr/>
        </p:nvSpPr>
        <p:spPr>
          <a:xfrm>
            <a:off x="2104949" y="3286354"/>
            <a:ext cx="211226" cy="691286"/>
          </a:xfrm>
          <a:prstGeom prst="roundRect">
            <a:avLst>
              <a:gd name="adj" fmla="val 12987"/>
            </a:avLst>
          </a:prstGeom>
          <a:solidFill>
            <a:srgbClr val="22324D"/>
          </a:solidFill>
          <a:ln w="12700">
            <a:solidFill>
              <a:srgbClr val="22324D"/>
            </a:solidFill>
            <a:prstDash val="solid"/>
          </a:ln>
        </p:spPr>
      </p:sp>
      <p:sp>
        <p:nvSpPr>
          <p:cNvPr id="12" name="Shape 10"/>
          <p:cNvSpPr/>
          <p:nvPr/>
        </p:nvSpPr>
        <p:spPr>
          <a:xfrm>
            <a:off x="2392985" y="3286354"/>
            <a:ext cx="211226" cy="691286"/>
          </a:xfrm>
          <a:prstGeom prst="roundRect">
            <a:avLst>
              <a:gd name="adj" fmla="val 12987"/>
            </a:avLst>
          </a:prstGeom>
          <a:solidFill>
            <a:srgbClr val="22324D"/>
          </a:solidFill>
          <a:ln w="12700">
            <a:solidFill>
              <a:srgbClr val="22324D"/>
            </a:solidFill>
            <a:prstDash val="solid"/>
          </a:ln>
        </p:spPr>
      </p:sp>
      <p:sp>
        <p:nvSpPr>
          <p:cNvPr id="13" name="Shape 11"/>
          <p:cNvSpPr/>
          <p:nvPr/>
        </p:nvSpPr>
        <p:spPr>
          <a:xfrm>
            <a:off x="1356055" y="2575865"/>
            <a:ext cx="729691" cy="153619"/>
          </a:xfrm>
          <a:prstGeom prst="roundRect">
            <a:avLst>
              <a:gd name="adj" fmla="val 17857"/>
            </a:avLst>
          </a:prstGeom>
          <a:solidFill>
            <a:srgbClr val="2C5282"/>
          </a:solidFill>
          <a:ln w="12700">
            <a:solidFill>
              <a:srgbClr val="2C5282"/>
            </a:solidFill>
            <a:prstDash val="solid"/>
          </a:ln>
        </p:spPr>
      </p:sp>
      <p:sp>
        <p:nvSpPr>
          <p:cNvPr id="14" name="Shape 12"/>
          <p:cNvSpPr/>
          <p:nvPr/>
        </p:nvSpPr>
        <p:spPr>
          <a:xfrm>
            <a:off x="2623414" y="2575865"/>
            <a:ext cx="729691" cy="153619"/>
          </a:xfrm>
          <a:prstGeom prst="roundRect">
            <a:avLst>
              <a:gd name="adj" fmla="val 17857"/>
            </a:avLst>
          </a:prstGeom>
          <a:solidFill>
            <a:srgbClr val="2C5282"/>
          </a:solidFill>
          <a:ln w="12700">
            <a:solidFill>
              <a:srgbClr val="2C5282"/>
            </a:solidFill>
            <a:prstDash val="solid"/>
          </a:ln>
        </p:spPr>
      </p:sp>
      <p:sp>
        <p:nvSpPr>
          <p:cNvPr id="15" name="Text 13"/>
          <p:cNvSpPr txBox="1"/>
          <p:nvPr/>
        </p:nvSpPr>
        <p:spPr>
          <a:xfrm>
            <a:off x="822960" y="4206240"/>
            <a:ext cx="3108960" cy="411480"/>
          </a:xfrm>
          <a:prstGeom prst="rect">
            <a:avLst/>
          </a:prstGeom>
          <a:noFill/>
          <a:ln/>
        </p:spPr>
        <p:txBody>
          <a:bodyPr wrap="square" lIns="0" tIns="0" rIns="0" bIns="0" rtlCol="0" anchor="t"/>
          <a:lstStyle/>
          <a:p>
            <a:pPr indent="0" marL="0">
              <a:buNone/>
            </a:pPr>
            <a:r>
              <a:rPr lang="en-US" sz="1800" b="1" dirty="0">
                <a:solidFill>
                  <a:srgbClr val="15181D"/>
                </a:solidFill>
                <a:latin typeface="Arial" pitchFamily="34" charset="0"/>
                <a:ea typeface="Arial" pitchFamily="34" charset="-122"/>
                <a:cs typeface="Arial" pitchFamily="34" charset="-120"/>
              </a:rPr>
              <a:t>Arm seitlich ausgestreckt</a:t>
            </a:r>
            <a:endParaRPr lang="en-US" sz="1800" dirty="0"/>
          </a:p>
        </p:txBody>
      </p:sp>
      <p:sp>
        <p:nvSpPr>
          <p:cNvPr id="16" name="Text 14"/>
          <p:cNvSpPr txBox="1"/>
          <p:nvPr/>
        </p:nvSpPr>
        <p:spPr>
          <a:xfrm>
            <a:off x="822960" y="4617720"/>
            <a:ext cx="3108960" cy="1371600"/>
          </a:xfrm>
          <a:prstGeom prst="rect">
            <a:avLst/>
          </a:prstGeom>
          <a:noFill/>
          <a:ln/>
        </p:spPr>
        <p:txBody>
          <a:bodyPr wrap="square" lIns="0" tIns="0" rIns="0" bIns="0" rtlCol="0" anchor="t"/>
          <a:lstStyle/>
          <a:p>
            <a:pPr indent="0" marL="0">
              <a:buNone/>
            </a:pPr>
            <a:r>
              <a:rPr lang="en-US" sz="1500" dirty="0">
                <a:solidFill>
                  <a:srgbClr val="56606B"/>
                </a:solidFill>
                <a:latin typeface="Arial" pitchFamily="34" charset="0"/>
                <a:ea typeface="Arial" pitchFamily="34" charset="-122"/>
                <a:cs typeface="Arial" pitchFamily="34" charset="-120"/>
              </a:rPr>
              <a:t>Siehst du Brust oder Rücken: Halt vor der Kreuzung. Der Querverkehr hat frei.</a:t>
            </a:r>
            <a:endParaRPr lang="en-US" sz="1500" dirty="0"/>
          </a:p>
        </p:txBody>
      </p:sp>
      <p:sp>
        <p:nvSpPr>
          <p:cNvPr id="17" name="Shape 15"/>
          <p:cNvSpPr/>
          <p:nvPr/>
        </p:nvSpPr>
        <p:spPr>
          <a:xfrm>
            <a:off x="5993892" y="2368296"/>
            <a:ext cx="365760" cy="365760"/>
          </a:xfrm>
          <a:prstGeom prst="ellipse">
            <a:avLst/>
          </a:prstGeom>
          <a:solidFill>
            <a:srgbClr val="E9C9A8"/>
          </a:solidFill>
          <a:ln w="12700">
            <a:solidFill>
              <a:srgbClr val="FFFFFF"/>
            </a:solidFill>
            <a:prstDash val="solid"/>
          </a:ln>
        </p:spPr>
      </p:sp>
      <p:sp>
        <p:nvSpPr>
          <p:cNvPr id="18" name="Shape 16"/>
          <p:cNvSpPr/>
          <p:nvPr/>
        </p:nvSpPr>
        <p:spPr>
          <a:xfrm>
            <a:off x="5957316" y="2331720"/>
            <a:ext cx="438912" cy="128016"/>
          </a:xfrm>
          <a:prstGeom prst="roundRect">
            <a:avLst>
              <a:gd name="adj" fmla="val 14286"/>
            </a:avLst>
          </a:prstGeom>
          <a:solidFill>
            <a:srgbClr val="2C5282"/>
          </a:solidFill>
          <a:ln w="12700">
            <a:solidFill>
              <a:srgbClr val="2C5282"/>
            </a:solidFill>
            <a:prstDash val="solid"/>
          </a:ln>
        </p:spPr>
      </p:sp>
      <p:sp>
        <p:nvSpPr>
          <p:cNvPr id="19" name="Shape 17"/>
          <p:cNvSpPr/>
          <p:nvPr/>
        </p:nvSpPr>
        <p:spPr>
          <a:xfrm>
            <a:off x="5902452" y="2770632"/>
            <a:ext cx="548640" cy="768096"/>
          </a:xfrm>
          <a:prstGeom prst="roundRect">
            <a:avLst>
              <a:gd name="adj" fmla="val 10000"/>
            </a:avLst>
          </a:prstGeom>
          <a:solidFill>
            <a:srgbClr val="2C5282"/>
          </a:solidFill>
          <a:ln w="12700">
            <a:solidFill>
              <a:srgbClr val="2C5282"/>
            </a:solidFill>
            <a:prstDash val="solid"/>
          </a:ln>
        </p:spPr>
      </p:sp>
      <p:sp>
        <p:nvSpPr>
          <p:cNvPr id="20" name="Shape 18"/>
          <p:cNvSpPr/>
          <p:nvPr/>
        </p:nvSpPr>
        <p:spPr>
          <a:xfrm>
            <a:off x="5939028" y="3502152"/>
            <a:ext cx="201168" cy="658368"/>
          </a:xfrm>
          <a:prstGeom prst="roundRect">
            <a:avLst>
              <a:gd name="adj" fmla="val 13636"/>
            </a:avLst>
          </a:prstGeom>
          <a:solidFill>
            <a:srgbClr val="22324D"/>
          </a:solidFill>
          <a:ln w="12700">
            <a:solidFill>
              <a:srgbClr val="22324D"/>
            </a:solidFill>
            <a:prstDash val="solid"/>
          </a:ln>
        </p:spPr>
      </p:sp>
      <p:sp>
        <p:nvSpPr>
          <p:cNvPr id="21" name="Shape 19"/>
          <p:cNvSpPr/>
          <p:nvPr/>
        </p:nvSpPr>
        <p:spPr>
          <a:xfrm>
            <a:off x="6213348" y="3502152"/>
            <a:ext cx="201168" cy="658368"/>
          </a:xfrm>
          <a:prstGeom prst="roundRect">
            <a:avLst>
              <a:gd name="adj" fmla="val 13636"/>
            </a:avLst>
          </a:prstGeom>
          <a:solidFill>
            <a:srgbClr val="22324D"/>
          </a:solidFill>
          <a:ln w="12700">
            <a:solidFill>
              <a:srgbClr val="22324D"/>
            </a:solidFill>
            <a:prstDash val="solid"/>
          </a:ln>
        </p:spPr>
      </p:sp>
      <p:sp>
        <p:nvSpPr>
          <p:cNvPr id="22" name="Shape 20"/>
          <p:cNvSpPr/>
          <p:nvPr/>
        </p:nvSpPr>
        <p:spPr>
          <a:xfrm>
            <a:off x="6451092" y="1965960"/>
            <a:ext cx="146304" cy="914400"/>
          </a:xfrm>
          <a:prstGeom prst="roundRect">
            <a:avLst>
              <a:gd name="adj" fmla="val 18750"/>
            </a:avLst>
          </a:prstGeom>
          <a:solidFill>
            <a:srgbClr val="2C5282"/>
          </a:solidFill>
          <a:ln w="12700">
            <a:solidFill>
              <a:srgbClr val="2C5282"/>
            </a:solidFill>
            <a:prstDash val="solid"/>
          </a:ln>
        </p:spPr>
      </p:sp>
      <p:sp>
        <p:nvSpPr>
          <p:cNvPr id="23" name="Shape 21"/>
          <p:cNvSpPr/>
          <p:nvPr/>
        </p:nvSpPr>
        <p:spPr>
          <a:xfrm>
            <a:off x="5792724" y="2807208"/>
            <a:ext cx="146304" cy="658368"/>
          </a:xfrm>
          <a:prstGeom prst="roundRect">
            <a:avLst>
              <a:gd name="adj" fmla="val 18750"/>
            </a:avLst>
          </a:prstGeom>
          <a:solidFill>
            <a:srgbClr val="2C5282"/>
          </a:solidFill>
          <a:ln w="12700">
            <a:solidFill>
              <a:srgbClr val="2C5282"/>
            </a:solidFill>
            <a:prstDash val="solid"/>
          </a:ln>
        </p:spPr>
      </p:sp>
      <p:sp>
        <p:nvSpPr>
          <p:cNvPr id="24" name="Text 22"/>
          <p:cNvSpPr txBox="1"/>
          <p:nvPr/>
        </p:nvSpPr>
        <p:spPr>
          <a:xfrm>
            <a:off x="4645152" y="4206240"/>
            <a:ext cx="3108960" cy="411480"/>
          </a:xfrm>
          <a:prstGeom prst="rect">
            <a:avLst/>
          </a:prstGeom>
          <a:noFill/>
          <a:ln/>
        </p:spPr>
        <p:txBody>
          <a:bodyPr wrap="square" lIns="0" tIns="0" rIns="0" bIns="0" rtlCol="0" anchor="t"/>
          <a:lstStyle/>
          <a:p>
            <a:pPr indent="0" marL="0">
              <a:buNone/>
            </a:pPr>
            <a:r>
              <a:rPr lang="en-US" sz="1800" b="1" dirty="0">
                <a:solidFill>
                  <a:srgbClr val="15181D"/>
                </a:solidFill>
                <a:latin typeface="Arial" pitchFamily="34" charset="0"/>
                <a:ea typeface="Arial" pitchFamily="34" charset="-122"/>
                <a:cs typeface="Arial" pitchFamily="34" charset="-120"/>
              </a:rPr>
              <a:t>Arm hoch</a:t>
            </a:r>
            <a:endParaRPr lang="en-US" sz="1800" dirty="0"/>
          </a:p>
        </p:txBody>
      </p:sp>
      <p:sp>
        <p:nvSpPr>
          <p:cNvPr id="25" name="Text 23"/>
          <p:cNvSpPr txBox="1"/>
          <p:nvPr/>
        </p:nvSpPr>
        <p:spPr>
          <a:xfrm>
            <a:off x="4645152" y="4617720"/>
            <a:ext cx="3108960" cy="1371600"/>
          </a:xfrm>
          <a:prstGeom prst="rect">
            <a:avLst/>
          </a:prstGeom>
          <a:noFill/>
          <a:ln/>
        </p:spPr>
        <p:txBody>
          <a:bodyPr wrap="square" lIns="0" tIns="0" rIns="0" bIns="0" rtlCol="0" anchor="t"/>
          <a:lstStyle/>
          <a:p>
            <a:pPr indent="0" marL="0">
              <a:buNone/>
            </a:pPr>
            <a:r>
              <a:rPr lang="en-US" sz="1500" dirty="0">
                <a:solidFill>
                  <a:srgbClr val="56606B"/>
                </a:solidFill>
                <a:latin typeface="Arial" pitchFamily="34" charset="0"/>
                <a:ea typeface="Arial" pitchFamily="34" charset="-122"/>
                <a:cs typeface="Arial" pitchFamily="34" charset="-120"/>
              </a:rPr>
              <a:t>Alle warten auf das nächste Zeichen. Wer schon in der Kreuzung ist, fährt sie frei.</a:t>
            </a:r>
            <a:endParaRPr lang="en-US" sz="1500" dirty="0"/>
          </a:p>
        </p:txBody>
      </p:sp>
      <p:sp>
        <p:nvSpPr>
          <p:cNvPr id="26" name="Shape 24"/>
          <p:cNvSpPr/>
          <p:nvPr/>
        </p:nvSpPr>
        <p:spPr>
          <a:xfrm>
            <a:off x="8193024" y="1645920"/>
            <a:ext cx="3447288" cy="3566160"/>
          </a:xfrm>
          <a:prstGeom prst="roundRect">
            <a:avLst>
              <a:gd name="adj" fmla="val 5836"/>
            </a:avLst>
          </a:prstGeom>
          <a:solidFill>
            <a:srgbClr val="E3E8ED"/>
          </a:solidFill>
          <a:ln w="12700">
            <a:solidFill>
              <a:srgbClr val="E3E8ED"/>
            </a:solidFill>
            <a:prstDash val="solid"/>
          </a:ln>
        </p:spPr>
      </p:sp>
      <p:sp>
        <p:nvSpPr>
          <p:cNvPr id="27" name="Shape 25"/>
          <p:cNvSpPr/>
          <p:nvPr/>
        </p:nvSpPr>
        <p:spPr>
          <a:xfrm>
            <a:off x="9322308" y="1645920"/>
            <a:ext cx="1188720" cy="3566160"/>
          </a:xfrm>
          <a:prstGeom prst="rect">
            <a:avLst/>
          </a:prstGeom>
          <a:solidFill>
            <a:srgbClr val="3B414A"/>
          </a:solidFill>
          <a:ln w="12700">
            <a:solidFill>
              <a:srgbClr val="3B414A"/>
            </a:solidFill>
            <a:prstDash val="solid"/>
          </a:ln>
        </p:spPr>
      </p:sp>
      <p:sp>
        <p:nvSpPr>
          <p:cNvPr id="28" name="Shape 26"/>
          <p:cNvSpPr/>
          <p:nvPr/>
        </p:nvSpPr>
        <p:spPr>
          <a:xfrm>
            <a:off x="8193024" y="2834640"/>
            <a:ext cx="3447288" cy="1188720"/>
          </a:xfrm>
          <a:prstGeom prst="rect">
            <a:avLst/>
          </a:prstGeom>
          <a:solidFill>
            <a:srgbClr val="3B414A"/>
          </a:solidFill>
          <a:ln w="12700">
            <a:solidFill>
              <a:srgbClr val="3B414A"/>
            </a:solidFill>
            <a:prstDash val="solid"/>
          </a:ln>
        </p:spPr>
      </p:sp>
      <p:sp>
        <p:nvSpPr>
          <p:cNvPr id="29" name="Shape 27"/>
          <p:cNvSpPr/>
          <p:nvPr/>
        </p:nvSpPr>
        <p:spPr>
          <a:xfrm>
            <a:off x="9916668" y="1755648"/>
            <a:ext cx="0" cy="969264"/>
          </a:xfrm>
          <a:prstGeom prst="line">
            <a:avLst/>
          </a:prstGeom>
          <a:noFill/>
          <a:ln w="22225">
            <a:solidFill>
              <a:srgbClr val="F2F4F6"/>
            </a:solidFill>
            <a:prstDash val="dash"/>
          </a:ln>
        </p:spPr>
      </p:sp>
      <p:sp>
        <p:nvSpPr>
          <p:cNvPr id="30" name="Shape 28"/>
          <p:cNvSpPr/>
          <p:nvPr/>
        </p:nvSpPr>
        <p:spPr>
          <a:xfrm>
            <a:off x="9916668" y="4133088"/>
            <a:ext cx="0" cy="969264"/>
          </a:xfrm>
          <a:prstGeom prst="line">
            <a:avLst/>
          </a:prstGeom>
          <a:noFill/>
          <a:ln w="22225">
            <a:solidFill>
              <a:srgbClr val="F2F4F6"/>
            </a:solidFill>
            <a:prstDash val="dash"/>
          </a:ln>
        </p:spPr>
      </p:sp>
      <p:sp>
        <p:nvSpPr>
          <p:cNvPr id="31" name="Shape 29"/>
          <p:cNvSpPr/>
          <p:nvPr/>
        </p:nvSpPr>
        <p:spPr>
          <a:xfrm>
            <a:off x="8302752" y="3429000"/>
            <a:ext cx="909828" cy="0"/>
          </a:xfrm>
          <a:prstGeom prst="line">
            <a:avLst/>
          </a:prstGeom>
          <a:noFill/>
          <a:ln w="22225">
            <a:solidFill>
              <a:srgbClr val="F2F4F6"/>
            </a:solidFill>
            <a:prstDash val="dash"/>
          </a:ln>
        </p:spPr>
      </p:sp>
      <p:sp>
        <p:nvSpPr>
          <p:cNvPr id="32" name="Shape 30"/>
          <p:cNvSpPr/>
          <p:nvPr/>
        </p:nvSpPr>
        <p:spPr>
          <a:xfrm>
            <a:off x="10620756" y="3429000"/>
            <a:ext cx="909828" cy="0"/>
          </a:xfrm>
          <a:prstGeom prst="line">
            <a:avLst/>
          </a:prstGeom>
          <a:noFill/>
          <a:ln w="22225">
            <a:solidFill>
              <a:srgbClr val="F2F4F6"/>
            </a:solidFill>
            <a:prstDash val="dash"/>
          </a:ln>
        </p:spPr>
      </p:sp>
      <p:sp>
        <p:nvSpPr>
          <p:cNvPr id="33" name="Shape 31"/>
          <p:cNvSpPr/>
          <p:nvPr/>
        </p:nvSpPr>
        <p:spPr>
          <a:xfrm>
            <a:off x="9761220" y="3273552"/>
            <a:ext cx="310896" cy="310896"/>
          </a:xfrm>
          <a:prstGeom prst="ellipse">
            <a:avLst/>
          </a:prstGeom>
          <a:solidFill>
            <a:srgbClr val="2C5282"/>
          </a:solidFill>
          <a:ln w="19050">
            <a:solidFill>
              <a:srgbClr val="FFFFFF"/>
            </a:solidFill>
            <a:prstDash val="solid"/>
          </a:ln>
        </p:spPr>
      </p:sp>
      <p:sp>
        <p:nvSpPr>
          <p:cNvPr id="34" name="Shape 32"/>
          <p:cNvSpPr/>
          <p:nvPr/>
        </p:nvSpPr>
        <p:spPr>
          <a:xfrm>
            <a:off x="9413748" y="3383280"/>
            <a:ext cx="1005840" cy="91440"/>
          </a:xfrm>
          <a:prstGeom prst="rect">
            <a:avLst/>
          </a:prstGeom>
          <a:solidFill>
            <a:srgbClr val="2C5282"/>
          </a:solidFill>
          <a:ln w="12700">
            <a:solidFill>
              <a:srgbClr val="2C5282"/>
            </a:solidFill>
            <a:prstDash val="solid"/>
          </a:ln>
        </p:spPr>
      </p:sp>
      <p:sp>
        <p:nvSpPr>
          <p:cNvPr id="35" name="Shape 33"/>
          <p:cNvSpPr/>
          <p:nvPr/>
        </p:nvSpPr>
        <p:spPr>
          <a:xfrm>
            <a:off x="9962388" y="4160520"/>
            <a:ext cx="475488" cy="91440"/>
          </a:xfrm>
          <a:prstGeom prst="rect">
            <a:avLst/>
          </a:prstGeom>
          <a:solidFill>
            <a:srgbClr val="DC2626"/>
          </a:solidFill>
          <a:ln w="12700">
            <a:solidFill>
              <a:srgbClr val="DC2626"/>
            </a:solidFill>
            <a:prstDash val="solid"/>
          </a:ln>
        </p:spPr>
      </p:sp>
      <p:sp>
        <p:nvSpPr>
          <p:cNvPr id="36" name="Shape 34"/>
          <p:cNvSpPr/>
          <p:nvPr/>
        </p:nvSpPr>
        <p:spPr>
          <a:xfrm>
            <a:off x="9395460" y="2606040"/>
            <a:ext cx="475488" cy="91440"/>
          </a:xfrm>
          <a:prstGeom prst="rect">
            <a:avLst/>
          </a:prstGeom>
          <a:solidFill>
            <a:srgbClr val="DC2626"/>
          </a:solidFill>
          <a:ln w="12700">
            <a:solidFill>
              <a:srgbClr val="DC2626"/>
            </a:solidFill>
            <a:prstDash val="solid"/>
          </a:ln>
        </p:spPr>
      </p:sp>
      <p:sp>
        <p:nvSpPr>
          <p:cNvPr id="37" name="Shape 35"/>
          <p:cNvSpPr/>
          <p:nvPr/>
        </p:nvSpPr>
        <p:spPr>
          <a:xfrm>
            <a:off x="8421624" y="3726180"/>
            <a:ext cx="928116" cy="18288"/>
          </a:xfrm>
          <a:custGeom>
            <a:avLst/>
            <a:gdLst/>
            <a:ahLst/>
            <a:cxnLst/>
            <a:rect l="l" t="t" r="r" b="b"/>
            <a:pathLst>
              <a:path w="928116" h="18288">
                <a:moveTo>
                  <a:pt x="0" y="0"/>
                </a:moveTo>
                <a:lnTo>
                  <a:pt x="928116" y="0"/>
                </a:lnTo>
              </a:path>
            </a:pathLst>
          </a:custGeom>
          <a:noFill/>
          <a:ln w="38100">
            <a:solidFill>
              <a:srgbClr val="16A34A"/>
            </a:solidFill>
            <a:prstDash val="solid"/>
          </a:ln>
        </p:spPr>
      </p:sp>
      <p:sp>
        <p:nvSpPr>
          <p:cNvPr id="38" name="Shape 36"/>
          <p:cNvSpPr/>
          <p:nvPr/>
        </p:nvSpPr>
        <p:spPr>
          <a:xfrm rot="5400000">
            <a:off x="9322308" y="3634740"/>
            <a:ext cx="182880" cy="182880"/>
          </a:xfrm>
          <a:prstGeom prst="triangle">
            <a:avLst/>
          </a:prstGeom>
          <a:solidFill>
            <a:srgbClr val="16A34A"/>
          </a:solidFill>
          <a:ln w="12700">
            <a:solidFill>
              <a:srgbClr val="16A34A"/>
            </a:solidFill>
            <a:prstDash val="solid"/>
          </a:ln>
        </p:spPr>
      </p:sp>
      <p:sp>
        <p:nvSpPr>
          <p:cNvPr id="39" name="Shape 37"/>
          <p:cNvSpPr/>
          <p:nvPr/>
        </p:nvSpPr>
        <p:spPr>
          <a:xfrm>
            <a:off x="10483596" y="3131820"/>
            <a:ext cx="928116" cy="18288"/>
          </a:xfrm>
          <a:custGeom>
            <a:avLst/>
            <a:gdLst/>
            <a:ahLst/>
            <a:cxnLst/>
            <a:rect l="l" t="t" r="r" b="b"/>
            <a:pathLst>
              <a:path w="928116" h="18288">
                <a:moveTo>
                  <a:pt x="928116" y="0"/>
                </a:moveTo>
                <a:lnTo>
                  <a:pt x="0" y="0"/>
                </a:lnTo>
              </a:path>
            </a:pathLst>
          </a:custGeom>
          <a:noFill/>
          <a:ln w="38100">
            <a:solidFill>
              <a:srgbClr val="16A34A"/>
            </a:solidFill>
            <a:prstDash val="solid"/>
          </a:ln>
        </p:spPr>
      </p:sp>
      <p:sp>
        <p:nvSpPr>
          <p:cNvPr id="40" name="Shape 38"/>
          <p:cNvSpPr/>
          <p:nvPr/>
        </p:nvSpPr>
        <p:spPr>
          <a:xfrm rot="16200000">
            <a:off x="10328148" y="3040380"/>
            <a:ext cx="182880" cy="182880"/>
          </a:xfrm>
          <a:prstGeom prst="triangle">
            <a:avLst/>
          </a:prstGeom>
          <a:solidFill>
            <a:srgbClr val="16A34A"/>
          </a:solidFill>
          <a:ln w="12700">
            <a:solidFill>
              <a:srgbClr val="16A34A"/>
            </a:solidFill>
            <a:prstDash val="solid"/>
          </a:ln>
        </p:spPr>
      </p:sp>
      <p:sp>
        <p:nvSpPr>
          <p:cNvPr id="41" name="Text 39"/>
          <p:cNvSpPr txBox="1"/>
          <p:nvPr/>
        </p:nvSpPr>
        <p:spPr>
          <a:xfrm>
            <a:off x="8193024" y="5349240"/>
            <a:ext cx="3447288" cy="731520"/>
          </a:xfrm>
          <a:prstGeom prst="rect">
            <a:avLst/>
          </a:prstGeom>
          <a:noFill/>
          <a:ln/>
        </p:spPr>
        <p:txBody>
          <a:bodyPr wrap="square" lIns="0" tIns="0" rIns="0" bIns="0" rtlCol="0" anchor="t"/>
          <a:lstStyle/>
          <a:p>
            <a:pPr indent="0" marL="0">
              <a:buNone/>
            </a:pPr>
            <a:r>
              <a:rPr lang="en-US" sz="1600" b="1" dirty="0">
                <a:solidFill>
                  <a:srgbClr val="15181D"/>
                </a:solidFill>
                <a:latin typeface="Arial" pitchFamily="34" charset="0"/>
                <a:ea typeface="Arial" pitchFamily="34" charset="-122"/>
                <a:cs typeface="Arial" pitchFamily="34" charset="-120"/>
              </a:rPr>
              <a:t>Brust oder Rücken = Halt. Seite = Fahren.</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10469880" y="1097280"/>
            <a:ext cx="731520" cy="4206240"/>
          </a:xfrm>
          <a:prstGeom prst="rect">
            <a:avLst/>
          </a:prstGeom>
          <a:solidFill>
            <a:srgbClr val="1A1F26"/>
          </a:solidFill>
          <a:ln w="12700">
            <a:solidFill>
              <a:srgbClr val="1A1F26"/>
            </a:solidFill>
            <a:prstDash val="solid"/>
          </a:ln>
        </p:spPr>
      </p:sp>
      <p:sp>
        <p:nvSpPr>
          <p:cNvPr id="3" name="Shape 1"/>
          <p:cNvSpPr/>
          <p:nvPr/>
        </p:nvSpPr>
        <p:spPr>
          <a:xfrm>
            <a:off x="9646920" y="2834640"/>
            <a:ext cx="2542032" cy="731520"/>
          </a:xfrm>
          <a:prstGeom prst="rect">
            <a:avLst/>
          </a:prstGeom>
          <a:solidFill>
            <a:srgbClr val="1A1F26"/>
          </a:solidFill>
          <a:ln w="12700">
            <a:solidFill>
              <a:srgbClr val="1A1F26"/>
            </a:solidFill>
            <a:prstDash val="solid"/>
          </a:ln>
        </p:spPr>
      </p:sp>
      <p:sp>
        <p:nvSpPr>
          <p:cNvPr id="4" name="Text 2"/>
          <p:cNvSpPr txBox="1"/>
          <p:nvPr/>
        </p:nvSpPr>
        <p:spPr>
          <a:xfrm>
            <a:off x="548640" y="1417320"/>
            <a:ext cx="3657600" cy="1828800"/>
          </a:xfrm>
          <a:prstGeom prst="rect">
            <a:avLst/>
          </a:prstGeom>
          <a:noFill/>
          <a:ln/>
        </p:spPr>
        <p:txBody>
          <a:bodyPr wrap="square" lIns="0" tIns="0" rIns="0" bIns="0" rtlCol="0" anchor="t"/>
          <a:lstStyle/>
          <a:p>
            <a:pPr indent="0" marL="0">
              <a:buNone/>
            </a:pPr>
            <a:r>
              <a:rPr lang="en-US" sz="14000" b="1" dirty="0">
                <a:solidFill>
                  <a:srgbClr val="FF9300"/>
                </a:solidFill>
                <a:latin typeface="Arial" pitchFamily="34" charset="0"/>
                <a:ea typeface="Arial" pitchFamily="34" charset="-122"/>
                <a:cs typeface="Arial" pitchFamily="34" charset="-120"/>
              </a:rPr>
              <a:t>06</a:t>
            </a:r>
            <a:endParaRPr lang="en-US" sz="14000" dirty="0"/>
          </a:p>
        </p:txBody>
      </p:sp>
      <p:sp>
        <p:nvSpPr>
          <p:cNvPr id="5" name="Text 3"/>
          <p:cNvSpPr txBox="1"/>
          <p:nvPr/>
        </p:nvSpPr>
        <p:spPr>
          <a:xfrm>
            <a:off x="548640" y="3246120"/>
            <a:ext cx="8869680" cy="9144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Besondere Lagen</a:t>
            </a:r>
            <a:endParaRPr lang="en-US" sz="4400" dirty="0"/>
          </a:p>
        </p:txBody>
      </p:sp>
      <p:sp>
        <p:nvSpPr>
          <p:cNvPr id="6" name="Text 4"/>
          <p:cNvSpPr txBox="1"/>
          <p:nvPr/>
        </p:nvSpPr>
        <p:spPr>
          <a:xfrm>
            <a:off x="566928" y="4251960"/>
            <a:ext cx="8869680" cy="548640"/>
          </a:xfrm>
          <a:prstGeom prst="rect">
            <a:avLst/>
          </a:prstGeom>
          <a:noFill/>
          <a:ln/>
        </p:spPr>
        <p:txBody>
          <a:bodyPr wrap="square" lIns="0" tIns="0" rIns="0" bIns="0" rtlCol="0" anchor="t"/>
          <a:lstStyle/>
          <a:p>
            <a:pPr indent="0" marL="0">
              <a:buNone/>
            </a:pPr>
            <a:r>
              <a:rPr lang="en-US" sz="2200" dirty="0">
                <a:solidFill>
                  <a:srgbClr val="A3ACB7"/>
                </a:solidFill>
                <a:latin typeface="Arial" pitchFamily="34" charset="0"/>
                <a:ea typeface="Arial" pitchFamily="34" charset="-122"/>
                <a:cs typeface="Arial" pitchFamily="34" charset="-120"/>
              </a:rPr>
              <a:t>Kreisverkehr, Stau, Rettungsgasse – und Gelassenheit</a:t>
            </a:r>
            <a:endParaRPr lang="en-US" sz="2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06 · BESONDERE LAGEN</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Kreisverkehr</a:t>
            </a:r>
            <a:endParaRPr lang="en-US" sz="3200" dirty="0"/>
          </a:p>
        </p:txBody>
      </p:sp>
      <p:sp>
        <p:nvSpPr>
          <p:cNvPr id="4" name="Shape 2"/>
          <p:cNvSpPr/>
          <p:nvPr/>
        </p:nvSpPr>
        <p:spPr>
          <a:xfrm>
            <a:off x="8145475" y="457200"/>
            <a:ext cx="3497580"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8145475" y="457200"/>
            <a:ext cx="3497580"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8 Abs. 1a, § 9 StVO · Zeichen 215</a:t>
            </a:r>
            <a:endParaRPr lang="en-US" sz="1200" dirty="0"/>
          </a:p>
        </p:txBody>
      </p:sp>
      <p:sp>
        <p:nvSpPr>
          <p:cNvPr id="6" name="Shape 4"/>
          <p:cNvSpPr/>
          <p:nvPr/>
        </p:nvSpPr>
        <p:spPr>
          <a:xfrm>
            <a:off x="6126480" y="1600200"/>
            <a:ext cx="5513832" cy="4526280"/>
          </a:xfrm>
          <a:prstGeom prst="roundRect">
            <a:avLst>
              <a:gd name="adj" fmla="val 4444"/>
            </a:avLst>
          </a:prstGeom>
          <a:solidFill>
            <a:srgbClr val="E3E8ED"/>
          </a:solidFill>
          <a:ln w="12700">
            <a:solidFill>
              <a:srgbClr val="E3E8ED"/>
            </a:solidFill>
            <a:prstDash val="solid"/>
          </a:ln>
        </p:spPr>
      </p:sp>
      <p:sp>
        <p:nvSpPr>
          <p:cNvPr id="7" name="Shape 5"/>
          <p:cNvSpPr/>
          <p:nvPr/>
        </p:nvSpPr>
        <p:spPr>
          <a:xfrm>
            <a:off x="8197596" y="1600200"/>
            <a:ext cx="1371600" cy="4526280"/>
          </a:xfrm>
          <a:prstGeom prst="rect">
            <a:avLst/>
          </a:prstGeom>
          <a:solidFill>
            <a:srgbClr val="3B414A"/>
          </a:solidFill>
          <a:ln w="12700">
            <a:solidFill>
              <a:srgbClr val="3B414A"/>
            </a:solidFill>
            <a:prstDash val="solid"/>
          </a:ln>
        </p:spPr>
      </p:sp>
      <p:sp>
        <p:nvSpPr>
          <p:cNvPr id="8" name="Shape 6"/>
          <p:cNvSpPr/>
          <p:nvPr/>
        </p:nvSpPr>
        <p:spPr>
          <a:xfrm>
            <a:off x="6126480" y="3177540"/>
            <a:ext cx="5513832" cy="1371600"/>
          </a:xfrm>
          <a:prstGeom prst="rect">
            <a:avLst/>
          </a:prstGeom>
          <a:solidFill>
            <a:srgbClr val="3B414A"/>
          </a:solidFill>
          <a:ln w="12700">
            <a:solidFill>
              <a:srgbClr val="3B414A"/>
            </a:solidFill>
            <a:prstDash val="solid"/>
          </a:ln>
        </p:spPr>
      </p:sp>
      <p:sp>
        <p:nvSpPr>
          <p:cNvPr id="9" name="Shape 7"/>
          <p:cNvSpPr/>
          <p:nvPr/>
        </p:nvSpPr>
        <p:spPr>
          <a:xfrm>
            <a:off x="7237476" y="2217420"/>
            <a:ext cx="3291840" cy="3291840"/>
          </a:xfrm>
          <a:prstGeom prst="ellipse">
            <a:avLst/>
          </a:prstGeom>
          <a:solidFill>
            <a:srgbClr val="3B414A"/>
          </a:solidFill>
          <a:ln w="12700">
            <a:solidFill>
              <a:srgbClr val="3B414A"/>
            </a:solidFill>
            <a:prstDash val="solid"/>
          </a:ln>
        </p:spPr>
      </p:sp>
      <p:sp>
        <p:nvSpPr>
          <p:cNvPr id="10" name="Shape 8"/>
          <p:cNvSpPr/>
          <p:nvPr/>
        </p:nvSpPr>
        <p:spPr>
          <a:xfrm>
            <a:off x="8151876" y="3131820"/>
            <a:ext cx="1463040" cy="1463040"/>
          </a:xfrm>
          <a:prstGeom prst="ellipse">
            <a:avLst/>
          </a:prstGeom>
          <a:solidFill>
            <a:srgbClr val="9FB8A0"/>
          </a:solidFill>
          <a:ln w="38100">
            <a:solidFill>
              <a:srgbClr val="FFFFFF"/>
            </a:solidFill>
            <a:prstDash val="solid"/>
          </a:ln>
        </p:spPr>
      </p:sp>
      <p:sp>
        <p:nvSpPr>
          <p:cNvPr id="11" name="Shape 9"/>
          <p:cNvSpPr/>
          <p:nvPr/>
        </p:nvSpPr>
        <p:spPr>
          <a:xfrm>
            <a:off x="7466076" y="3589020"/>
            <a:ext cx="402336" cy="731520"/>
          </a:xfrm>
          <a:prstGeom prst="roundRect">
            <a:avLst>
              <a:gd name="adj" fmla="val 29545"/>
            </a:avLst>
          </a:prstGeom>
          <a:solidFill>
            <a:srgbClr val="3B82F6"/>
          </a:solidFill>
          <a:ln w="15875">
            <a:solidFill>
              <a:srgbClr val="FFFFFF"/>
            </a:solidFill>
            <a:prstDash val="solid"/>
          </a:ln>
        </p:spPr>
      </p:sp>
      <p:sp>
        <p:nvSpPr>
          <p:cNvPr id="12" name="Shape 10"/>
          <p:cNvSpPr/>
          <p:nvPr/>
        </p:nvSpPr>
        <p:spPr>
          <a:xfrm>
            <a:off x="7539228" y="3954780"/>
            <a:ext cx="256032" cy="182880"/>
          </a:xfrm>
          <a:prstGeom prst="roundRect">
            <a:avLst>
              <a:gd name="adj" fmla="val 30000"/>
            </a:avLst>
          </a:prstGeom>
          <a:solidFill>
            <a:srgbClr val="1B1F24"/>
          </a:solidFill>
          <a:ln w="12700">
            <a:solidFill>
              <a:srgbClr val="1B1F24"/>
            </a:solidFill>
            <a:prstDash val="solid"/>
          </a:ln>
        </p:spPr>
      </p:sp>
      <p:sp>
        <p:nvSpPr>
          <p:cNvPr id="13" name="Shape 11"/>
          <p:cNvSpPr/>
          <p:nvPr/>
        </p:nvSpPr>
        <p:spPr>
          <a:xfrm>
            <a:off x="9025128" y="5308092"/>
            <a:ext cx="402336" cy="731520"/>
          </a:xfrm>
          <a:prstGeom prst="roundRect">
            <a:avLst>
              <a:gd name="adj" fmla="val 29545"/>
            </a:avLst>
          </a:prstGeom>
          <a:solidFill>
            <a:srgbClr val="FF9300"/>
          </a:solidFill>
          <a:ln w="15875">
            <a:solidFill>
              <a:srgbClr val="FFFFFF"/>
            </a:solidFill>
            <a:prstDash val="solid"/>
          </a:ln>
        </p:spPr>
      </p:sp>
      <p:sp>
        <p:nvSpPr>
          <p:cNvPr id="14" name="Shape 12"/>
          <p:cNvSpPr/>
          <p:nvPr/>
        </p:nvSpPr>
        <p:spPr>
          <a:xfrm>
            <a:off x="9098280" y="5490972"/>
            <a:ext cx="256032" cy="182880"/>
          </a:xfrm>
          <a:prstGeom prst="roundRect">
            <a:avLst>
              <a:gd name="adj" fmla="val 30000"/>
            </a:avLst>
          </a:prstGeom>
          <a:solidFill>
            <a:srgbClr val="1B1F24"/>
          </a:solidFill>
          <a:ln w="12700">
            <a:solidFill>
              <a:srgbClr val="1B1F24"/>
            </a:solidFill>
            <a:prstDash val="solid"/>
          </a:ln>
        </p:spPr>
      </p:sp>
      <p:sp>
        <p:nvSpPr>
          <p:cNvPr id="15" name="Text 13"/>
          <p:cNvSpPr txBox="1"/>
          <p:nvPr/>
        </p:nvSpPr>
        <p:spPr>
          <a:xfrm>
            <a:off x="8951976" y="5692140"/>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6" name="Shape 14"/>
          <p:cNvSpPr/>
          <p:nvPr/>
        </p:nvSpPr>
        <p:spPr>
          <a:xfrm>
            <a:off x="9733788" y="2628900"/>
            <a:ext cx="402336" cy="731520"/>
          </a:xfrm>
          <a:prstGeom prst="roundRect">
            <a:avLst>
              <a:gd name="adj" fmla="val 29545"/>
            </a:avLst>
          </a:prstGeom>
          <a:solidFill>
            <a:srgbClr val="12A150"/>
          </a:solidFill>
          <a:ln w="15875">
            <a:solidFill>
              <a:srgbClr val="FFFFFF"/>
            </a:solidFill>
            <a:prstDash val="solid"/>
          </a:ln>
        </p:spPr>
      </p:sp>
      <p:sp>
        <p:nvSpPr>
          <p:cNvPr id="17" name="Shape 15"/>
          <p:cNvSpPr/>
          <p:nvPr/>
        </p:nvSpPr>
        <p:spPr>
          <a:xfrm>
            <a:off x="9806940" y="2811780"/>
            <a:ext cx="256032" cy="182880"/>
          </a:xfrm>
          <a:prstGeom prst="roundRect">
            <a:avLst>
              <a:gd name="adj" fmla="val 30000"/>
            </a:avLst>
          </a:prstGeom>
          <a:solidFill>
            <a:srgbClr val="1B1F24"/>
          </a:solidFill>
          <a:ln w="12700">
            <a:solidFill>
              <a:srgbClr val="1B1F24"/>
            </a:solidFill>
            <a:prstDash val="solid"/>
          </a:ln>
        </p:spPr>
      </p:sp>
      <p:sp>
        <p:nvSpPr>
          <p:cNvPr id="18" name="Shape 16"/>
          <p:cNvSpPr/>
          <p:nvPr/>
        </p:nvSpPr>
        <p:spPr>
          <a:xfrm>
            <a:off x="10076688" y="2679192"/>
            <a:ext cx="118872" cy="118872"/>
          </a:xfrm>
          <a:prstGeom prst="ellipse">
            <a:avLst/>
          </a:prstGeom>
          <a:solidFill>
            <a:srgbClr val="F7B500"/>
          </a:solidFill>
          <a:ln w="9525">
            <a:solidFill>
              <a:srgbClr val="FFFFFF"/>
            </a:solidFill>
            <a:prstDash val="solid"/>
          </a:ln>
        </p:spPr>
      </p:sp>
      <p:sp>
        <p:nvSpPr>
          <p:cNvPr id="19" name="Shape 17"/>
          <p:cNvSpPr/>
          <p:nvPr/>
        </p:nvSpPr>
        <p:spPr>
          <a:xfrm>
            <a:off x="10076688" y="3191256"/>
            <a:ext cx="118872" cy="118872"/>
          </a:xfrm>
          <a:prstGeom prst="ellipse">
            <a:avLst/>
          </a:prstGeom>
          <a:solidFill>
            <a:srgbClr val="F7B500"/>
          </a:solidFill>
          <a:ln w="9525">
            <a:solidFill>
              <a:srgbClr val="FFFFFF"/>
            </a:solidFill>
            <a:prstDash val="solid"/>
          </a:ln>
        </p:spPr>
      </p:sp>
      <p:sp>
        <p:nvSpPr>
          <p:cNvPr id="20" name="Shape 18"/>
          <p:cNvSpPr/>
          <p:nvPr/>
        </p:nvSpPr>
        <p:spPr>
          <a:xfrm>
            <a:off x="10789920" y="4672584"/>
            <a:ext cx="566928" cy="566928"/>
          </a:xfrm>
          <a:prstGeom prst="ellipse">
            <a:avLst/>
          </a:prstGeom>
          <a:solidFill>
            <a:srgbClr val="1F5FAE"/>
          </a:solidFill>
          <a:ln w="15748">
            <a:solidFill>
              <a:srgbClr val="FFFFFF"/>
            </a:solidFill>
            <a:prstDash val="solid"/>
          </a:ln>
        </p:spPr>
      </p:sp>
      <p:sp>
        <p:nvSpPr>
          <p:cNvPr id="21" name="Shape 19"/>
          <p:cNvSpPr/>
          <p:nvPr/>
        </p:nvSpPr>
        <p:spPr>
          <a:xfrm>
            <a:off x="10925983" y="4808647"/>
            <a:ext cx="294803" cy="294803"/>
          </a:xfrm>
          <a:prstGeom prst="ellipse">
            <a:avLst/>
          </a:prstGeom>
          <a:solidFill>
            <a:srgbClr val="1F5FAE"/>
          </a:solidFill>
          <a:ln w="55118">
            <a:solidFill>
              <a:srgbClr val="FFFFFF"/>
            </a:solidFill>
            <a:prstDash val="solid"/>
          </a:ln>
        </p:spPr>
      </p:sp>
      <p:sp>
        <p:nvSpPr>
          <p:cNvPr id="22" name="Shape 20"/>
          <p:cNvSpPr/>
          <p:nvPr/>
        </p:nvSpPr>
        <p:spPr>
          <a:xfrm rot="1800000">
            <a:off x="11161352" y="4943597"/>
            <a:ext cx="113386" cy="113386"/>
          </a:xfrm>
          <a:prstGeom prst="triangle">
            <a:avLst/>
          </a:prstGeom>
          <a:solidFill>
            <a:srgbClr val="FFFFFF"/>
          </a:solidFill>
          <a:ln w="12700">
            <a:solidFill>
              <a:srgbClr val="FFFFFF"/>
            </a:solidFill>
            <a:prstDash val="solid"/>
          </a:ln>
        </p:spPr>
      </p:sp>
      <p:sp>
        <p:nvSpPr>
          <p:cNvPr id="23" name="Shape 21"/>
          <p:cNvSpPr/>
          <p:nvPr/>
        </p:nvSpPr>
        <p:spPr>
          <a:xfrm rot="9000000">
            <a:off x="10906046" y="5002514"/>
            <a:ext cx="113386" cy="113386"/>
          </a:xfrm>
          <a:prstGeom prst="triangle">
            <a:avLst/>
          </a:prstGeom>
          <a:solidFill>
            <a:srgbClr val="FFFFFF"/>
          </a:solidFill>
          <a:ln w="12700">
            <a:solidFill>
              <a:srgbClr val="FFFFFF"/>
            </a:solidFill>
            <a:prstDash val="solid"/>
          </a:ln>
        </p:spPr>
      </p:sp>
      <p:sp>
        <p:nvSpPr>
          <p:cNvPr id="24" name="Shape 22"/>
          <p:cNvSpPr/>
          <p:nvPr/>
        </p:nvSpPr>
        <p:spPr>
          <a:xfrm rot="16200000">
            <a:off x="10982676" y="4751954"/>
            <a:ext cx="113386" cy="113386"/>
          </a:xfrm>
          <a:prstGeom prst="triangle">
            <a:avLst/>
          </a:prstGeom>
          <a:solidFill>
            <a:srgbClr val="FFFFFF"/>
          </a:solidFill>
          <a:ln w="12700">
            <a:solidFill>
              <a:srgbClr val="FFFFFF"/>
            </a:solidFill>
            <a:prstDash val="solid"/>
          </a:ln>
        </p:spPr>
      </p:sp>
      <p:sp>
        <p:nvSpPr>
          <p:cNvPr id="25" name="Shape 23"/>
          <p:cNvSpPr/>
          <p:nvPr/>
        </p:nvSpPr>
        <p:spPr>
          <a:xfrm rot="10800000">
            <a:off x="10789920" y="5419832"/>
            <a:ext cx="566928" cy="498897"/>
          </a:xfrm>
          <a:prstGeom prst="triangle">
            <a:avLst/>
          </a:prstGeom>
          <a:solidFill>
            <a:srgbClr val="FFFFFF"/>
          </a:solidFill>
          <a:ln w="62992">
            <a:solidFill>
              <a:srgbClr val="D7261E"/>
            </a:solidFill>
            <a:prstDash val="solid"/>
          </a:ln>
        </p:spPr>
      </p:sp>
      <p:sp>
        <p:nvSpPr>
          <p:cNvPr id="26" name="Shape 24"/>
          <p:cNvSpPr/>
          <p:nvPr/>
        </p:nvSpPr>
        <p:spPr>
          <a:xfrm>
            <a:off x="580644" y="1888236"/>
            <a:ext cx="155448" cy="155448"/>
          </a:xfrm>
          <a:prstGeom prst="ellipse">
            <a:avLst/>
          </a:prstGeom>
          <a:solidFill>
            <a:srgbClr val="FF9300"/>
          </a:solidFill>
          <a:ln w="12700">
            <a:solidFill>
              <a:srgbClr val="FF9300"/>
            </a:solidFill>
            <a:prstDash val="solid"/>
          </a:ln>
        </p:spPr>
      </p:sp>
      <p:sp>
        <p:nvSpPr>
          <p:cNvPr id="27" name="Text 25"/>
          <p:cNvSpPr txBox="1"/>
          <p:nvPr/>
        </p:nvSpPr>
        <p:spPr>
          <a:xfrm>
            <a:off x="932688" y="1783080"/>
            <a:ext cx="4828032" cy="1005840"/>
          </a:xfrm>
          <a:prstGeom prst="rect">
            <a:avLst/>
          </a:prstGeom>
          <a:noFill/>
          <a:ln/>
        </p:spPr>
        <p:txBody>
          <a:bodyPr wrap="square" lIns="0" tIns="0" rIns="0" bIns="0" rtlCol="0" anchor="t"/>
          <a:lstStyle/>
          <a:p>
            <a:pPr indent="0" marL="0">
              <a:lnSpc>
                <a:spcPct val="105000"/>
              </a:lnSpc>
              <a:buNone/>
            </a:pPr>
            <a:r>
              <a:rPr lang="en-US" sz="1800" b="1" dirty="0">
                <a:solidFill>
                  <a:srgbClr val="15181D"/>
                </a:solidFill>
                <a:latin typeface="Arial" pitchFamily="34" charset="0"/>
                <a:ea typeface="Arial" pitchFamily="34" charset="-122"/>
                <a:cs typeface="Arial" pitchFamily="34" charset="-120"/>
              </a:rPr>
              <a:t>Mit „Vorfahrt gewähren“: </a:t>
            </a:r>
            <a:pPr indent="0" marL="0">
              <a:lnSpc>
                <a:spcPct val="105000"/>
              </a:lnSpc>
              <a:buNone/>
            </a:pPr>
            <a:r>
              <a:rPr lang="en-US" sz="1800" dirty="0">
                <a:solidFill>
                  <a:srgbClr val="343B44"/>
                </a:solidFill>
                <a:latin typeface="Arial" pitchFamily="34" charset="0"/>
                <a:ea typeface="Arial" pitchFamily="34" charset="-122"/>
                <a:cs typeface="Arial" pitchFamily="34" charset="-120"/>
              </a:rPr>
              <a:t>Wer im Kreis fährt, hat Vorfahrt.</a:t>
            </a:r>
            <a:endParaRPr lang="en-US" sz="1800" dirty="0"/>
          </a:p>
        </p:txBody>
      </p:sp>
      <p:sp>
        <p:nvSpPr>
          <p:cNvPr id="28" name="Shape 26"/>
          <p:cNvSpPr/>
          <p:nvPr/>
        </p:nvSpPr>
        <p:spPr>
          <a:xfrm>
            <a:off x="580644" y="2967228"/>
            <a:ext cx="155448" cy="155448"/>
          </a:xfrm>
          <a:prstGeom prst="ellipse">
            <a:avLst/>
          </a:prstGeom>
          <a:solidFill>
            <a:srgbClr val="FF9300"/>
          </a:solidFill>
          <a:ln w="12700">
            <a:solidFill>
              <a:srgbClr val="FF9300"/>
            </a:solidFill>
            <a:prstDash val="solid"/>
          </a:ln>
        </p:spPr>
      </p:sp>
      <p:sp>
        <p:nvSpPr>
          <p:cNvPr id="29" name="Text 27"/>
          <p:cNvSpPr txBox="1"/>
          <p:nvPr/>
        </p:nvSpPr>
        <p:spPr>
          <a:xfrm>
            <a:off x="932688" y="2862072"/>
            <a:ext cx="4828032" cy="1005840"/>
          </a:xfrm>
          <a:prstGeom prst="rect">
            <a:avLst/>
          </a:prstGeom>
          <a:noFill/>
          <a:ln/>
        </p:spPr>
        <p:txBody>
          <a:bodyPr wrap="square" lIns="0" tIns="0" rIns="0" bIns="0" rtlCol="0" anchor="t"/>
          <a:lstStyle/>
          <a:p>
            <a:pPr indent="0" marL="0">
              <a:lnSpc>
                <a:spcPct val="105000"/>
              </a:lnSpc>
              <a:buNone/>
            </a:pPr>
            <a:r>
              <a:rPr lang="en-US" sz="1800" b="1" dirty="0">
                <a:solidFill>
                  <a:srgbClr val="15181D"/>
                </a:solidFill>
                <a:latin typeface="Arial" pitchFamily="34" charset="0"/>
                <a:ea typeface="Arial" pitchFamily="34" charset="-122"/>
                <a:cs typeface="Arial" pitchFamily="34" charset="-120"/>
              </a:rPr>
              <a:t>Blinker: </a:t>
            </a:r>
            <a:pPr indent="0" marL="0">
              <a:lnSpc>
                <a:spcPct val="105000"/>
              </a:lnSpc>
              <a:buNone/>
            </a:pPr>
            <a:r>
              <a:rPr lang="en-US" sz="1800" dirty="0">
                <a:solidFill>
                  <a:srgbClr val="343B44"/>
                </a:solidFill>
                <a:latin typeface="Arial" pitchFamily="34" charset="0"/>
                <a:ea typeface="Arial" pitchFamily="34" charset="-122"/>
                <a:cs typeface="Arial" pitchFamily="34" charset="-120"/>
              </a:rPr>
              <a:t>beim Einfahren nicht – beim Ausfahren rechts.</a:t>
            </a:r>
            <a:endParaRPr lang="en-US" sz="1800" dirty="0"/>
          </a:p>
        </p:txBody>
      </p:sp>
      <p:sp>
        <p:nvSpPr>
          <p:cNvPr id="30" name="Shape 28"/>
          <p:cNvSpPr/>
          <p:nvPr/>
        </p:nvSpPr>
        <p:spPr>
          <a:xfrm>
            <a:off x="580644" y="4046220"/>
            <a:ext cx="155448" cy="155448"/>
          </a:xfrm>
          <a:prstGeom prst="ellipse">
            <a:avLst/>
          </a:prstGeom>
          <a:solidFill>
            <a:srgbClr val="FF9300"/>
          </a:solidFill>
          <a:ln w="12700">
            <a:solidFill>
              <a:srgbClr val="FF9300"/>
            </a:solidFill>
            <a:prstDash val="solid"/>
          </a:ln>
        </p:spPr>
      </p:sp>
      <p:sp>
        <p:nvSpPr>
          <p:cNvPr id="31" name="Text 29"/>
          <p:cNvSpPr txBox="1"/>
          <p:nvPr/>
        </p:nvSpPr>
        <p:spPr>
          <a:xfrm>
            <a:off x="932688" y="3941064"/>
            <a:ext cx="4828032" cy="1005840"/>
          </a:xfrm>
          <a:prstGeom prst="rect">
            <a:avLst/>
          </a:prstGeom>
          <a:noFill/>
          <a:ln/>
        </p:spPr>
        <p:txBody>
          <a:bodyPr wrap="square" lIns="0" tIns="0" rIns="0" bIns="0" rtlCol="0" anchor="t"/>
          <a:lstStyle/>
          <a:p>
            <a:pPr indent="0" marL="0">
              <a:lnSpc>
                <a:spcPct val="105000"/>
              </a:lnSpc>
              <a:buNone/>
            </a:pPr>
            <a:r>
              <a:rPr lang="en-US" sz="1800" b="1" dirty="0">
                <a:solidFill>
                  <a:srgbClr val="15181D"/>
                </a:solidFill>
                <a:latin typeface="Arial" pitchFamily="34" charset="0"/>
                <a:ea typeface="Arial" pitchFamily="34" charset="-122"/>
                <a:cs typeface="Arial" pitchFamily="34" charset="-120"/>
              </a:rPr>
              <a:t>Im Kreis </a:t>
            </a:r>
            <a:pPr indent="0" marL="0">
              <a:lnSpc>
                <a:spcPct val="105000"/>
              </a:lnSpc>
              <a:buNone/>
            </a:pPr>
            <a:r>
              <a:rPr lang="en-US" sz="1800" dirty="0">
                <a:solidFill>
                  <a:srgbClr val="343B44"/>
                </a:solidFill>
                <a:latin typeface="Arial" pitchFamily="34" charset="0"/>
                <a:ea typeface="Arial" pitchFamily="34" charset="-122"/>
                <a:cs typeface="Arial" pitchFamily="34" charset="-120"/>
              </a:rPr>
              <a:t>nicht halten, Mittelinsel nicht überfahren (Ausnahme: große Fahrzeuge, wenn es anders nicht geht).</a:t>
            </a:r>
            <a:endParaRPr lang="en-US" sz="1800" dirty="0"/>
          </a:p>
        </p:txBody>
      </p:sp>
      <p:sp>
        <p:nvSpPr>
          <p:cNvPr id="32" name="Shape 30"/>
          <p:cNvSpPr/>
          <p:nvPr/>
        </p:nvSpPr>
        <p:spPr>
          <a:xfrm>
            <a:off x="580644" y="5125212"/>
            <a:ext cx="155448" cy="155448"/>
          </a:xfrm>
          <a:prstGeom prst="ellipse">
            <a:avLst/>
          </a:prstGeom>
          <a:solidFill>
            <a:srgbClr val="FF9300"/>
          </a:solidFill>
          <a:ln w="12700">
            <a:solidFill>
              <a:srgbClr val="FF9300"/>
            </a:solidFill>
            <a:prstDash val="solid"/>
          </a:ln>
        </p:spPr>
      </p:sp>
      <p:sp>
        <p:nvSpPr>
          <p:cNvPr id="33" name="Text 31"/>
          <p:cNvSpPr txBox="1"/>
          <p:nvPr/>
        </p:nvSpPr>
        <p:spPr>
          <a:xfrm>
            <a:off x="932688" y="5020056"/>
            <a:ext cx="4828032" cy="1005840"/>
          </a:xfrm>
          <a:prstGeom prst="rect">
            <a:avLst/>
          </a:prstGeom>
          <a:noFill/>
          <a:ln/>
        </p:spPr>
        <p:txBody>
          <a:bodyPr wrap="square" lIns="0" tIns="0" rIns="0" bIns="0" rtlCol="0" anchor="t"/>
          <a:lstStyle/>
          <a:p>
            <a:pPr indent="0" marL="0">
              <a:lnSpc>
                <a:spcPct val="105000"/>
              </a:lnSpc>
              <a:buNone/>
            </a:pPr>
            <a:r>
              <a:rPr lang="en-US" sz="1800" b="1" dirty="0">
                <a:solidFill>
                  <a:srgbClr val="15181D"/>
                </a:solidFill>
                <a:latin typeface="Arial" pitchFamily="34" charset="0"/>
                <a:ea typeface="Arial" pitchFamily="34" charset="-122"/>
                <a:cs typeface="Arial" pitchFamily="34" charset="-120"/>
              </a:rPr>
              <a:t>Ohne „Vorfahrt gewähren“ </a:t>
            </a:r>
            <a:pPr indent="0" marL="0">
              <a:lnSpc>
                <a:spcPct val="105000"/>
              </a:lnSpc>
              <a:buNone/>
            </a:pPr>
            <a:r>
              <a:rPr lang="en-US" sz="1800" dirty="0">
                <a:solidFill>
                  <a:srgbClr val="343B44"/>
                </a:solidFill>
                <a:latin typeface="Arial" pitchFamily="34" charset="0"/>
                <a:ea typeface="Arial" pitchFamily="34" charset="-122"/>
                <a:cs typeface="Arial" pitchFamily="34" charset="-120"/>
              </a:rPr>
              <a:t>gilt rechts vor links: Dann haben die Einfahrenden Vorfahrt.</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06 · BESONDERE LAGEN</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Stau: Kreuzung frei halten, Gasse bilden</a:t>
            </a:r>
            <a:endParaRPr lang="en-US" sz="3200" dirty="0"/>
          </a:p>
        </p:txBody>
      </p:sp>
      <p:sp>
        <p:nvSpPr>
          <p:cNvPr id="4" name="Shape 2"/>
          <p:cNvSpPr/>
          <p:nvPr/>
        </p:nvSpPr>
        <p:spPr>
          <a:xfrm>
            <a:off x="9274759" y="457200"/>
            <a:ext cx="2368296"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274759" y="457200"/>
            <a:ext cx="2368296"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 11 Abs. 1 und 2 StVO</a:t>
            </a:r>
            <a:endParaRPr lang="en-US" sz="1200" dirty="0"/>
          </a:p>
        </p:txBody>
      </p:sp>
      <p:sp>
        <p:nvSpPr>
          <p:cNvPr id="6" name="Shape 4"/>
          <p:cNvSpPr/>
          <p:nvPr/>
        </p:nvSpPr>
        <p:spPr>
          <a:xfrm>
            <a:off x="548640" y="1645920"/>
            <a:ext cx="5440680" cy="4480560"/>
          </a:xfrm>
          <a:prstGeom prst="roundRect">
            <a:avLst>
              <a:gd name="adj" fmla="val 3673"/>
            </a:avLst>
          </a:prstGeom>
          <a:solidFill>
            <a:srgbClr val="F1F3F6"/>
          </a:solidFill>
          <a:ln w="12700">
            <a:solidFill>
              <a:srgbClr val="F1F3F6"/>
            </a:solidFill>
            <a:prstDash val="solid"/>
          </a:ln>
        </p:spPr>
      </p:sp>
      <p:sp>
        <p:nvSpPr>
          <p:cNvPr id="7" name="Shape 5"/>
          <p:cNvSpPr/>
          <p:nvPr/>
        </p:nvSpPr>
        <p:spPr>
          <a:xfrm>
            <a:off x="6199632" y="1645920"/>
            <a:ext cx="5440680" cy="4480560"/>
          </a:xfrm>
          <a:prstGeom prst="roundRect">
            <a:avLst>
              <a:gd name="adj" fmla="val 3673"/>
            </a:avLst>
          </a:prstGeom>
          <a:solidFill>
            <a:srgbClr val="F1F3F6"/>
          </a:solidFill>
          <a:ln w="12700">
            <a:solidFill>
              <a:srgbClr val="F1F3F6"/>
            </a:solidFill>
            <a:prstDash val="solid"/>
          </a:ln>
        </p:spPr>
      </p:sp>
      <p:sp>
        <p:nvSpPr>
          <p:cNvPr id="8" name="Shape 6"/>
          <p:cNvSpPr/>
          <p:nvPr/>
        </p:nvSpPr>
        <p:spPr>
          <a:xfrm>
            <a:off x="868680" y="1920240"/>
            <a:ext cx="4800600" cy="2514600"/>
          </a:xfrm>
          <a:prstGeom prst="roundRect">
            <a:avLst>
              <a:gd name="adj" fmla="val 8000"/>
            </a:avLst>
          </a:prstGeom>
          <a:solidFill>
            <a:srgbClr val="E3E8ED"/>
          </a:solidFill>
          <a:ln w="12700">
            <a:solidFill>
              <a:srgbClr val="E3E8ED"/>
            </a:solidFill>
            <a:prstDash val="solid"/>
          </a:ln>
        </p:spPr>
      </p:sp>
      <p:sp>
        <p:nvSpPr>
          <p:cNvPr id="9" name="Shape 7"/>
          <p:cNvSpPr/>
          <p:nvPr/>
        </p:nvSpPr>
        <p:spPr>
          <a:xfrm>
            <a:off x="2354580" y="1920240"/>
            <a:ext cx="1143000" cy="2514600"/>
          </a:xfrm>
          <a:prstGeom prst="rect">
            <a:avLst/>
          </a:prstGeom>
          <a:solidFill>
            <a:srgbClr val="3B414A"/>
          </a:solidFill>
          <a:ln w="12700">
            <a:solidFill>
              <a:srgbClr val="3B414A"/>
            </a:solidFill>
            <a:prstDash val="solid"/>
          </a:ln>
        </p:spPr>
      </p:sp>
      <p:sp>
        <p:nvSpPr>
          <p:cNvPr id="10" name="Shape 8"/>
          <p:cNvSpPr/>
          <p:nvPr/>
        </p:nvSpPr>
        <p:spPr>
          <a:xfrm>
            <a:off x="868680" y="2606040"/>
            <a:ext cx="4800600" cy="1143000"/>
          </a:xfrm>
          <a:prstGeom prst="rect">
            <a:avLst/>
          </a:prstGeom>
          <a:solidFill>
            <a:srgbClr val="3B414A"/>
          </a:solidFill>
          <a:ln w="12700">
            <a:solidFill>
              <a:srgbClr val="3B414A"/>
            </a:solidFill>
            <a:prstDash val="solid"/>
          </a:ln>
        </p:spPr>
      </p:sp>
      <p:sp>
        <p:nvSpPr>
          <p:cNvPr id="11" name="Shape 9"/>
          <p:cNvSpPr/>
          <p:nvPr/>
        </p:nvSpPr>
        <p:spPr>
          <a:xfrm>
            <a:off x="2926080" y="2029968"/>
            <a:ext cx="0" cy="466344"/>
          </a:xfrm>
          <a:prstGeom prst="line">
            <a:avLst/>
          </a:prstGeom>
          <a:noFill/>
          <a:ln w="22225">
            <a:solidFill>
              <a:srgbClr val="F2F4F6"/>
            </a:solidFill>
            <a:prstDash val="dash"/>
          </a:ln>
        </p:spPr>
      </p:sp>
      <p:sp>
        <p:nvSpPr>
          <p:cNvPr id="12" name="Shape 10"/>
          <p:cNvSpPr/>
          <p:nvPr/>
        </p:nvSpPr>
        <p:spPr>
          <a:xfrm>
            <a:off x="2926080" y="3858768"/>
            <a:ext cx="0" cy="466344"/>
          </a:xfrm>
          <a:prstGeom prst="line">
            <a:avLst/>
          </a:prstGeom>
          <a:noFill/>
          <a:ln w="22225">
            <a:solidFill>
              <a:srgbClr val="F2F4F6"/>
            </a:solidFill>
            <a:prstDash val="dash"/>
          </a:ln>
        </p:spPr>
      </p:sp>
      <p:sp>
        <p:nvSpPr>
          <p:cNvPr id="13" name="Shape 11"/>
          <p:cNvSpPr/>
          <p:nvPr/>
        </p:nvSpPr>
        <p:spPr>
          <a:xfrm>
            <a:off x="978408" y="3177540"/>
            <a:ext cx="1266444" cy="0"/>
          </a:xfrm>
          <a:prstGeom prst="line">
            <a:avLst/>
          </a:prstGeom>
          <a:noFill/>
          <a:ln w="22225">
            <a:solidFill>
              <a:srgbClr val="F2F4F6"/>
            </a:solidFill>
            <a:prstDash val="dash"/>
          </a:ln>
        </p:spPr>
      </p:sp>
      <p:sp>
        <p:nvSpPr>
          <p:cNvPr id="14" name="Shape 12"/>
          <p:cNvSpPr/>
          <p:nvPr/>
        </p:nvSpPr>
        <p:spPr>
          <a:xfrm>
            <a:off x="3607308" y="3177540"/>
            <a:ext cx="1952244" cy="0"/>
          </a:xfrm>
          <a:prstGeom prst="line">
            <a:avLst/>
          </a:prstGeom>
          <a:noFill/>
          <a:ln w="22225">
            <a:solidFill>
              <a:srgbClr val="F2F4F6"/>
            </a:solidFill>
            <a:prstDash val="dash"/>
          </a:ln>
        </p:spPr>
      </p:sp>
      <p:sp>
        <p:nvSpPr>
          <p:cNvPr id="15" name="Shape 13"/>
          <p:cNvSpPr/>
          <p:nvPr/>
        </p:nvSpPr>
        <p:spPr>
          <a:xfrm>
            <a:off x="3598164" y="3280410"/>
            <a:ext cx="713232" cy="365760"/>
          </a:xfrm>
          <a:prstGeom prst="roundRect">
            <a:avLst>
              <a:gd name="adj" fmla="val 32500"/>
            </a:avLst>
          </a:prstGeom>
          <a:solidFill>
            <a:srgbClr val="8D97A3"/>
          </a:solidFill>
          <a:ln w="15875">
            <a:solidFill>
              <a:srgbClr val="FFFFFF"/>
            </a:solidFill>
            <a:prstDash val="solid"/>
          </a:ln>
        </p:spPr>
      </p:sp>
      <p:sp>
        <p:nvSpPr>
          <p:cNvPr id="16" name="Shape 14"/>
          <p:cNvSpPr/>
          <p:nvPr/>
        </p:nvSpPr>
        <p:spPr>
          <a:xfrm>
            <a:off x="3945636" y="3353562"/>
            <a:ext cx="182880" cy="219456"/>
          </a:xfrm>
          <a:prstGeom prst="roundRect">
            <a:avLst>
              <a:gd name="adj" fmla="val 30000"/>
            </a:avLst>
          </a:prstGeom>
          <a:solidFill>
            <a:srgbClr val="1B1F24"/>
          </a:solidFill>
          <a:ln w="12700">
            <a:solidFill>
              <a:srgbClr val="1B1F24"/>
            </a:solidFill>
            <a:prstDash val="solid"/>
          </a:ln>
        </p:spPr>
      </p:sp>
      <p:sp>
        <p:nvSpPr>
          <p:cNvPr id="17" name="Shape 15"/>
          <p:cNvSpPr/>
          <p:nvPr/>
        </p:nvSpPr>
        <p:spPr>
          <a:xfrm>
            <a:off x="4466844" y="3280410"/>
            <a:ext cx="713232" cy="365760"/>
          </a:xfrm>
          <a:prstGeom prst="roundRect">
            <a:avLst>
              <a:gd name="adj" fmla="val 32500"/>
            </a:avLst>
          </a:prstGeom>
          <a:solidFill>
            <a:srgbClr val="8D97A3"/>
          </a:solidFill>
          <a:ln w="15875">
            <a:solidFill>
              <a:srgbClr val="FFFFFF"/>
            </a:solidFill>
            <a:prstDash val="solid"/>
          </a:ln>
        </p:spPr>
      </p:sp>
      <p:sp>
        <p:nvSpPr>
          <p:cNvPr id="18" name="Shape 16"/>
          <p:cNvSpPr/>
          <p:nvPr/>
        </p:nvSpPr>
        <p:spPr>
          <a:xfrm>
            <a:off x="4814316" y="3353562"/>
            <a:ext cx="182880" cy="219456"/>
          </a:xfrm>
          <a:prstGeom prst="roundRect">
            <a:avLst>
              <a:gd name="adj" fmla="val 30000"/>
            </a:avLst>
          </a:prstGeom>
          <a:solidFill>
            <a:srgbClr val="1B1F24"/>
          </a:solidFill>
          <a:ln w="12700">
            <a:solidFill>
              <a:srgbClr val="1B1F24"/>
            </a:solidFill>
            <a:prstDash val="solid"/>
          </a:ln>
        </p:spPr>
      </p:sp>
      <p:sp>
        <p:nvSpPr>
          <p:cNvPr id="19" name="Shape 17"/>
          <p:cNvSpPr/>
          <p:nvPr/>
        </p:nvSpPr>
        <p:spPr>
          <a:xfrm>
            <a:off x="1495044" y="3280410"/>
            <a:ext cx="713232" cy="365760"/>
          </a:xfrm>
          <a:prstGeom prst="roundRect">
            <a:avLst>
              <a:gd name="adj" fmla="val 32500"/>
            </a:avLst>
          </a:prstGeom>
          <a:solidFill>
            <a:srgbClr val="FF9300"/>
          </a:solidFill>
          <a:ln w="15875">
            <a:solidFill>
              <a:srgbClr val="FFFFFF"/>
            </a:solidFill>
            <a:prstDash val="solid"/>
          </a:ln>
        </p:spPr>
      </p:sp>
      <p:sp>
        <p:nvSpPr>
          <p:cNvPr id="20" name="Shape 18"/>
          <p:cNvSpPr/>
          <p:nvPr/>
        </p:nvSpPr>
        <p:spPr>
          <a:xfrm>
            <a:off x="1842516" y="3353562"/>
            <a:ext cx="182880" cy="219456"/>
          </a:xfrm>
          <a:prstGeom prst="roundRect">
            <a:avLst>
              <a:gd name="adj" fmla="val 30000"/>
            </a:avLst>
          </a:prstGeom>
          <a:solidFill>
            <a:srgbClr val="1B1F24"/>
          </a:solidFill>
          <a:ln w="12700">
            <a:solidFill>
              <a:srgbClr val="1B1F24"/>
            </a:solidFill>
            <a:prstDash val="solid"/>
          </a:ln>
        </p:spPr>
      </p:sp>
      <p:sp>
        <p:nvSpPr>
          <p:cNvPr id="21" name="Text 19"/>
          <p:cNvSpPr txBox="1"/>
          <p:nvPr/>
        </p:nvSpPr>
        <p:spPr>
          <a:xfrm>
            <a:off x="1421892" y="334441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22" name="Shape 20"/>
          <p:cNvSpPr/>
          <p:nvPr/>
        </p:nvSpPr>
        <p:spPr>
          <a:xfrm>
            <a:off x="2034540" y="3822192"/>
            <a:ext cx="215433" cy="566928"/>
          </a:xfrm>
          <a:prstGeom prst="roundRect">
            <a:avLst>
              <a:gd name="adj" fmla="val 50934"/>
            </a:avLst>
          </a:prstGeom>
          <a:solidFill>
            <a:srgbClr val="1E2228"/>
          </a:solidFill>
          <a:ln w="12700">
            <a:solidFill>
              <a:srgbClr val="3A3F46"/>
            </a:solidFill>
            <a:prstDash val="solid"/>
          </a:ln>
        </p:spPr>
      </p:sp>
      <p:sp>
        <p:nvSpPr>
          <p:cNvPr id="23" name="Shape 21"/>
          <p:cNvSpPr/>
          <p:nvPr/>
        </p:nvSpPr>
        <p:spPr>
          <a:xfrm>
            <a:off x="2069009" y="3862331"/>
            <a:ext cx="146494" cy="146494"/>
          </a:xfrm>
          <a:prstGeom prst="ellipse">
            <a:avLst/>
          </a:prstGeom>
          <a:solidFill>
            <a:srgbClr val="3A3F46"/>
          </a:solidFill>
          <a:ln w="12700">
            <a:solidFill>
              <a:srgbClr val="3A3F46"/>
            </a:solidFill>
            <a:prstDash val="solid"/>
          </a:ln>
        </p:spPr>
      </p:sp>
      <p:sp>
        <p:nvSpPr>
          <p:cNvPr id="24" name="Shape 22"/>
          <p:cNvSpPr/>
          <p:nvPr/>
        </p:nvSpPr>
        <p:spPr>
          <a:xfrm>
            <a:off x="2069009" y="4032409"/>
            <a:ext cx="146494" cy="146494"/>
          </a:xfrm>
          <a:prstGeom prst="ellipse">
            <a:avLst/>
          </a:prstGeom>
          <a:solidFill>
            <a:srgbClr val="3A3F46"/>
          </a:solidFill>
          <a:ln w="12700">
            <a:solidFill>
              <a:srgbClr val="3A3F46"/>
            </a:solidFill>
            <a:prstDash val="solid"/>
          </a:ln>
        </p:spPr>
      </p:sp>
      <p:sp>
        <p:nvSpPr>
          <p:cNvPr id="25" name="Shape 23"/>
          <p:cNvSpPr/>
          <p:nvPr/>
        </p:nvSpPr>
        <p:spPr>
          <a:xfrm>
            <a:off x="2069009" y="4202487"/>
            <a:ext cx="146494" cy="146494"/>
          </a:xfrm>
          <a:prstGeom prst="ellipse">
            <a:avLst/>
          </a:prstGeom>
          <a:solidFill>
            <a:srgbClr val="19B45A"/>
          </a:solidFill>
          <a:ln w="12700">
            <a:solidFill>
              <a:srgbClr val="19B45A"/>
            </a:solidFill>
            <a:prstDash val="solid"/>
          </a:ln>
        </p:spPr>
      </p:sp>
      <p:sp>
        <p:nvSpPr>
          <p:cNvPr id="26" name="Text 24"/>
          <p:cNvSpPr txBox="1"/>
          <p:nvPr/>
        </p:nvSpPr>
        <p:spPr>
          <a:xfrm>
            <a:off x="868680" y="4617720"/>
            <a:ext cx="4800600" cy="1371600"/>
          </a:xfrm>
          <a:prstGeom prst="rect">
            <a:avLst/>
          </a:prstGeom>
          <a:noFill/>
          <a:ln/>
        </p:spPr>
        <p:txBody>
          <a:bodyPr wrap="square" lIns="0" tIns="0" rIns="0" bIns="0" rtlCol="0" anchor="t"/>
          <a:lstStyle/>
          <a:p>
            <a:pPr indent="0" marL="0">
              <a:buNone/>
            </a:pPr>
            <a:r>
              <a:rPr lang="en-US" sz="1600" b="1" dirty="0">
                <a:solidFill>
                  <a:srgbClr val="15181D"/>
                </a:solidFill>
                <a:latin typeface="Arial" pitchFamily="34" charset="0"/>
                <a:ea typeface="Arial" pitchFamily="34" charset="-122"/>
                <a:cs typeface="Arial" pitchFamily="34" charset="-120"/>
              </a:rPr>
              <a:t>Stockt der Verkehr: nicht in die Kreuzung fahren, wenn du dort warten müsstest – auch bei Grün oder mit Vorfahrt.</a:t>
            </a:r>
            <a:endParaRPr lang="en-US" sz="1600" dirty="0"/>
          </a:p>
        </p:txBody>
      </p:sp>
      <p:sp>
        <p:nvSpPr>
          <p:cNvPr id="27" name="Shape 25"/>
          <p:cNvSpPr/>
          <p:nvPr/>
        </p:nvSpPr>
        <p:spPr>
          <a:xfrm>
            <a:off x="6675120" y="1920240"/>
            <a:ext cx="4480560" cy="2514600"/>
          </a:xfrm>
          <a:prstGeom prst="roundRect">
            <a:avLst>
              <a:gd name="adj" fmla="val 5091"/>
            </a:avLst>
          </a:prstGeom>
          <a:solidFill>
            <a:srgbClr val="E3E8ED"/>
          </a:solidFill>
          <a:ln w="12700">
            <a:solidFill>
              <a:srgbClr val="E3E8ED"/>
            </a:solidFill>
            <a:prstDash val="solid"/>
          </a:ln>
        </p:spPr>
      </p:sp>
      <p:sp>
        <p:nvSpPr>
          <p:cNvPr id="28" name="Shape 26"/>
          <p:cNvSpPr/>
          <p:nvPr/>
        </p:nvSpPr>
        <p:spPr>
          <a:xfrm>
            <a:off x="7132320" y="1920240"/>
            <a:ext cx="3566160" cy="2514600"/>
          </a:xfrm>
          <a:prstGeom prst="rect">
            <a:avLst/>
          </a:prstGeom>
          <a:solidFill>
            <a:srgbClr val="3B414A"/>
          </a:solidFill>
          <a:ln w="12700">
            <a:solidFill>
              <a:srgbClr val="3B414A"/>
            </a:solidFill>
            <a:prstDash val="solid"/>
          </a:ln>
        </p:spPr>
      </p:sp>
      <p:sp>
        <p:nvSpPr>
          <p:cNvPr id="29" name="Shape 27"/>
          <p:cNvSpPr/>
          <p:nvPr/>
        </p:nvSpPr>
        <p:spPr>
          <a:xfrm>
            <a:off x="8321040" y="2011680"/>
            <a:ext cx="0" cy="2331720"/>
          </a:xfrm>
          <a:prstGeom prst="line">
            <a:avLst/>
          </a:prstGeom>
          <a:noFill/>
          <a:ln w="19050">
            <a:solidFill>
              <a:srgbClr val="F2F4F6"/>
            </a:solidFill>
            <a:prstDash val="dash"/>
          </a:ln>
        </p:spPr>
      </p:sp>
      <p:sp>
        <p:nvSpPr>
          <p:cNvPr id="30" name="Shape 28"/>
          <p:cNvSpPr/>
          <p:nvPr/>
        </p:nvSpPr>
        <p:spPr>
          <a:xfrm>
            <a:off x="9509760" y="2011680"/>
            <a:ext cx="0" cy="2331720"/>
          </a:xfrm>
          <a:prstGeom prst="line">
            <a:avLst/>
          </a:prstGeom>
          <a:noFill/>
          <a:ln w="19050">
            <a:solidFill>
              <a:srgbClr val="F2F4F6"/>
            </a:solidFill>
            <a:prstDash val="dash"/>
          </a:ln>
        </p:spPr>
      </p:sp>
      <p:sp>
        <p:nvSpPr>
          <p:cNvPr id="31" name="Shape 29"/>
          <p:cNvSpPr/>
          <p:nvPr/>
        </p:nvSpPr>
        <p:spPr>
          <a:xfrm>
            <a:off x="7242048" y="2249424"/>
            <a:ext cx="365760" cy="713232"/>
          </a:xfrm>
          <a:prstGeom prst="roundRect">
            <a:avLst>
              <a:gd name="adj" fmla="val 32500"/>
            </a:avLst>
          </a:prstGeom>
          <a:solidFill>
            <a:srgbClr val="3B82F6"/>
          </a:solidFill>
          <a:ln w="15875">
            <a:solidFill>
              <a:srgbClr val="FFFFFF"/>
            </a:solidFill>
            <a:prstDash val="solid"/>
          </a:ln>
        </p:spPr>
      </p:sp>
      <p:sp>
        <p:nvSpPr>
          <p:cNvPr id="32" name="Shape 30"/>
          <p:cNvSpPr/>
          <p:nvPr/>
        </p:nvSpPr>
        <p:spPr>
          <a:xfrm>
            <a:off x="7315200" y="2432304"/>
            <a:ext cx="219456" cy="182880"/>
          </a:xfrm>
          <a:prstGeom prst="roundRect">
            <a:avLst>
              <a:gd name="adj" fmla="val 30000"/>
            </a:avLst>
          </a:prstGeom>
          <a:solidFill>
            <a:srgbClr val="1B1F24"/>
          </a:solidFill>
          <a:ln w="12700">
            <a:solidFill>
              <a:srgbClr val="1B1F24"/>
            </a:solidFill>
            <a:prstDash val="solid"/>
          </a:ln>
        </p:spPr>
      </p:sp>
      <p:sp>
        <p:nvSpPr>
          <p:cNvPr id="33" name="Shape 31"/>
          <p:cNvSpPr/>
          <p:nvPr/>
        </p:nvSpPr>
        <p:spPr>
          <a:xfrm>
            <a:off x="7242048" y="3392424"/>
            <a:ext cx="365760" cy="713232"/>
          </a:xfrm>
          <a:prstGeom prst="roundRect">
            <a:avLst>
              <a:gd name="adj" fmla="val 32500"/>
            </a:avLst>
          </a:prstGeom>
          <a:solidFill>
            <a:srgbClr val="3B82F6"/>
          </a:solidFill>
          <a:ln w="15875">
            <a:solidFill>
              <a:srgbClr val="FFFFFF"/>
            </a:solidFill>
            <a:prstDash val="solid"/>
          </a:ln>
        </p:spPr>
      </p:sp>
      <p:sp>
        <p:nvSpPr>
          <p:cNvPr id="34" name="Shape 32"/>
          <p:cNvSpPr/>
          <p:nvPr/>
        </p:nvSpPr>
        <p:spPr>
          <a:xfrm>
            <a:off x="7315200" y="3575304"/>
            <a:ext cx="219456" cy="182880"/>
          </a:xfrm>
          <a:prstGeom prst="roundRect">
            <a:avLst>
              <a:gd name="adj" fmla="val 30000"/>
            </a:avLst>
          </a:prstGeom>
          <a:solidFill>
            <a:srgbClr val="1B1F24"/>
          </a:solidFill>
          <a:ln w="12700">
            <a:solidFill>
              <a:srgbClr val="1B1F24"/>
            </a:solidFill>
            <a:prstDash val="solid"/>
          </a:ln>
        </p:spPr>
      </p:sp>
      <p:sp>
        <p:nvSpPr>
          <p:cNvPr id="35" name="Shape 33"/>
          <p:cNvSpPr/>
          <p:nvPr/>
        </p:nvSpPr>
        <p:spPr>
          <a:xfrm>
            <a:off x="9006840" y="2249424"/>
            <a:ext cx="365760" cy="713232"/>
          </a:xfrm>
          <a:prstGeom prst="roundRect">
            <a:avLst>
              <a:gd name="adj" fmla="val 32500"/>
            </a:avLst>
          </a:prstGeom>
          <a:solidFill>
            <a:srgbClr val="8D97A3"/>
          </a:solidFill>
          <a:ln w="15875">
            <a:solidFill>
              <a:srgbClr val="FFFFFF"/>
            </a:solidFill>
            <a:prstDash val="solid"/>
          </a:ln>
        </p:spPr>
      </p:sp>
      <p:sp>
        <p:nvSpPr>
          <p:cNvPr id="36" name="Shape 34"/>
          <p:cNvSpPr/>
          <p:nvPr/>
        </p:nvSpPr>
        <p:spPr>
          <a:xfrm>
            <a:off x="9079992" y="2432304"/>
            <a:ext cx="219456" cy="182880"/>
          </a:xfrm>
          <a:prstGeom prst="roundRect">
            <a:avLst>
              <a:gd name="adj" fmla="val 30000"/>
            </a:avLst>
          </a:prstGeom>
          <a:solidFill>
            <a:srgbClr val="1B1F24"/>
          </a:solidFill>
          <a:ln w="12700">
            <a:solidFill>
              <a:srgbClr val="1B1F24"/>
            </a:solidFill>
            <a:prstDash val="solid"/>
          </a:ln>
        </p:spPr>
      </p:sp>
      <p:sp>
        <p:nvSpPr>
          <p:cNvPr id="37" name="Shape 35"/>
          <p:cNvSpPr/>
          <p:nvPr/>
        </p:nvSpPr>
        <p:spPr>
          <a:xfrm>
            <a:off x="9006840" y="3392424"/>
            <a:ext cx="365760" cy="713232"/>
          </a:xfrm>
          <a:prstGeom prst="roundRect">
            <a:avLst>
              <a:gd name="adj" fmla="val 32500"/>
            </a:avLst>
          </a:prstGeom>
          <a:solidFill>
            <a:srgbClr val="8D97A3"/>
          </a:solidFill>
          <a:ln w="15875">
            <a:solidFill>
              <a:srgbClr val="FFFFFF"/>
            </a:solidFill>
            <a:prstDash val="solid"/>
          </a:ln>
        </p:spPr>
      </p:sp>
      <p:sp>
        <p:nvSpPr>
          <p:cNvPr id="38" name="Shape 36"/>
          <p:cNvSpPr/>
          <p:nvPr/>
        </p:nvSpPr>
        <p:spPr>
          <a:xfrm>
            <a:off x="9079992" y="3575304"/>
            <a:ext cx="219456" cy="182880"/>
          </a:xfrm>
          <a:prstGeom prst="roundRect">
            <a:avLst>
              <a:gd name="adj" fmla="val 30000"/>
            </a:avLst>
          </a:prstGeom>
          <a:solidFill>
            <a:srgbClr val="1B1F24"/>
          </a:solidFill>
          <a:ln w="12700">
            <a:solidFill>
              <a:srgbClr val="1B1F24"/>
            </a:solidFill>
            <a:prstDash val="solid"/>
          </a:ln>
        </p:spPr>
      </p:sp>
      <p:sp>
        <p:nvSpPr>
          <p:cNvPr id="39" name="Shape 37"/>
          <p:cNvSpPr/>
          <p:nvPr/>
        </p:nvSpPr>
        <p:spPr>
          <a:xfrm>
            <a:off x="10195560" y="2249424"/>
            <a:ext cx="365760" cy="713232"/>
          </a:xfrm>
          <a:prstGeom prst="roundRect">
            <a:avLst>
              <a:gd name="adj" fmla="val 32500"/>
            </a:avLst>
          </a:prstGeom>
          <a:solidFill>
            <a:srgbClr val="8D97A3"/>
          </a:solidFill>
          <a:ln w="15875">
            <a:solidFill>
              <a:srgbClr val="FFFFFF"/>
            </a:solidFill>
            <a:prstDash val="solid"/>
          </a:ln>
        </p:spPr>
      </p:sp>
      <p:sp>
        <p:nvSpPr>
          <p:cNvPr id="40" name="Shape 38"/>
          <p:cNvSpPr/>
          <p:nvPr/>
        </p:nvSpPr>
        <p:spPr>
          <a:xfrm>
            <a:off x="10268712" y="2432304"/>
            <a:ext cx="219456" cy="182880"/>
          </a:xfrm>
          <a:prstGeom prst="roundRect">
            <a:avLst>
              <a:gd name="adj" fmla="val 30000"/>
            </a:avLst>
          </a:prstGeom>
          <a:solidFill>
            <a:srgbClr val="1B1F24"/>
          </a:solidFill>
          <a:ln w="12700">
            <a:solidFill>
              <a:srgbClr val="1B1F24"/>
            </a:solidFill>
            <a:prstDash val="solid"/>
          </a:ln>
        </p:spPr>
      </p:sp>
      <p:sp>
        <p:nvSpPr>
          <p:cNvPr id="41" name="Shape 39"/>
          <p:cNvSpPr/>
          <p:nvPr/>
        </p:nvSpPr>
        <p:spPr>
          <a:xfrm>
            <a:off x="10195560" y="3392424"/>
            <a:ext cx="365760" cy="713232"/>
          </a:xfrm>
          <a:prstGeom prst="roundRect">
            <a:avLst>
              <a:gd name="adj" fmla="val 32500"/>
            </a:avLst>
          </a:prstGeom>
          <a:solidFill>
            <a:srgbClr val="8D97A3"/>
          </a:solidFill>
          <a:ln w="15875">
            <a:solidFill>
              <a:srgbClr val="FFFFFF"/>
            </a:solidFill>
            <a:prstDash val="solid"/>
          </a:ln>
        </p:spPr>
      </p:sp>
      <p:sp>
        <p:nvSpPr>
          <p:cNvPr id="42" name="Shape 40"/>
          <p:cNvSpPr/>
          <p:nvPr/>
        </p:nvSpPr>
        <p:spPr>
          <a:xfrm>
            <a:off x="10268712" y="3575304"/>
            <a:ext cx="219456" cy="182880"/>
          </a:xfrm>
          <a:prstGeom prst="roundRect">
            <a:avLst>
              <a:gd name="adj" fmla="val 30000"/>
            </a:avLst>
          </a:prstGeom>
          <a:solidFill>
            <a:srgbClr val="1B1F24"/>
          </a:solidFill>
          <a:ln w="12700">
            <a:solidFill>
              <a:srgbClr val="1B1F24"/>
            </a:solidFill>
            <a:prstDash val="solid"/>
          </a:ln>
        </p:spPr>
      </p:sp>
      <p:sp>
        <p:nvSpPr>
          <p:cNvPr id="43" name="Shape 41"/>
          <p:cNvSpPr/>
          <p:nvPr/>
        </p:nvSpPr>
        <p:spPr>
          <a:xfrm>
            <a:off x="8202168" y="2057400"/>
            <a:ext cx="237744" cy="2240280"/>
          </a:xfrm>
          <a:prstGeom prst="rect">
            <a:avLst/>
          </a:prstGeom>
          <a:solidFill>
            <a:srgbClr val="FF9300">
              <a:alpha val="65000"/>
            </a:srgbClr>
          </a:solidFill>
          <a:ln w="12700">
            <a:solidFill>
              <a:srgbClr val="FF9300"/>
            </a:solidFill>
            <a:prstDash val="solid"/>
          </a:ln>
        </p:spPr>
      </p:sp>
      <p:sp>
        <p:nvSpPr>
          <p:cNvPr id="44" name="Shape 42"/>
          <p:cNvSpPr/>
          <p:nvPr/>
        </p:nvSpPr>
        <p:spPr>
          <a:xfrm>
            <a:off x="8321040" y="2319833"/>
            <a:ext cx="18288" cy="2069287"/>
          </a:xfrm>
          <a:custGeom>
            <a:avLst/>
            <a:gdLst/>
            <a:ahLst/>
            <a:cxnLst/>
            <a:rect l="l" t="t" r="r" b="b"/>
            <a:pathLst>
              <a:path w="18288" h="2069287">
                <a:moveTo>
                  <a:pt x="0" y="2069287"/>
                </a:moveTo>
                <a:lnTo>
                  <a:pt x="0" y="0"/>
                </a:lnTo>
              </a:path>
            </a:pathLst>
          </a:custGeom>
          <a:noFill/>
          <a:ln w="38100">
            <a:solidFill>
              <a:srgbClr val="E5322D"/>
            </a:solidFill>
            <a:prstDash val="solid"/>
          </a:ln>
        </p:spPr>
      </p:sp>
      <p:sp>
        <p:nvSpPr>
          <p:cNvPr id="45" name="Shape 43"/>
          <p:cNvSpPr/>
          <p:nvPr/>
        </p:nvSpPr>
        <p:spPr>
          <a:xfrm>
            <a:off x="8220456" y="2148840"/>
            <a:ext cx="201168" cy="201168"/>
          </a:xfrm>
          <a:prstGeom prst="triangle">
            <a:avLst/>
          </a:prstGeom>
          <a:solidFill>
            <a:srgbClr val="E5322D"/>
          </a:solidFill>
          <a:ln w="12700">
            <a:solidFill>
              <a:srgbClr val="E5322D"/>
            </a:solidFill>
            <a:prstDash val="solid"/>
          </a:ln>
        </p:spPr>
      </p:sp>
      <p:sp>
        <p:nvSpPr>
          <p:cNvPr id="46" name="Text 44"/>
          <p:cNvSpPr txBox="1"/>
          <p:nvPr/>
        </p:nvSpPr>
        <p:spPr>
          <a:xfrm>
            <a:off x="6519672" y="4617720"/>
            <a:ext cx="4800600" cy="1371600"/>
          </a:xfrm>
          <a:prstGeom prst="rect">
            <a:avLst/>
          </a:prstGeom>
          <a:noFill/>
          <a:ln/>
        </p:spPr>
        <p:txBody>
          <a:bodyPr wrap="square" lIns="0" tIns="0" rIns="0" bIns="0" rtlCol="0" anchor="t"/>
          <a:lstStyle/>
          <a:p>
            <a:pPr indent="0" marL="0">
              <a:buNone/>
            </a:pPr>
            <a:r>
              <a:rPr lang="en-US" sz="1600" b="1" dirty="0">
                <a:solidFill>
                  <a:srgbClr val="15181D"/>
                </a:solidFill>
                <a:latin typeface="Arial" pitchFamily="34" charset="0"/>
                <a:ea typeface="Arial" pitchFamily="34" charset="-122"/>
                <a:cs typeface="Arial" pitchFamily="34" charset="-120"/>
              </a:rPr>
              <a:t>Rettungsgasse: zwischen dem ganz linken und dem Fahrstreifen rechts daneben – sobald es nur noch Schritttempo gibt oder steht.</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HALTUNG</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Vorfahrt ist kein Freifahrtschein</a:t>
            </a:r>
            <a:endParaRPr lang="en-US" sz="3200" dirty="0"/>
          </a:p>
        </p:txBody>
      </p:sp>
      <p:sp>
        <p:nvSpPr>
          <p:cNvPr id="4" name="Shape 2"/>
          <p:cNvSpPr/>
          <p:nvPr/>
        </p:nvSpPr>
        <p:spPr>
          <a:xfrm>
            <a:off x="548640" y="1783080"/>
            <a:ext cx="3520440" cy="4023360"/>
          </a:xfrm>
          <a:prstGeom prst="roundRect">
            <a:avLst>
              <a:gd name="adj" fmla="val 4675"/>
            </a:avLst>
          </a:prstGeom>
          <a:solidFill>
            <a:srgbClr val="1A1F26"/>
          </a:solidFill>
          <a:ln w="12700">
            <a:solidFill>
              <a:srgbClr val="1A1F26"/>
            </a:solidFill>
            <a:prstDash val="solid"/>
          </a:ln>
        </p:spPr>
      </p:sp>
      <p:sp>
        <p:nvSpPr>
          <p:cNvPr id="5" name="Shape 3"/>
          <p:cNvSpPr/>
          <p:nvPr/>
        </p:nvSpPr>
        <p:spPr>
          <a:xfrm>
            <a:off x="868680" y="2148840"/>
            <a:ext cx="731520" cy="731520"/>
          </a:xfrm>
          <a:prstGeom prst="ellipse">
            <a:avLst/>
          </a:prstGeom>
          <a:solidFill>
            <a:srgbClr val="FF9300"/>
          </a:solidFill>
          <a:ln w="19050">
            <a:solidFill>
              <a:srgbClr val="1A1F26"/>
            </a:solidFill>
            <a:prstDash val="solid"/>
          </a:ln>
        </p:spPr>
      </p:sp>
      <p:sp>
        <p:nvSpPr>
          <p:cNvPr id="6" name="Text 4"/>
          <p:cNvSpPr txBox="1"/>
          <p:nvPr/>
        </p:nvSpPr>
        <p:spPr>
          <a:xfrm>
            <a:off x="868680" y="2148840"/>
            <a:ext cx="731520" cy="731520"/>
          </a:xfrm>
          <a:prstGeom prst="rect">
            <a:avLst/>
          </a:prstGeom>
          <a:noFill/>
          <a:ln/>
        </p:spPr>
        <p:txBody>
          <a:bodyPr wrap="square" lIns="0" tIns="0" rIns="0" bIns="0" rtlCol="0" anchor="ctr"/>
          <a:lstStyle/>
          <a:p>
            <a:pPr algn="ctr" indent="0" marL="0">
              <a:buNone/>
            </a:pPr>
            <a:r>
              <a:rPr lang="en-US" sz="2600" b="1" dirty="0">
                <a:solidFill>
                  <a:srgbClr val="15181D"/>
                </a:solidFill>
                <a:latin typeface="Arial" pitchFamily="34" charset="0"/>
                <a:ea typeface="Arial" pitchFamily="34" charset="-122"/>
                <a:cs typeface="Arial" pitchFamily="34" charset="-120"/>
              </a:rPr>
              <a:t>1</a:t>
            </a:r>
            <a:endParaRPr lang="en-US" sz="2600" dirty="0"/>
          </a:p>
        </p:txBody>
      </p:sp>
      <p:sp>
        <p:nvSpPr>
          <p:cNvPr id="7" name="Text 5"/>
          <p:cNvSpPr txBox="1"/>
          <p:nvPr/>
        </p:nvSpPr>
        <p:spPr>
          <a:xfrm>
            <a:off x="914400" y="3154680"/>
            <a:ext cx="2834640" cy="50292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Mitdenken</a:t>
            </a:r>
            <a:endParaRPr lang="en-US" sz="2400" dirty="0"/>
          </a:p>
        </p:txBody>
      </p:sp>
      <p:sp>
        <p:nvSpPr>
          <p:cNvPr id="8" name="Text 6"/>
          <p:cNvSpPr txBox="1"/>
          <p:nvPr/>
        </p:nvSpPr>
        <p:spPr>
          <a:xfrm>
            <a:off x="914400" y="3703320"/>
            <a:ext cx="2834640" cy="1920240"/>
          </a:xfrm>
          <a:prstGeom prst="rect">
            <a:avLst/>
          </a:prstGeom>
          <a:noFill/>
          <a:ln/>
        </p:spPr>
        <p:txBody>
          <a:bodyPr wrap="square" lIns="0" tIns="0" rIns="0" bIns="0" rtlCol="0" anchor="t"/>
          <a:lstStyle/>
          <a:p>
            <a:pPr indent="0" marL="0">
              <a:buNone/>
            </a:pPr>
            <a:r>
              <a:rPr lang="en-US" sz="1700" dirty="0">
                <a:solidFill>
                  <a:srgbClr val="D5DAE0"/>
                </a:solidFill>
                <a:latin typeface="Arial" pitchFamily="34" charset="0"/>
                <a:ea typeface="Arial" pitchFamily="34" charset="-122"/>
                <a:cs typeface="Arial" pitchFamily="34" charset="-120"/>
              </a:rPr>
              <a:t>Rechne mit Fehlern anderer – besonders bei Kindern, älteren Menschen und unsicheren Fahrern.</a:t>
            </a:r>
            <a:endParaRPr lang="en-US" sz="1700" dirty="0"/>
          </a:p>
        </p:txBody>
      </p:sp>
      <p:sp>
        <p:nvSpPr>
          <p:cNvPr id="9" name="Shape 7"/>
          <p:cNvSpPr/>
          <p:nvPr/>
        </p:nvSpPr>
        <p:spPr>
          <a:xfrm>
            <a:off x="4325112" y="1783080"/>
            <a:ext cx="3520440" cy="4023360"/>
          </a:xfrm>
          <a:prstGeom prst="roundRect">
            <a:avLst>
              <a:gd name="adj" fmla="val 4675"/>
            </a:avLst>
          </a:prstGeom>
          <a:solidFill>
            <a:srgbClr val="1A1F26"/>
          </a:solidFill>
          <a:ln w="12700">
            <a:solidFill>
              <a:srgbClr val="1A1F26"/>
            </a:solidFill>
            <a:prstDash val="solid"/>
          </a:ln>
        </p:spPr>
      </p:sp>
      <p:sp>
        <p:nvSpPr>
          <p:cNvPr id="10" name="Shape 8"/>
          <p:cNvSpPr/>
          <p:nvPr/>
        </p:nvSpPr>
        <p:spPr>
          <a:xfrm>
            <a:off x="4645152" y="2148840"/>
            <a:ext cx="731520" cy="731520"/>
          </a:xfrm>
          <a:prstGeom prst="ellipse">
            <a:avLst/>
          </a:prstGeom>
          <a:solidFill>
            <a:srgbClr val="FF9300"/>
          </a:solidFill>
          <a:ln w="19050">
            <a:solidFill>
              <a:srgbClr val="1A1F26"/>
            </a:solidFill>
            <a:prstDash val="solid"/>
          </a:ln>
        </p:spPr>
      </p:sp>
      <p:sp>
        <p:nvSpPr>
          <p:cNvPr id="11" name="Text 9"/>
          <p:cNvSpPr txBox="1"/>
          <p:nvPr/>
        </p:nvSpPr>
        <p:spPr>
          <a:xfrm>
            <a:off x="4645152" y="2148840"/>
            <a:ext cx="731520" cy="731520"/>
          </a:xfrm>
          <a:prstGeom prst="rect">
            <a:avLst/>
          </a:prstGeom>
          <a:noFill/>
          <a:ln/>
        </p:spPr>
        <p:txBody>
          <a:bodyPr wrap="square" lIns="0" tIns="0" rIns="0" bIns="0" rtlCol="0" anchor="ctr"/>
          <a:lstStyle/>
          <a:p>
            <a:pPr algn="ctr" indent="0" marL="0">
              <a:buNone/>
            </a:pPr>
            <a:r>
              <a:rPr lang="en-US" sz="2600" b="1" dirty="0">
                <a:solidFill>
                  <a:srgbClr val="15181D"/>
                </a:solidFill>
                <a:latin typeface="Arial" pitchFamily="34" charset="0"/>
                <a:ea typeface="Arial" pitchFamily="34" charset="-122"/>
                <a:cs typeface="Arial" pitchFamily="34" charset="-120"/>
              </a:rPr>
              <a:t>2</a:t>
            </a:r>
            <a:endParaRPr lang="en-US" sz="2600" dirty="0"/>
          </a:p>
        </p:txBody>
      </p:sp>
      <p:sp>
        <p:nvSpPr>
          <p:cNvPr id="12" name="Text 10"/>
          <p:cNvSpPr txBox="1"/>
          <p:nvPr/>
        </p:nvSpPr>
        <p:spPr>
          <a:xfrm>
            <a:off x="4690872" y="3154680"/>
            <a:ext cx="2834640" cy="50292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Verzichten</a:t>
            </a:r>
            <a:endParaRPr lang="en-US" sz="2400" dirty="0"/>
          </a:p>
        </p:txBody>
      </p:sp>
      <p:sp>
        <p:nvSpPr>
          <p:cNvPr id="13" name="Text 11"/>
          <p:cNvSpPr txBox="1"/>
          <p:nvPr/>
        </p:nvSpPr>
        <p:spPr>
          <a:xfrm>
            <a:off x="4690872" y="3703320"/>
            <a:ext cx="2834640" cy="1920240"/>
          </a:xfrm>
          <a:prstGeom prst="rect">
            <a:avLst/>
          </a:prstGeom>
          <a:noFill/>
          <a:ln/>
        </p:spPr>
        <p:txBody>
          <a:bodyPr wrap="square" lIns="0" tIns="0" rIns="0" bIns="0" rtlCol="0" anchor="t"/>
          <a:lstStyle/>
          <a:p>
            <a:pPr indent="0" marL="0">
              <a:buNone/>
            </a:pPr>
            <a:r>
              <a:rPr lang="en-US" sz="1700" dirty="0">
                <a:solidFill>
                  <a:srgbClr val="D5DAE0"/>
                </a:solidFill>
                <a:latin typeface="Arial" pitchFamily="34" charset="0"/>
                <a:ea typeface="Arial" pitchFamily="34" charset="-122"/>
                <a:cs typeface="Arial" pitchFamily="34" charset="-120"/>
              </a:rPr>
              <a:t>Verlangt es die Lage, lass den anderen fahren – deutlich, mit Handzeichen und Blickkontakt.</a:t>
            </a:r>
            <a:endParaRPr lang="en-US" sz="1700" dirty="0"/>
          </a:p>
        </p:txBody>
      </p:sp>
      <p:sp>
        <p:nvSpPr>
          <p:cNvPr id="14" name="Shape 12"/>
          <p:cNvSpPr/>
          <p:nvPr/>
        </p:nvSpPr>
        <p:spPr>
          <a:xfrm>
            <a:off x="8101584" y="1783080"/>
            <a:ext cx="3520440" cy="4023360"/>
          </a:xfrm>
          <a:prstGeom prst="roundRect">
            <a:avLst>
              <a:gd name="adj" fmla="val 4675"/>
            </a:avLst>
          </a:prstGeom>
          <a:solidFill>
            <a:srgbClr val="1A1F26"/>
          </a:solidFill>
          <a:ln w="12700">
            <a:solidFill>
              <a:srgbClr val="1A1F26"/>
            </a:solidFill>
            <a:prstDash val="solid"/>
          </a:ln>
        </p:spPr>
      </p:sp>
      <p:sp>
        <p:nvSpPr>
          <p:cNvPr id="15" name="Shape 13"/>
          <p:cNvSpPr/>
          <p:nvPr/>
        </p:nvSpPr>
        <p:spPr>
          <a:xfrm>
            <a:off x="8421624" y="2148840"/>
            <a:ext cx="731520" cy="731520"/>
          </a:xfrm>
          <a:prstGeom prst="ellipse">
            <a:avLst/>
          </a:prstGeom>
          <a:solidFill>
            <a:srgbClr val="FF9300"/>
          </a:solidFill>
          <a:ln w="19050">
            <a:solidFill>
              <a:srgbClr val="1A1F26"/>
            </a:solidFill>
            <a:prstDash val="solid"/>
          </a:ln>
        </p:spPr>
      </p:sp>
      <p:sp>
        <p:nvSpPr>
          <p:cNvPr id="16" name="Text 14"/>
          <p:cNvSpPr txBox="1"/>
          <p:nvPr/>
        </p:nvSpPr>
        <p:spPr>
          <a:xfrm>
            <a:off x="8421624" y="2148840"/>
            <a:ext cx="731520" cy="731520"/>
          </a:xfrm>
          <a:prstGeom prst="rect">
            <a:avLst/>
          </a:prstGeom>
          <a:noFill/>
          <a:ln/>
        </p:spPr>
        <p:txBody>
          <a:bodyPr wrap="square" lIns="0" tIns="0" rIns="0" bIns="0" rtlCol="0" anchor="ctr"/>
          <a:lstStyle/>
          <a:p>
            <a:pPr algn="ctr" indent="0" marL="0">
              <a:buNone/>
            </a:pPr>
            <a:r>
              <a:rPr lang="en-US" sz="2600" b="1" dirty="0">
                <a:solidFill>
                  <a:srgbClr val="15181D"/>
                </a:solidFill>
                <a:latin typeface="Arial" pitchFamily="34" charset="0"/>
                <a:ea typeface="Arial" pitchFamily="34" charset="-122"/>
                <a:cs typeface="Arial" pitchFamily="34" charset="-120"/>
              </a:rPr>
              <a:t>3</a:t>
            </a:r>
            <a:endParaRPr lang="en-US" sz="2600" dirty="0"/>
          </a:p>
        </p:txBody>
      </p:sp>
      <p:sp>
        <p:nvSpPr>
          <p:cNvPr id="17" name="Text 15"/>
          <p:cNvSpPr txBox="1"/>
          <p:nvPr/>
        </p:nvSpPr>
        <p:spPr>
          <a:xfrm>
            <a:off x="8467344" y="3154680"/>
            <a:ext cx="2834640" cy="50292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Verständigen</a:t>
            </a:r>
            <a:endParaRPr lang="en-US" sz="2400" dirty="0"/>
          </a:p>
        </p:txBody>
      </p:sp>
      <p:sp>
        <p:nvSpPr>
          <p:cNvPr id="18" name="Text 16"/>
          <p:cNvSpPr txBox="1"/>
          <p:nvPr/>
        </p:nvSpPr>
        <p:spPr>
          <a:xfrm>
            <a:off x="8467344" y="3703320"/>
            <a:ext cx="2834640" cy="1920240"/>
          </a:xfrm>
          <a:prstGeom prst="rect">
            <a:avLst/>
          </a:prstGeom>
          <a:noFill/>
          <a:ln/>
        </p:spPr>
        <p:txBody>
          <a:bodyPr wrap="square" lIns="0" tIns="0" rIns="0" bIns="0" rtlCol="0" anchor="t"/>
          <a:lstStyle/>
          <a:p>
            <a:pPr indent="0" marL="0">
              <a:buNone/>
            </a:pPr>
            <a:r>
              <a:rPr lang="en-US" sz="1700" dirty="0">
                <a:solidFill>
                  <a:srgbClr val="D5DAE0"/>
                </a:solidFill>
                <a:latin typeface="Arial" pitchFamily="34" charset="0"/>
                <a:ea typeface="Arial" pitchFamily="34" charset="-122"/>
                <a:cs typeface="Arial" pitchFamily="34" charset="-120"/>
              </a:rPr>
              <a:t>Verlass dich auf einen Verzicht erst, wenn ihr euch verständigt habt.</a:t>
            </a:r>
            <a:endParaRPr lang="en-US" sz="17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06 · BESONDERE LAGEN</a:t>
            </a:r>
            <a:endParaRPr lang="en-US" sz="1200" dirty="0"/>
          </a:p>
        </p:txBody>
      </p:sp>
      <p:sp>
        <p:nvSpPr>
          <p:cNvPr id="3" name="Text 1"/>
          <p:cNvSpPr txBox="1"/>
          <p:nvPr/>
        </p:nvSpPr>
        <p:spPr>
          <a:xfrm>
            <a:off x="548640" y="676656"/>
            <a:ext cx="822960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Spritsparend durch die Kreuzung</a:t>
            </a:r>
            <a:endParaRPr lang="en-US" sz="3200" dirty="0"/>
          </a:p>
        </p:txBody>
      </p:sp>
      <p:sp>
        <p:nvSpPr>
          <p:cNvPr id="4" name="Shape 2"/>
          <p:cNvSpPr/>
          <p:nvPr/>
        </p:nvSpPr>
        <p:spPr>
          <a:xfrm>
            <a:off x="9361627" y="457200"/>
            <a:ext cx="2281428" cy="384048"/>
          </a:xfrm>
          <a:prstGeom prst="roundRect">
            <a:avLst>
              <a:gd name="adj" fmla="val 50000"/>
            </a:avLst>
          </a:prstGeom>
          <a:solidFill>
            <a:srgbClr val="F1F3F6"/>
          </a:solidFill>
          <a:ln w="12700">
            <a:solidFill>
              <a:srgbClr val="F1F3F6"/>
            </a:solidFill>
            <a:prstDash val="solid"/>
          </a:ln>
        </p:spPr>
      </p:sp>
      <p:sp>
        <p:nvSpPr>
          <p:cNvPr id="5" name="Text 3"/>
          <p:cNvSpPr txBox="1"/>
          <p:nvPr/>
        </p:nvSpPr>
        <p:spPr>
          <a:xfrm>
            <a:off x="9361627" y="457200"/>
            <a:ext cx="2281428" cy="384048"/>
          </a:xfrm>
          <a:prstGeom prst="rect">
            <a:avLst/>
          </a:prstGeom>
          <a:noFill/>
          <a:ln/>
        </p:spPr>
        <p:txBody>
          <a:bodyPr wrap="square" lIns="0" tIns="0" rIns="0" bIns="0" rtlCol="0" anchor="ctr"/>
          <a:lstStyle/>
          <a:p>
            <a:pPr algn="ctr" indent="0" marL="0">
              <a:buNone/>
            </a:pPr>
            <a:r>
              <a:rPr lang="en-US" sz="1200" b="1" dirty="0">
                <a:solidFill>
                  <a:srgbClr val="56606B"/>
                </a:solidFill>
                <a:latin typeface="Arial" pitchFamily="34" charset="0"/>
                <a:ea typeface="Arial" pitchFamily="34" charset="-122"/>
                <a:cs typeface="Arial" pitchFamily="34" charset="-120"/>
              </a:rPr>
              <a:t>Anlage 1 FahrschAusbO</a:t>
            </a:r>
            <a:endParaRPr lang="en-US" sz="1200" dirty="0"/>
          </a:p>
        </p:txBody>
      </p:sp>
      <p:sp>
        <p:nvSpPr>
          <p:cNvPr id="6" name="Shape 4"/>
          <p:cNvSpPr/>
          <p:nvPr/>
        </p:nvSpPr>
        <p:spPr>
          <a:xfrm>
            <a:off x="6126480" y="1645920"/>
            <a:ext cx="5513832" cy="3291840"/>
          </a:xfrm>
          <a:prstGeom prst="roundRect">
            <a:avLst>
              <a:gd name="adj" fmla="val 5000"/>
            </a:avLst>
          </a:prstGeom>
          <a:solidFill>
            <a:srgbClr val="F1F3F6"/>
          </a:solidFill>
          <a:ln w="12700">
            <a:solidFill>
              <a:srgbClr val="F1F3F6"/>
            </a:solidFill>
            <a:prstDash val="solid"/>
          </a:ln>
        </p:spPr>
      </p:sp>
      <p:sp>
        <p:nvSpPr>
          <p:cNvPr id="7" name="Shape 5"/>
          <p:cNvSpPr/>
          <p:nvPr/>
        </p:nvSpPr>
        <p:spPr>
          <a:xfrm>
            <a:off x="6675120" y="4206240"/>
            <a:ext cx="4599432" cy="0"/>
          </a:xfrm>
          <a:prstGeom prst="line">
            <a:avLst/>
          </a:prstGeom>
          <a:noFill/>
          <a:ln w="15875">
            <a:solidFill>
              <a:srgbClr val="B7C0CA"/>
            </a:solidFill>
            <a:prstDash val="solid"/>
          </a:ln>
        </p:spPr>
      </p:sp>
      <p:sp>
        <p:nvSpPr>
          <p:cNvPr id="8" name="Shape 6"/>
          <p:cNvSpPr/>
          <p:nvPr/>
        </p:nvSpPr>
        <p:spPr>
          <a:xfrm>
            <a:off x="6675120" y="2011680"/>
            <a:ext cx="0" cy="2194560"/>
          </a:xfrm>
          <a:prstGeom prst="line">
            <a:avLst/>
          </a:prstGeom>
          <a:noFill/>
          <a:ln w="15875">
            <a:solidFill>
              <a:srgbClr val="B7C0CA"/>
            </a:solidFill>
            <a:prstDash val="solid"/>
          </a:ln>
        </p:spPr>
      </p:sp>
      <p:sp>
        <p:nvSpPr>
          <p:cNvPr id="9" name="Text 7"/>
          <p:cNvSpPr txBox="1"/>
          <p:nvPr/>
        </p:nvSpPr>
        <p:spPr>
          <a:xfrm>
            <a:off x="6263640" y="1965960"/>
            <a:ext cx="82296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Tempo</a:t>
            </a:r>
            <a:endParaRPr lang="en-US" sz="1200" dirty="0"/>
          </a:p>
        </p:txBody>
      </p:sp>
      <p:sp>
        <p:nvSpPr>
          <p:cNvPr id="10" name="Text 8"/>
          <p:cNvSpPr txBox="1"/>
          <p:nvPr/>
        </p:nvSpPr>
        <p:spPr>
          <a:xfrm>
            <a:off x="8531352" y="4297680"/>
            <a:ext cx="2743200" cy="274320"/>
          </a:xfrm>
          <a:prstGeom prst="rect">
            <a:avLst/>
          </a:prstGeom>
          <a:noFill/>
          <a:ln/>
        </p:spPr>
        <p:txBody>
          <a:bodyPr wrap="square" lIns="0" tIns="0" rIns="0" bIns="0" rtlCol="0" anchor="t"/>
          <a:lstStyle/>
          <a:p>
            <a:pPr algn="r" indent="0" marL="0">
              <a:buNone/>
            </a:pPr>
            <a:r>
              <a:rPr lang="en-US" sz="1200" dirty="0">
                <a:solidFill>
                  <a:srgbClr val="56606B"/>
                </a:solidFill>
                <a:latin typeface="Arial" pitchFamily="34" charset="0"/>
                <a:ea typeface="Arial" pitchFamily="34" charset="-122"/>
                <a:cs typeface="Arial" pitchFamily="34" charset="-120"/>
              </a:rPr>
              <a:t>Weg bis zur roten Ampel →</a:t>
            </a:r>
            <a:endParaRPr lang="en-US" sz="1200" dirty="0"/>
          </a:p>
        </p:txBody>
      </p:sp>
      <p:sp>
        <p:nvSpPr>
          <p:cNvPr id="11" name="Shape 9"/>
          <p:cNvSpPr/>
          <p:nvPr/>
        </p:nvSpPr>
        <p:spPr>
          <a:xfrm>
            <a:off x="6675120" y="2011680"/>
            <a:ext cx="4599432" cy="2194560"/>
          </a:xfrm>
          <a:custGeom>
            <a:avLst/>
            <a:gdLst/>
            <a:ahLst/>
            <a:cxnLst/>
            <a:rect l="l" t="t" r="r" b="b"/>
            <a:pathLst>
              <a:path w="4599432" h="2194560">
                <a:moveTo>
                  <a:pt x="0" y="877824"/>
                </a:moveTo>
                <a:lnTo>
                  <a:pt x="2069744" y="219456"/>
                </a:lnTo>
                <a:lnTo>
                  <a:pt x="3679546" y="219456"/>
                </a:lnTo>
                <a:lnTo>
                  <a:pt x="4599432" y="2150669"/>
                </a:lnTo>
              </a:path>
            </a:pathLst>
          </a:custGeom>
          <a:noFill/>
          <a:ln w="38100">
            <a:solidFill>
              <a:srgbClr val="8D97A3"/>
            </a:solidFill>
            <a:prstDash val="solid"/>
          </a:ln>
        </p:spPr>
      </p:sp>
      <p:sp>
        <p:nvSpPr>
          <p:cNvPr id="12" name="Shape 10"/>
          <p:cNvSpPr/>
          <p:nvPr/>
        </p:nvSpPr>
        <p:spPr>
          <a:xfrm>
            <a:off x="6675120" y="2011680"/>
            <a:ext cx="4599432" cy="2194560"/>
          </a:xfrm>
          <a:custGeom>
            <a:avLst/>
            <a:gdLst/>
            <a:ahLst/>
            <a:cxnLst/>
            <a:rect l="l" t="t" r="r" b="b"/>
            <a:pathLst>
              <a:path w="4599432" h="2194560">
                <a:moveTo>
                  <a:pt x="0" y="877824"/>
                </a:moveTo>
                <a:lnTo>
                  <a:pt x="1149858" y="833933"/>
                </a:lnTo>
                <a:quadBezTo>
                  <a:pt x="3449574" y="987552"/>
                  <a:pt x="4599432" y="2150669"/>
                </a:quadBezTo>
              </a:path>
            </a:pathLst>
          </a:custGeom>
          <a:noFill/>
          <a:ln w="50800">
            <a:solidFill>
              <a:srgbClr val="FF9300"/>
            </a:solidFill>
            <a:prstDash val="solid"/>
          </a:ln>
        </p:spPr>
      </p:sp>
      <p:sp>
        <p:nvSpPr>
          <p:cNvPr id="13" name="Shape 11"/>
          <p:cNvSpPr/>
          <p:nvPr/>
        </p:nvSpPr>
        <p:spPr>
          <a:xfrm>
            <a:off x="6446520" y="5157216"/>
            <a:ext cx="384048" cy="219456"/>
          </a:xfrm>
          <a:prstGeom prst="roundRect">
            <a:avLst>
              <a:gd name="adj" fmla="val 25000"/>
            </a:avLst>
          </a:prstGeom>
          <a:solidFill>
            <a:srgbClr val="8D97A3"/>
          </a:solidFill>
          <a:ln w="12700">
            <a:solidFill>
              <a:srgbClr val="FFFFFF"/>
            </a:solidFill>
            <a:prstDash val="solid"/>
          </a:ln>
        </p:spPr>
      </p:sp>
      <p:sp>
        <p:nvSpPr>
          <p:cNvPr id="14" name="Text 12"/>
          <p:cNvSpPr txBox="1"/>
          <p:nvPr/>
        </p:nvSpPr>
        <p:spPr>
          <a:xfrm>
            <a:off x="6949440" y="5120640"/>
            <a:ext cx="4754880" cy="310896"/>
          </a:xfrm>
          <a:prstGeom prst="rect">
            <a:avLst/>
          </a:prstGeom>
          <a:noFill/>
          <a:ln/>
        </p:spPr>
        <p:txBody>
          <a:bodyPr wrap="square" lIns="0" tIns="0" rIns="0" bIns="0" rtlCol="0" anchor="ctr"/>
          <a:lstStyle/>
          <a:p>
            <a:pPr indent="0" marL="0">
              <a:buNone/>
            </a:pPr>
            <a:r>
              <a:rPr lang="en-US" sz="1500" dirty="0">
                <a:solidFill>
                  <a:srgbClr val="343B44"/>
                </a:solidFill>
                <a:latin typeface="Arial" pitchFamily="34" charset="0"/>
                <a:ea typeface="Arial" pitchFamily="34" charset="-122"/>
                <a:cs typeface="Arial" pitchFamily="34" charset="-120"/>
              </a:rPr>
              <a:t>Gas bis kurz vorher, dann hart bremsen</a:t>
            </a:r>
            <a:endParaRPr lang="en-US" sz="1500" dirty="0"/>
          </a:p>
        </p:txBody>
      </p:sp>
      <p:sp>
        <p:nvSpPr>
          <p:cNvPr id="15" name="Shape 13"/>
          <p:cNvSpPr/>
          <p:nvPr/>
        </p:nvSpPr>
        <p:spPr>
          <a:xfrm>
            <a:off x="6446520" y="5541264"/>
            <a:ext cx="384048" cy="219456"/>
          </a:xfrm>
          <a:prstGeom prst="roundRect">
            <a:avLst>
              <a:gd name="adj" fmla="val 25000"/>
            </a:avLst>
          </a:prstGeom>
          <a:solidFill>
            <a:srgbClr val="FF9300"/>
          </a:solidFill>
          <a:ln w="12700">
            <a:solidFill>
              <a:srgbClr val="FFFFFF"/>
            </a:solidFill>
            <a:prstDash val="solid"/>
          </a:ln>
        </p:spPr>
      </p:sp>
      <p:sp>
        <p:nvSpPr>
          <p:cNvPr id="16" name="Text 14"/>
          <p:cNvSpPr txBox="1"/>
          <p:nvPr/>
        </p:nvSpPr>
        <p:spPr>
          <a:xfrm>
            <a:off x="6949440" y="5504688"/>
            <a:ext cx="4754880" cy="310896"/>
          </a:xfrm>
          <a:prstGeom prst="rect">
            <a:avLst/>
          </a:prstGeom>
          <a:noFill/>
          <a:ln/>
        </p:spPr>
        <p:txBody>
          <a:bodyPr wrap="square" lIns="0" tIns="0" rIns="0" bIns="0" rtlCol="0" anchor="ctr"/>
          <a:lstStyle/>
          <a:p>
            <a:pPr indent="0" marL="0">
              <a:buNone/>
            </a:pPr>
            <a:r>
              <a:rPr lang="en-US" sz="1500" dirty="0">
                <a:solidFill>
                  <a:srgbClr val="343B44"/>
                </a:solidFill>
                <a:latin typeface="Arial" pitchFamily="34" charset="0"/>
                <a:ea typeface="Arial" pitchFamily="34" charset="-122"/>
                <a:cs typeface="Arial" pitchFamily="34" charset="-120"/>
              </a:rPr>
              <a:t>Früh vom Gas, rollen lassen</a:t>
            </a:r>
            <a:endParaRPr lang="en-US" sz="1500" dirty="0"/>
          </a:p>
        </p:txBody>
      </p:sp>
      <p:sp>
        <p:nvSpPr>
          <p:cNvPr id="17" name="Shape 15"/>
          <p:cNvSpPr/>
          <p:nvPr/>
        </p:nvSpPr>
        <p:spPr>
          <a:xfrm>
            <a:off x="580644" y="1888236"/>
            <a:ext cx="155448" cy="155448"/>
          </a:xfrm>
          <a:prstGeom prst="ellipse">
            <a:avLst/>
          </a:prstGeom>
          <a:solidFill>
            <a:srgbClr val="FF9300"/>
          </a:solidFill>
          <a:ln w="12700">
            <a:solidFill>
              <a:srgbClr val="FF9300"/>
            </a:solidFill>
            <a:prstDash val="solid"/>
          </a:ln>
        </p:spPr>
      </p:sp>
      <p:sp>
        <p:nvSpPr>
          <p:cNvPr id="18" name="Text 16"/>
          <p:cNvSpPr txBox="1"/>
          <p:nvPr/>
        </p:nvSpPr>
        <p:spPr>
          <a:xfrm>
            <a:off x="932688" y="1783080"/>
            <a:ext cx="4828032" cy="978408"/>
          </a:xfrm>
          <a:prstGeom prst="rect">
            <a:avLst/>
          </a:prstGeom>
          <a:noFill/>
          <a:ln/>
        </p:spPr>
        <p:txBody>
          <a:bodyPr wrap="square" lIns="0" tIns="0" rIns="0" bIns="0" rtlCol="0" anchor="t"/>
          <a:lstStyle/>
          <a:p>
            <a:pPr indent="0" marL="0">
              <a:lnSpc>
                <a:spcPct val="105000"/>
              </a:lnSpc>
              <a:buNone/>
            </a:pPr>
            <a:r>
              <a:rPr lang="en-US" sz="1800" b="1" dirty="0">
                <a:solidFill>
                  <a:srgbClr val="15181D"/>
                </a:solidFill>
                <a:latin typeface="Arial" pitchFamily="34" charset="0"/>
                <a:ea typeface="Arial" pitchFamily="34" charset="-122"/>
                <a:cs typeface="Arial" pitchFamily="34" charset="-120"/>
              </a:rPr>
              <a:t>Früh sehen: </a:t>
            </a:r>
            <a:pPr indent="0" marL="0">
              <a:lnSpc>
                <a:spcPct val="105000"/>
              </a:lnSpc>
              <a:buNone/>
            </a:pPr>
            <a:r>
              <a:rPr lang="en-US" sz="1800" dirty="0">
                <a:solidFill>
                  <a:srgbClr val="343B44"/>
                </a:solidFill>
                <a:latin typeface="Arial" pitchFamily="34" charset="0"/>
                <a:ea typeface="Arial" pitchFamily="34" charset="-122"/>
                <a:cs typeface="Arial" pitchFamily="34" charset="-120"/>
              </a:rPr>
              <a:t>Rote Ampel oder Wartepflicht erkannt? Vom Gas, rollen lassen.</a:t>
            </a:r>
            <a:endParaRPr lang="en-US" sz="1800" dirty="0"/>
          </a:p>
        </p:txBody>
      </p:sp>
      <p:sp>
        <p:nvSpPr>
          <p:cNvPr id="19" name="Shape 17"/>
          <p:cNvSpPr/>
          <p:nvPr/>
        </p:nvSpPr>
        <p:spPr>
          <a:xfrm>
            <a:off x="580644" y="2939796"/>
            <a:ext cx="155448" cy="155448"/>
          </a:xfrm>
          <a:prstGeom prst="ellipse">
            <a:avLst/>
          </a:prstGeom>
          <a:solidFill>
            <a:srgbClr val="FF9300"/>
          </a:solidFill>
          <a:ln w="12700">
            <a:solidFill>
              <a:srgbClr val="FF9300"/>
            </a:solidFill>
            <a:prstDash val="solid"/>
          </a:ln>
        </p:spPr>
      </p:sp>
      <p:sp>
        <p:nvSpPr>
          <p:cNvPr id="20" name="Text 18"/>
          <p:cNvSpPr txBox="1"/>
          <p:nvPr/>
        </p:nvSpPr>
        <p:spPr>
          <a:xfrm>
            <a:off x="932688" y="2834640"/>
            <a:ext cx="4828032" cy="978408"/>
          </a:xfrm>
          <a:prstGeom prst="rect">
            <a:avLst/>
          </a:prstGeom>
          <a:noFill/>
          <a:ln/>
        </p:spPr>
        <p:txBody>
          <a:bodyPr wrap="square" lIns="0" tIns="0" rIns="0" bIns="0" rtlCol="0" anchor="t"/>
          <a:lstStyle/>
          <a:p>
            <a:pPr indent="0" marL="0">
              <a:lnSpc>
                <a:spcPct val="105000"/>
              </a:lnSpc>
              <a:buNone/>
            </a:pPr>
            <a:r>
              <a:rPr lang="en-US" sz="1800" b="1" dirty="0">
                <a:solidFill>
                  <a:srgbClr val="15181D"/>
                </a:solidFill>
                <a:latin typeface="Arial" pitchFamily="34" charset="0"/>
                <a:ea typeface="Arial" pitchFamily="34" charset="-122"/>
                <a:cs typeface="Arial" pitchFamily="34" charset="-120"/>
              </a:rPr>
              <a:t>Im Schub </a:t>
            </a:r>
            <a:pPr indent="0" marL="0">
              <a:lnSpc>
                <a:spcPct val="105000"/>
              </a:lnSpc>
              <a:buNone/>
            </a:pPr>
            <a:r>
              <a:rPr lang="en-US" sz="1800" dirty="0">
                <a:solidFill>
                  <a:srgbClr val="343B44"/>
                </a:solidFill>
                <a:latin typeface="Arial" pitchFamily="34" charset="0"/>
                <a:ea typeface="Arial" pitchFamily="34" charset="-122"/>
                <a:cs typeface="Arial" pitchFamily="34" charset="-120"/>
              </a:rPr>
              <a:t>verbraucht ein Verbrenner fast nichts, ein E-Auto gewinnt Energie zurück.</a:t>
            </a:r>
            <a:endParaRPr lang="en-US" sz="1800" dirty="0"/>
          </a:p>
        </p:txBody>
      </p:sp>
      <p:sp>
        <p:nvSpPr>
          <p:cNvPr id="21" name="Shape 19"/>
          <p:cNvSpPr/>
          <p:nvPr/>
        </p:nvSpPr>
        <p:spPr>
          <a:xfrm>
            <a:off x="580644" y="3991356"/>
            <a:ext cx="155448" cy="155448"/>
          </a:xfrm>
          <a:prstGeom prst="ellipse">
            <a:avLst/>
          </a:prstGeom>
          <a:solidFill>
            <a:srgbClr val="FF9300"/>
          </a:solidFill>
          <a:ln w="12700">
            <a:solidFill>
              <a:srgbClr val="FF9300"/>
            </a:solidFill>
            <a:prstDash val="solid"/>
          </a:ln>
        </p:spPr>
      </p:sp>
      <p:sp>
        <p:nvSpPr>
          <p:cNvPr id="22" name="Text 20"/>
          <p:cNvSpPr txBox="1"/>
          <p:nvPr/>
        </p:nvSpPr>
        <p:spPr>
          <a:xfrm>
            <a:off x="932688" y="3886200"/>
            <a:ext cx="4828032" cy="978408"/>
          </a:xfrm>
          <a:prstGeom prst="rect">
            <a:avLst/>
          </a:prstGeom>
          <a:noFill/>
          <a:ln/>
        </p:spPr>
        <p:txBody>
          <a:bodyPr wrap="square" lIns="0" tIns="0" rIns="0" bIns="0" rtlCol="0" anchor="t"/>
          <a:lstStyle/>
          <a:p>
            <a:pPr indent="0" marL="0">
              <a:lnSpc>
                <a:spcPct val="105000"/>
              </a:lnSpc>
              <a:buNone/>
            </a:pPr>
            <a:r>
              <a:rPr lang="en-US" sz="1800" b="1" dirty="0">
                <a:solidFill>
                  <a:srgbClr val="15181D"/>
                </a:solidFill>
                <a:latin typeface="Arial" pitchFamily="34" charset="0"/>
                <a:ea typeface="Arial" pitchFamily="34" charset="-122"/>
                <a:cs typeface="Arial" pitchFamily="34" charset="-120"/>
              </a:rPr>
              <a:t>Zügig anfahren, </a:t>
            </a:r>
            <a:pPr indent="0" marL="0">
              <a:lnSpc>
                <a:spcPct val="105000"/>
              </a:lnSpc>
              <a:buNone/>
            </a:pPr>
            <a:r>
              <a:rPr lang="en-US" sz="1800" dirty="0">
                <a:solidFill>
                  <a:srgbClr val="343B44"/>
                </a:solidFill>
                <a:latin typeface="Arial" pitchFamily="34" charset="0"/>
                <a:ea typeface="Arial" pitchFamily="34" charset="-122"/>
                <a:cs typeface="Arial" pitchFamily="34" charset="-120"/>
              </a:rPr>
              <a:t>früh hochschalten, nicht bis zur Haltlinie beschleunigen.</a:t>
            </a:r>
            <a:endParaRPr lang="en-US" sz="1800" dirty="0"/>
          </a:p>
        </p:txBody>
      </p:sp>
      <p:sp>
        <p:nvSpPr>
          <p:cNvPr id="23" name="Shape 21"/>
          <p:cNvSpPr/>
          <p:nvPr/>
        </p:nvSpPr>
        <p:spPr>
          <a:xfrm>
            <a:off x="580644" y="5042916"/>
            <a:ext cx="155448" cy="155448"/>
          </a:xfrm>
          <a:prstGeom prst="ellipse">
            <a:avLst/>
          </a:prstGeom>
          <a:solidFill>
            <a:srgbClr val="FF9300"/>
          </a:solidFill>
          <a:ln w="12700">
            <a:solidFill>
              <a:srgbClr val="FF9300"/>
            </a:solidFill>
            <a:prstDash val="solid"/>
          </a:ln>
        </p:spPr>
      </p:sp>
      <p:sp>
        <p:nvSpPr>
          <p:cNvPr id="24" name="Text 22"/>
          <p:cNvSpPr txBox="1"/>
          <p:nvPr/>
        </p:nvSpPr>
        <p:spPr>
          <a:xfrm>
            <a:off x="932688" y="4937760"/>
            <a:ext cx="4828032" cy="978408"/>
          </a:xfrm>
          <a:prstGeom prst="rect">
            <a:avLst/>
          </a:prstGeom>
          <a:noFill/>
          <a:ln/>
        </p:spPr>
        <p:txBody>
          <a:bodyPr wrap="square" lIns="0" tIns="0" rIns="0" bIns="0" rtlCol="0" anchor="t"/>
          <a:lstStyle/>
          <a:p>
            <a:pPr indent="0" marL="0">
              <a:lnSpc>
                <a:spcPct val="105000"/>
              </a:lnSpc>
              <a:buNone/>
            </a:pPr>
            <a:r>
              <a:rPr lang="en-US" sz="1800" b="1" dirty="0">
                <a:solidFill>
                  <a:srgbClr val="15181D"/>
                </a:solidFill>
                <a:latin typeface="Arial" pitchFamily="34" charset="0"/>
                <a:ea typeface="Arial" pitchFamily="34" charset="-122"/>
                <a:cs typeface="Arial" pitchFamily="34" charset="-120"/>
              </a:rPr>
              <a:t>Längeres Warten: </a:t>
            </a:r>
            <a:pPr indent="0" marL="0">
              <a:lnSpc>
                <a:spcPct val="105000"/>
              </a:lnSpc>
              <a:buNone/>
            </a:pPr>
            <a:r>
              <a:rPr lang="en-US" sz="1800" dirty="0">
                <a:solidFill>
                  <a:srgbClr val="343B44"/>
                </a:solidFill>
                <a:latin typeface="Arial" pitchFamily="34" charset="0"/>
                <a:ea typeface="Arial" pitchFamily="34" charset="-122"/>
                <a:cs typeface="Arial" pitchFamily="34" charset="-120"/>
              </a:rPr>
              <a:t>Start-Stopp arbeiten lassen bzw. Motor aus.</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ZUSAMMENFASSUNG</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Das Wichtigste in sechs Sätzen</a:t>
            </a:r>
            <a:endParaRPr lang="en-US" sz="3200" dirty="0"/>
          </a:p>
        </p:txBody>
      </p:sp>
      <p:sp>
        <p:nvSpPr>
          <p:cNvPr id="4" name="Shape 2"/>
          <p:cNvSpPr/>
          <p:nvPr/>
        </p:nvSpPr>
        <p:spPr>
          <a:xfrm>
            <a:off x="548640" y="1645920"/>
            <a:ext cx="3566160" cy="2057400"/>
          </a:xfrm>
          <a:prstGeom prst="roundRect">
            <a:avLst>
              <a:gd name="adj" fmla="val 8000"/>
            </a:avLst>
          </a:prstGeom>
          <a:solidFill>
            <a:srgbClr val="F1F3F6"/>
          </a:solidFill>
          <a:ln w="12700">
            <a:solidFill>
              <a:srgbClr val="F1F3F6"/>
            </a:solidFill>
            <a:prstDash val="solid"/>
          </a:ln>
        </p:spPr>
      </p:sp>
      <p:sp>
        <p:nvSpPr>
          <p:cNvPr id="5" name="Shape 3"/>
          <p:cNvSpPr/>
          <p:nvPr/>
        </p:nvSpPr>
        <p:spPr>
          <a:xfrm>
            <a:off x="777240" y="1874520"/>
            <a:ext cx="548640" cy="548640"/>
          </a:xfrm>
          <a:prstGeom prst="ellipse">
            <a:avLst/>
          </a:prstGeom>
          <a:solidFill>
            <a:srgbClr val="FF9300"/>
          </a:solidFill>
          <a:ln w="19050">
            <a:solidFill>
              <a:srgbClr val="FFFFFF"/>
            </a:solidFill>
            <a:prstDash val="solid"/>
          </a:ln>
        </p:spPr>
      </p:sp>
      <p:sp>
        <p:nvSpPr>
          <p:cNvPr id="6" name="Text 4"/>
          <p:cNvSpPr txBox="1"/>
          <p:nvPr/>
        </p:nvSpPr>
        <p:spPr>
          <a:xfrm>
            <a:off x="777240" y="1874520"/>
            <a:ext cx="548640" cy="548640"/>
          </a:xfrm>
          <a:prstGeom prst="rect">
            <a:avLst/>
          </a:prstGeom>
          <a:noFill/>
          <a:ln/>
        </p:spPr>
        <p:txBody>
          <a:bodyPr wrap="square" lIns="0" tIns="0" rIns="0" bIns="0" rtlCol="0" anchor="ctr"/>
          <a:lstStyle/>
          <a:p>
            <a:pPr algn="ctr" indent="0" marL="0">
              <a:buNone/>
            </a:pPr>
            <a:r>
              <a:rPr lang="en-US" sz="2000" b="1" dirty="0">
                <a:solidFill>
                  <a:srgbClr val="15181D"/>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868680" y="2560320"/>
            <a:ext cx="2926080" cy="100584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Polizei vor Ampel vor Schild vor „rechts vor links“.</a:t>
            </a:r>
            <a:endParaRPr lang="en-US" sz="1700" dirty="0"/>
          </a:p>
        </p:txBody>
      </p:sp>
      <p:sp>
        <p:nvSpPr>
          <p:cNvPr id="8" name="Shape 6"/>
          <p:cNvSpPr/>
          <p:nvPr/>
        </p:nvSpPr>
        <p:spPr>
          <a:xfrm>
            <a:off x="4311396" y="1645920"/>
            <a:ext cx="3566160" cy="2057400"/>
          </a:xfrm>
          <a:prstGeom prst="roundRect">
            <a:avLst>
              <a:gd name="adj" fmla="val 8000"/>
            </a:avLst>
          </a:prstGeom>
          <a:solidFill>
            <a:srgbClr val="F1F3F6"/>
          </a:solidFill>
          <a:ln w="12700">
            <a:solidFill>
              <a:srgbClr val="F1F3F6"/>
            </a:solidFill>
            <a:prstDash val="solid"/>
          </a:ln>
        </p:spPr>
      </p:sp>
      <p:sp>
        <p:nvSpPr>
          <p:cNvPr id="9" name="Shape 7"/>
          <p:cNvSpPr/>
          <p:nvPr/>
        </p:nvSpPr>
        <p:spPr>
          <a:xfrm>
            <a:off x="4539996" y="1874520"/>
            <a:ext cx="548640" cy="548640"/>
          </a:xfrm>
          <a:prstGeom prst="ellipse">
            <a:avLst/>
          </a:prstGeom>
          <a:solidFill>
            <a:srgbClr val="FF9300"/>
          </a:solidFill>
          <a:ln w="19050">
            <a:solidFill>
              <a:srgbClr val="FFFFFF"/>
            </a:solidFill>
            <a:prstDash val="solid"/>
          </a:ln>
        </p:spPr>
      </p:sp>
      <p:sp>
        <p:nvSpPr>
          <p:cNvPr id="10" name="Text 8"/>
          <p:cNvSpPr txBox="1"/>
          <p:nvPr/>
        </p:nvSpPr>
        <p:spPr>
          <a:xfrm>
            <a:off x="4539996" y="1874520"/>
            <a:ext cx="548640" cy="548640"/>
          </a:xfrm>
          <a:prstGeom prst="rect">
            <a:avLst/>
          </a:prstGeom>
          <a:noFill/>
          <a:ln/>
        </p:spPr>
        <p:txBody>
          <a:bodyPr wrap="square" lIns="0" tIns="0" rIns="0" bIns="0" rtlCol="0" anchor="ctr"/>
          <a:lstStyle/>
          <a:p>
            <a:pPr algn="ctr" indent="0" marL="0">
              <a:buNone/>
            </a:pPr>
            <a:r>
              <a:rPr lang="en-US" sz="2000" b="1" dirty="0">
                <a:solidFill>
                  <a:srgbClr val="15181D"/>
                </a:solidFill>
                <a:latin typeface="Arial" pitchFamily="34" charset="0"/>
                <a:ea typeface="Arial" pitchFamily="34" charset="-122"/>
                <a:cs typeface="Arial" pitchFamily="34" charset="-120"/>
              </a:rPr>
              <a:t>2</a:t>
            </a:r>
            <a:endParaRPr lang="en-US" sz="2000" dirty="0"/>
          </a:p>
        </p:txBody>
      </p:sp>
      <p:sp>
        <p:nvSpPr>
          <p:cNvPr id="11" name="Text 9"/>
          <p:cNvSpPr txBox="1"/>
          <p:nvPr/>
        </p:nvSpPr>
        <p:spPr>
          <a:xfrm>
            <a:off x="4631436" y="2560320"/>
            <a:ext cx="2926080" cy="100584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Rechts vor links gilt überall, wo nichts anderes geregelt ist – auch an Einmündungen.</a:t>
            </a:r>
            <a:endParaRPr lang="en-US" sz="1700" dirty="0"/>
          </a:p>
        </p:txBody>
      </p:sp>
      <p:sp>
        <p:nvSpPr>
          <p:cNvPr id="12" name="Shape 10"/>
          <p:cNvSpPr/>
          <p:nvPr/>
        </p:nvSpPr>
        <p:spPr>
          <a:xfrm>
            <a:off x="8074152" y="1645920"/>
            <a:ext cx="3566160" cy="2057400"/>
          </a:xfrm>
          <a:prstGeom prst="roundRect">
            <a:avLst>
              <a:gd name="adj" fmla="val 8000"/>
            </a:avLst>
          </a:prstGeom>
          <a:solidFill>
            <a:srgbClr val="F1F3F6"/>
          </a:solidFill>
          <a:ln w="12700">
            <a:solidFill>
              <a:srgbClr val="F1F3F6"/>
            </a:solidFill>
            <a:prstDash val="solid"/>
          </a:ln>
        </p:spPr>
      </p:sp>
      <p:sp>
        <p:nvSpPr>
          <p:cNvPr id="13" name="Shape 11"/>
          <p:cNvSpPr/>
          <p:nvPr/>
        </p:nvSpPr>
        <p:spPr>
          <a:xfrm>
            <a:off x="8302752" y="1874520"/>
            <a:ext cx="548640" cy="548640"/>
          </a:xfrm>
          <a:prstGeom prst="ellipse">
            <a:avLst/>
          </a:prstGeom>
          <a:solidFill>
            <a:srgbClr val="FF9300"/>
          </a:solidFill>
          <a:ln w="19050">
            <a:solidFill>
              <a:srgbClr val="FFFFFF"/>
            </a:solidFill>
            <a:prstDash val="solid"/>
          </a:ln>
        </p:spPr>
      </p:sp>
      <p:sp>
        <p:nvSpPr>
          <p:cNvPr id="14" name="Text 12"/>
          <p:cNvSpPr txBox="1"/>
          <p:nvPr/>
        </p:nvSpPr>
        <p:spPr>
          <a:xfrm>
            <a:off x="8302752" y="1874520"/>
            <a:ext cx="548640" cy="548640"/>
          </a:xfrm>
          <a:prstGeom prst="rect">
            <a:avLst/>
          </a:prstGeom>
          <a:noFill/>
          <a:ln/>
        </p:spPr>
        <p:txBody>
          <a:bodyPr wrap="square" lIns="0" tIns="0" rIns="0" bIns="0" rtlCol="0" anchor="ctr"/>
          <a:lstStyle/>
          <a:p>
            <a:pPr algn="ctr" indent="0" marL="0">
              <a:buNone/>
            </a:pPr>
            <a:r>
              <a:rPr lang="en-US" sz="2000" b="1" dirty="0">
                <a:solidFill>
                  <a:srgbClr val="15181D"/>
                </a:solidFill>
                <a:latin typeface="Arial" pitchFamily="34" charset="0"/>
                <a:ea typeface="Arial" pitchFamily="34" charset="-122"/>
                <a:cs typeface="Arial" pitchFamily="34" charset="-120"/>
              </a:rPr>
              <a:t>3</a:t>
            </a:r>
            <a:endParaRPr lang="en-US" sz="2000" dirty="0"/>
          </a:p>
        </p:txBody>
      </p:sp>
      <p:sp>
        <p:nvSpPr>
          <p:cNvPr id="15" name="Text 13"/>
          <p:cNvSpPr txBox="1"/>
          <p:nvPr/>
        </p:nvSpPr>
        <p:spPr>
          <a:xfrm>
            <a:off x="8394192" y="2560320"/>
            <a:ext cx="2926080" cy="100584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Wer einfährt – aus Grundstück, Feldweg oder verkehrsberuhigtem Bereich –, wartet auf alle.</a:t>
            </a:r>
            <a:endParaRPr lang="en-US" sz="1700" dirty="0"/>
          </a:p>
        </p:txBody>
      </p:sp>
      <p:sp>
        <p:nvSpPr>
          <p:cNvPr id="16" name="Shape 14"/>
          <p:cNvSpPr/>
          <p:nvPr/>
        </p:nvSpPr>
        <p:spPr>
          <a:xfrm>
            <a:off x="548640" y="3977640"/>
            <a:ext cx="3566160" cy="2057400"/>
          </a:xfrm>
          <a:prstGeom prst="roundRect">
            <a:avLst>
              <a:gd name="adj" fmla="val 8000"/>
            </a:avLst>
          </a:prstGeom>
          <a:solidFill>
            <a:srgbClr val="F1F3F6"/>
          </a:solidFill>
          <a:ln w="12700">
            <a:solidFill>
              <a:srgbClr val="F1F3F6"/>
            </a:solidFill>
            <a:prstDash val="solid"/>
          </a:ln>
        </p:spPr>
      </p:sp>
      <p:sp>
        <p:nvSpPr>
          <p:cNvPr id="17" name="Shape 15"/>
          <p:cNvSpPr/>
          <p:nvPr/>
        </p:nvSpPr>
        <p:spPr>
          <a:xfrm>
            <a:off x="777240" y="4206240"/>
            <a:ext cx="548640" cy="548640"/>
          </a:xfrm>
          <a:prstGeom prst="ellipse">
            <a:avLst/>
          </a:prstGeom>
          <a:solidFill>
            <a:srgbClr val="FF9300"/>
          </a:solidFill>
          <a:ln w="19050">
            <a:solidFill>
              <a:srgbClr val="FFFFFF"/>
            </a:solidFill>
            <a:prstDash val="solid"/>
          </a:ln>
        </p:spPr>
      </p:sp>
      <p:sp>
        <p:nvSpPr>
          <p:cNvPr id="18" name="Text 16"/>
          <p:cNvSpPr txBox="1"/>
          <p:nvPr/>
        </p:nvSpPr>
        <p:spPr>
          <a:xfrm>
            <a:off x="777240" y="4206240"/>
            <a:ext cx="548640" cy="548640"/>
          </a:xfrm>
          <a:prstGeom prst="rect">
            <a:avLst/>
          </a:prstGeom>
          <a:noFill/>
          <a:ln/>
        </p:spPr>
        <p:txBody>
          <a:bodyPr wrap="square" lIns="0" tIns="0" rIns="0" bIns="0" rtlCol="0" anchor="ctr"/>
          <a:lstStyle/>
          <a:p>
            <a:pPr algn="ctr" indent="0" marL="0">
              <a:buNone/>
            </a:pPr>
            <a:r>
              <a:rPr lang="en-US" sz="2000" b="1" dirty="0">
                <a:solidFill>
                  <a:srgbClr val="15181D"/>
                </a:solidFill>
                <a:latin typeface="Arial" pitchFamily="34" charset="0"/>
                <a:ea typeface="Arial" pitchFamily="34" charset="-122"/>
                <a:cs typeface="Arial" pitchFamily="34" charset="-120"/>
              </a:rPr>
              <a:t>4</a:t>
            </a:r>
            <a:endParaRPr lang="en-US" sz="2000" dirty="0"/>
          </a:p>
        </p:txBody>
      </p:sp>
      <p:sp>
        <p:nvSpPr>
          <p:cNvPr id="19" name="Text 17"/>
          <p:cNvSpPr txBox="1"/>
          <p:nvPr/>
        </p:nvSpPr>
        <p:spPr>
          <a:xfrm>
            <a:off x="868680" y="4892040"/>
            <a:ext cx="2926080" cy="100584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Stopp heißt: Räder stehen still.</a:t>
            </a:r>
            <a:endParaRPr lang="en-US" sz="1700" dirty="0"/>
          </a:p>
        </p:txBody>
      </p:sp>
      <p:sp>
        <p:nvSpPr>
          <p:cNvPr id="20" name="Shape 18"/>
          <p:cNvSpPr/>
          <p:nvPr/>
        </p:nvSpPr>
        <p:spPr>
          <a:xfrm>
            <a:off x="4311396" y="3977640"/>
            <a:ext cx="3566160" cy="2057400"/>
          </a:xfrm>
          <a:prstGeom prst="roundRect">
            <a:avLst>
              <a:gd name="adj" fmla="val 8000"/>
            </a:avLst>
          </a:prstGeom>
          <a:solidFill>
            <a:srgbClr val="F1F3F6"/>
          </a:solidFill>
          <a:ln w="12700">
            <a:solidFill>
              <a:srgbClr val="F1F3F6"/>
            </a:solidFill>
            <a:prstDash val="solid"/>
          </a:ln>
        </p:spPr>
      </p:sp>
      <p:sp>
        <p:nvSpPr>
          <p:cNvPr id="21" name="Shape 19"/>
          <p:cNvSpPr/>
          <p:nvPr/>
        </p:nvSpPr>
        <p:spPr>
          <a:xfrm>
            <a:off x="4539996" y="4206240"/>
            <a:ext cx="548640" cy="548640"/>
          </a:xfrm>
          <a:prstGeom prst="ellipse">
            <a:avLst/>
          </a:prstGeom>
          <a:solidFill>
            <a:srgbClr val="FF9300"/>
          </a:solidFill>
          <a:ln w="19050">
            <a:solidFill>
              <a:srgbClr val="FFFFFF"/>
            </a:solidFill>
            <a:prstDash val="solid"/>
          </a:ln>
        </p:spPr>
      </p:sp>
      <p:sp>
        <p:nvSpPr>
          <p:cNvPr id="22" name="Text 20"/>
          <p:cNvSpPr txBox="1"/>
          <p:nvPr/>
        </p:nvSpPr>
        <p:spPr>
          <a:xfrm>
            <a:off x="4539996" y="4206240"/>
            <a:ext cx="548640" cy="548640"/>
          </a:xfrm>
          <a:prstGeom prst="rect">
            <a:avLst/>
          </a:prstGeom>
          <a:noFill/>
          <a:ln/>
        </p:spPr>
        <p:txBody>
          <a:bodyPr wrap="square" lIns="0" tIns="0" rIns="0" bIns="0" rtlCol="0" anchor="ctr"/>
          <a:lstStyle/>
          <a:p>
            <a:pPr algn="ctr" indent="0" marL="0">
              <a:buNone/>
            </a:pPr>
            <a:r>
              <a:rPr lang="en-US" sz="2000" b="1" dirty="0">
                <a:solidFill>
                  <a:srgbClr val="15181D"/>
                </a:solidFill>
                <a:latin typeface="Arial" pitchFamily="34" charset="0"/>
                <a:ea typeface="Arial" pitchFamily="34" charset="-122"/>
                <a:cs typeface="Arial" pitchFamily="34" charset="-120"/>
              </a:rPr>
              <a:t>5</a:t>
            </a:r>
            <a:endParaRPr lang="en-US" sz="2000" dirty="0"/>
          </a:p>
        </p:txBody>
      </p:sp>
      <p:sp>
        <p:nvSpPr>
          <p:cNvPr id="23" name="Text 21"/>
          <p:cNvSpPr txBox="1"/>
          <p:nvPr/>
        </p:nvSpPr>
        <p:spPr>
          <a:xfrm>
            <a:off x="4631436" y="4892040"/>
            <a:ext cx="2926080" cy="100584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Linksabbieger lassen den Gegenverkehr durch – auch Rechtsabbieger.</a:t>
            </a:r>
            <a:endParaRPr lang="en-US" sz="1700" dirty="0"/>
          </a:p>
        </p:txBody>
      </p:sp>
      <p:sp>
        <p:nvSpPr>
          <p:cNvPr id="24" name="Shape 22"/>
          <p:cNvSpPr/>
          <p:nvPr/>
        </p:nvSpPr>
        <p:spPr>
          <a:xfrm>
            <a:off x="8074152" y="3977640"/>
            <a:ext cx="3566160" cy="2057400"/>
          </a:xfrm>
          <a:prstGeom prst="roundRect">
            <a:avLst>
              <a:gd name="adj" fmla="val 8000"/>
            </a:avLst>
          </a:prstGeom>
          <a:solidFill>
            <a:srgbClr val="F1F3F6"/>
          </a:solidFill>
          <a:ln w="12700">
            <a:solidFill>
              <a:srgbClr val="F1F3F6"/>
            </a:solidFill>
            <a:prstDash val="solid"/>
          </a:ln>
        </p:spPr>
      </p:sp>
      <p:sp>
        <p:nvSpPr>
          <p:cNvPr id="25" name="Shape 23"/>
          <p:cNvSpPr/>
          <p:nvPr/>
        </p:nvSpPr>
        <p:spPr>
          <a:xfrm>
            <a:off x="8302752" y="4206240"/>
            <a:ext cx="548640" cy="548640"/>
          </a:xfrm>
          <a:prstGeom prst="ellipse">
            <a:avLst/>
          </a:prstGeom>
          <a:solidFill>
            <a:srgbClr val="FF9300"/>
          </a:solidFill>
          <a:ln w="19050">
            <a:solidFill>
              <a:srgbClr val="FFFFFF"/>
            </a:solidFill>
            <a:prstDash val="solid"/>
          </a:ln>
        </p:spPr>
      </p:sp>
      <p:sp>
        <p:nvSpPr>
          <p:cNvPr id="26" name="Text 24"/>
          <p:cNvSpPr txBox="1"/>
          <p:nvPr/>
        </p:nvSpPr>
        <p:spPr>
          <a:xfrm>
            <a:off x="8302752" y="4206240"/>
            <a:ext cx="548640" cy="548640"/>
          </a:xfrm>
          <a:prstGeom prst="rect">
            <a:avLst/>
          </a:prstGeom>
          <a:noFill/>
          <a:ln/>
        </p:spPr>
        <p:txBody>
          <a:bodyPr wrap="square" lIns="0" tIns="0" rIns="0" bIns="0" rtlCol="0" anchor="ctr"/>
          <a:lstStyle/>
          <a:p>
            <a:pPr algn="ctr" indent="0" marL="0">
              <a:buNone/>
            </a:pPr>
            <a:r>
              <a:rPr lang="en-US" sz="2000" b="1" dirty="0">
                <a:solidFill>
                  <a:srgbClr val="15181D"/>
                </a:solidFill>
                <a:latin typeface="Arial" pitchFamily="34" charset="0"/>
                <a:ea typeface="Arial" pitchFamily="34" charset="-122"/>
                <a:cs typeface="Arial" pitchFamily="34" charset="-120"/>
              </a:rPr>
              <a:t>6</a:t>
            </a:r>
            <a:endParaRPr lang="en-US" sz="2000" dirty="0"/>
          </a:p>
        </p:txBody>
      </p:sp>
      <p:sp>
        <p:nvSpPr>
          <p:cNvPr id="27" name="Text 25"/>
          <p:cNvSpPr txBox="1"/>
          <p:nvPr/>
        </p:nvSpPr>
        <p:spPr>
          <a:xfrm>
            <a:off x="8394192" y="4892040"/>
            <a:ext cx="2926080" cy="1005840"/>
          </a:xfrm>
          <a:prstGeom prst="rect">
            <a:avLst/>
          </a:prstGeom>
          <a:noFill/>
          <a:ln/>
        </p:spPr>
        <p:txBody>
          <a:bodyPr wrap="square" lIns="0" tIns="0" rIns="0" bIns="0" rtlCol="0" anchor="t"/>
          <a:lstStyle/>
          <a:p>
            <a:pPr indent="0" marL="0">
              <a:buNone/>
            </a:pPr>
            <a:r>
              <a:rPr lang="en-US" sz="1700" b="1" dirty="0">
                <a:solidFill>
                  <a:srgbClr val="15181D"/>
                </a:solidFill>
                <a:latin typeface="Arial" pitchFamily="34" charset="0"/>
                <a:ea typeface="Arial" pitchFamily="34" charset="-122"/>
                <a:cs typeface="Arial" pitchFamily="34" charset="-120"/>
              </a:rPr>
              <a:t>Kreisverkehr mit „Vorfahrt gewähren“: Drinnen hat Vorfahrt, beim Ausfahren blinken.</a:t>
            </a:r>
            <a:endParaRPr lang="en-US" sz="17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LERNSTANDSKONTROLLE</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Teste dich – fünf schnelle Fragen</a:t>
            </a:r>
            <a:endParaRPr lang="en-US" sz="3200" dirty="0"/>
          </a:p>
        </p:txBody>
      </p:sp>
      <p:sp>
        <p:nvSpPr>
          <p:cNvPr id="4" name="Shape 2"/>
          <p:cNvSpPr/>
          <p:nvPr/>
        </p:nvSpPr>
        <p:spPr>
          <a:xfrm>
            <a:off x="548640" y="1645920"/>
            <a:ext cx="11091672" cy="777240"/>
          </a:xfrm>
          <a:prstGeom prst="roundRect">
            <a:avLst>
              <a:gd name="adj" fmla="val 21176"/>
            </a:avLst>
          </a:prstGeom>
          <a:solidFill>
            <a:srgbClr val="1A1F26"/>
          </a:solidFill>
          <a:ln w="12700">
            <a:solidFill>
              <a:srgbClr val="1A1F26"/>
            </a:solidFill>
            <a:prstDash val="solid"/>
          </a:ln>
        </p:spPr>
      </p:sp>
      <p:sp>
        <p:nvSpPr>
          <p:cNvPr id="5" name="Shape 3"/>
          <p:cNvSpPr/>
          <p:nvPr/>
        </p:nvSpPr>
        <p:spPr>
          <a:xfrm>
            <a:off x="758952" y="1805940"/>
            <a:ext cx="457200" cy="457200"/>
          </a:xfrm>
          <a:prstGeom prst="ellipse">
            <a:avLst/>
          </a:prstGeom>
          <a:solidFill>
            <a:srgbClr val="FF9300"/>
          </a:solidFill>
          <a:ln w="19050">
            <a:solidFill>
              <a:srgbClr val="1A1F26"/>
            </a:solidFill>
            <a:prstDash val="solid"/>
          </a:ln>
        </p:spPr>
      </p:sp>
      <p:sp>
        <p:nvSpPr>
          <p:cNvPr id="6" name="Text 4"/>
          <p:cNvSpPr txBox="1"/>
          <p:nvPr/>
        </p:nvSpPr>
        <p:spPr>
          <a:xfrm>
            <a:off x="758952" y="1805940"/>
            <a:ext cx="457200" cy="457200"/>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1</a:t>
            </a:r>
            <a:endParaRPr lang="en-US" sz="1700" dirty="0"/>
          </a:p>
        </p:txBody>
      </p:sp>
      <p:sp>
        <p:nvSpPr>
          <p:cNvPr id="7" name="Text 5"/>
          <p:cNvSpPr txBox="1"/>
          <p:nvPr/>
        </p:nvSpPr>
        <p:spPr>
          <a:xfrm>
            <a:off x="1417320" y="1737360"/>
            <a:ext cx="9966960" cy="5943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Du fährst aus einer Tankstelle auf die Straße. Wer hat Vorfahrt?</a:t>
            </a:r>
            <a:endParaRPr lang="en-US" sz="1700" dirty="0"/>
          </a:p>
        </p:txBody>
      </p:sp>
      <p:sp>
        <p:nvSpPr>
          <p:cNvPr id="8" name="Shape 6"/>
          <p:cNvSpPr/>
          <p:nvPr/>
        </p:nvSpPr>
        <p:spPr>
          <a:xfrm>
            <a:off x="548640" y="2542032"/>
            <a:ext cx="11091672" cy="777240"/>
          </a:xfrm>
          <a:prstGeom prst="roundRect">
            <a:avLst>
              <a:gd name="adj" fmla="val 21176"/>
            </a:avLst>
          </a:prstGeom>
          <a:solidFill>
            <a:srgbClr val="1A1F26"/>
          </a:solidFill>
          <a:ln w="12700">
            <a:solidFill>
              <a:srgbClr val="1A1F26"/>
            </a:solidFill>
            <a:prstDash val="solid"/>
          </a:ln>
        </p:spPr>
      </p:sp>
      <p:sp>
        <p:nvSpPr>
          <p:cNvPr id="9" name="Shape 7"/>
          <p:cNvSpPr/>
          <p:nvPr/>
        </p:nvSpPr>
        <p:spPr>
          <a:xfrm>
            <a:off x="758952" y="2702052"/>
            <a:ext cx="457200" cy="457200"/>
          </a:xfrm>
          <a:prstGeom prst="ellipse">
            <a:avLst/>
          </a:prstGeom>
          <a:solidFill>
            <a:srgbClr val="FF9300"/>
          </a:solidFill>
          <a:ln w="19050">
            <a:solidFill>
              <a:srgbClr val="1A1F26"/>
            </a:solidFill>
            <a:prstDash val="solid"/>
          </a:ln>
        </p:spPr>
      </p:sp>
      <p:sp>
        <p:nvSpPr>
          <p:cNvPr id="10" name="Text 8"/>
          <p:cNvSpPr txBox="1"/>
          <p:nvPr/>
        </p:nvSpPr>
        <p:spPr>
          <a:xfrm>
            <a:off x="758952" y="2702052"/>
            <a:ext cx="457200" cy="457200"/>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2</a:t>
            </a:r>
            <a:endParaRPr lang="en-US" sz="1700" dirty="0"/>
          </a:p>
        </p:txBody>
      </p:sp>
      <p:sp>
        <p:nvSpPr>
          <p:cNvPr id="11" name="Text 9"/>
          <p:cNvSpPr txBox="1"/>
          <p:nvPr/>
        </p:nvSpPr>
        <p:spPr>
          <a:xfrm>
            <a:off x="1417320" y="2633472"/>
            <a:ext cx="9966960" cy="5943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Was bedeutet das Zeichen „Vorfahrt“ (Zeichen 301)?</a:t>
            </a:r>
            <a:endParaRPr lang="en-US" sz="1700" dirty="0"/>
          </a:p>
        </p:txBody>
      </p:sp>
      <p:sp>
        <p:nvSpPr>
          <p:cNvPr id="12" name="Shape 10"/>
          <p:cNvSpPr/>
          <p:nvPr/>
        </p:nvSpPr>
        <p:spPr>
          <a:xfrm>
            <a:off x="548640" y="3438144"/>
            <a:ext cx="11091672" cy="777240"/>
          </a:xfrm>
          <a:prstGeom prst="roundRect">
            <a:avLst>
              <a:gd name="adj" fmla="val 21176"/>
            </a:avLst>
          </a:prstGeom>
          <a:solidFill>
            <a:srgbClr val="1A1F26"/>
          </a:solidFill>
          <a:ln w="12700">
            <a:solidFill>
              <a:srgbClr val="1A1F26"/>
            </a:solidFill>
            <a:prstDash val="solid"/>
          </a:ln>
        </p:spPr>
      </p:sp>
      <p:sp>
        <p:nvSpPr>
          <p:cNvPr id="13" name="Shape 11"/>
          <p:cNvSpPr/>
          <p:nvPr/>
        </p:nvSpPr>
        <p:spPr>
          <a:xfrm>
            <a:off x="758952" y="3598164"/>
            <a:ext cx="457200" cy="457200"/>
          </a:xfrm>
          <a:prstGeom prst="ellipse">
            <a:avLst/>
          </a:prstGeom>
          <a:solidFill>
            <a:srgbClr val="FF9300"/>
          </a:solidFill>
          <a:ln w="19050">
            <a:solidFill>
              <a:srgbClr val="1A1F26"/>
            </a:solidFill>
            <a:prstDash val="solid"/>
          </a:ln>
        </p:spPr>
      </p:sp>
      <p:sp>
        <p:nvSpPr>
          <p:cNvPr id="14" name="Text 12"/>
          <p:cNvSpPr txBox="1"/>
          <p:nvPr/>
        </p:nvSpPr>
        <p:spPr>
          <a:xfrm>
            <a:off x="758952" y="3598164"/>
            <a:ext cx="457200" cy="457200"/>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3</a:t>
            </a:r>
            <a:endParaRPr lang="en-US" sz="1700" dirty="0"/>
          </a:p>
        </p:txBody>
      </p:sp>
      <p:sp>
        <p:nvSpPr>
          <p:cNvPr id="15" name="Text 13"/>
          <p:cNvSpPr txBox="1"/>
          <p:nvPr/>
        </p:nvSpPr>
        <p:spPr>
          <a:xfrm>
            <a:off x="1417320" y="3529584"/>
            <a:ext cx="9966960" cy="5943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Die Ampel ist aus, es gibt kein Schild. Was gilt?</a:t>
            </a:r>
            <a:endParaRPr lang="en-US" sz="1700" dirty="0"/>
          </a:p>
        </p:txBody>
      </p:sp>
      <p:sp>
        <p:nvSpPr>
          <p:cNvPr id="16" name="Shape 14"/>
          <p:cNvSpPr/>
          <p:nvPr/>
        </p:nvSpPr>
        <p:spPr>
          <a:xfrm>
            <a:off x="548640" y="4334256"/>
            <a:ext cx="11091672" cy="777240"/>
          </a:xfrm>
          <a:prstGeom prst="roundRect">
            <a:avLst>
              <a:gd name="adj" fmla="val 21176"/>
            </a:avLst>
          </a:prstGeom>
          <a:solidFill>
            <a:srgbClr val="1A1F26"/>
          </a:solidFill>
          <a:ln w="12700">
            <a:solidFill>
              <a:srgbClr val="1A1F26"/>
            </a:solidFill>
            <a:prstDash val="solid"/>
          </a:ln>
        </p:spPr>
      </p:sp>
      <p:sp>
        <p:nvSpPr>
          <p:cNvPr id="17" name="Shape 15"/>
          <p:cNvSpPr/>
          <p:nvPr/>
        </p:nvSpPr>
        <p:spPr>
          <a:xfrm>
            <a:off x="758952" y="4494276"/>
            <a:ext cx="457200" cy="457200"/>
          </a:xfrm>
          <a:prstGeom prst="ellipse">
            <a:avLst/>
          </a:prstGeom>
          <a:solidFill>
            <a:srgbClr val="FF9300"/>
          </a:solidFill>
          <a:ln w="19050">
            <a:solidFill>
              <a:srgbClr val="1A1F26"/>
            </a:solidFill>
            <a:prstDash val="solid"/>
          </a:ln>
        </p:spPr>
      </p:sp>
      <p:sp>
        <p:nvSpPr>
          <p:cNvPr id="18" name="Text 16"/>
          <p:cNvSpPr txBox="1"/>
          <p:nvPr/>
        </p:nvSpPr>
        <p:spPr>
          <a:xfrm>
            <a:off x="758952" y="4494276"/>
            <a:ext cx="457200" cy="457200"/>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4</a:t>
            </a:r>
            <a:endParaRPr lang="en-US" sz="1700" dirty="0"/>
          </a:p>
        </p:txBody>
      </p:sp>
      <p:sp>
        <p:nvSpPr>
          <p:cNvPr id="19" name="Text 17"/>
          <p:cNvSpPr txBox="1"/>
          <p:nvPr/>
        </p:nvSpPr>
        <p:spPr>
          <a:xfrm>
            <a:off x="1417320" y="4425696"/>
            <a:ext cx="9966960" cy="5943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Der Polizist zeigt dir die Brust, beide Arme seitlich. Was tust du?</a:t>
            </a:r>
            <a:endParaRPr lang="en-US" sz="1700" dirty="0"/>
          </a:p>
        </p:txBody>
      </p:sp>
      <p:sp>
        <p:nvSpPr>
          <p:cNvPr id="20" name="Shape 18"/>
          <p:cNvSpPr/>
          <p:nvPr/>
        </p:nvSpPr>
        <p:spPr>
          <a:xfrm>
            <a:off x="548640" y="5230368"/>
            <a:ext cx="11091672" cy="777240"/>
          </a:xfrm>
          <a:prstGeom prst="roundRect">
            <a:avLst>
              <a:gd name="adj" fmla="val 21176"/>
            </a:avLst>
          </a:prstGeom>
          <a:solidFill>
            <a:srgbClr val="1A1F26"/>
          </a:solidFill>
          <a:ln w="12700">
            <a:solidFill>
              <a:srgbClr val="1A1F26"/>
            </a:solidFill>
            <a:prstDash val="solid"/>
          </a:ln>
        </p:spPr>
      </p:sp>
      <p:sp>
        <p:nvSpPr>
          <p:cNvPr id="21" name="Shape 19"/>
          <p:cNvSpPr/>
          <p:nvPr/>
        </p:nvSpPr>
        <p:spPr>
          <a:xfrm>
            <a:off x="758952" y="5390388"/>
            <a:ext cx="457200" cy="457200"/>
          </a:xfrm>
          <a:prstGeom prst="ellipse">
            <a:avLst/>
          </a:prstGeom>
          <a:solidFill>
            <a:srgbClr val="FF9300"/>
          </a:solidFill>
          <a:ln w="19050">
            <a:solidFill>
              <a:srgbClr val="1A1F26"/>
            </a:solidFill>
            <a:prstDash val="solid"/>
          </a:ln>
        </p:spPr>
      </p:sp>
      <p:sp>
        <p:nvSpPr>
          <p:cNvPr id="22" name="Text 20"/>
          <p:cNvSpPr txBox="1"/>
          <p:nvPr/>
        </p:nvSpPr>
        <p:spPr>
          <a:xfrm>
            <a:off x="758952" y="5390388"/>
            <a:ext cx="457200" cy="457200"/>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5</a:t>
            </a:r>
            <a:endParaRPr lang="en-US" sz="1700" dirty="0"/>
          </a:p>
        </p:txBody>
      </p:sp>
      <p:sp>
        <p:nvSpPr>
          <p:cNvPr id="23" name="Text 21"/>
          <p:cNvSpPr txBox="1"/>
          <p:nvPr/>
        </p:nvSpPr>
        <p:spPr>
          <a:xfrm>
            <a:off x="1417320" y="5321808"/>
            <a:ext cx="9966960" cy="5943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Kreisverkehr mit „Vorfahrt gewähren“: Blinkst du beim Einfahren?</a:t>
            </a:r>
            <a:endParaRPr lang="en-US" sz="17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200" b="1" spc="200" kern="0" dirty="0">
                <a:solidFill>
                  <a:srgbClr val="FF9300"/>
                </a:solidFill>
                <a:latin typeface="Arial" pitchFamily="34" charset="0"/>
                <a:ea typeface="Arial" pitchFamily="34" charset="-122"/>
                <a:cs typeface="Arial" pitchFamily="34" charset="-120"/>
              </a:rPr>
              <a:t>LERNSTANDSKONTROLLE · AUFLÖSUNG</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Die Antworten</a:t>
            </a:r>
            <a:endParaRPr lang="en-US" sz="3200" dirty="0"/>
          </a:p>
        </p:txBody>
      </p:sp>
      <p:sp>
        <p:nvSpPr>
          <p:cNvPr id="4" name="Shape 2"/>
          <p:cNvSpPr/>
          <p:nvPr/>
        </p:nvSpPr>
        <p:spPr>
          <a:xfrm>
            <a:off x="548640" y="1645920"/>
            <a:ext cx="11091672" cy="777240"/>
          </a:xfrm>
          <a:prstGeom prst="roundRect">
            <a:avLst>
              <a:gd name="adj" fmla="val 21176"/>
            </a:avLst>
          </a:prstGeom>
          <a:solidFill>
            <a:srgbClr val="1A1F26"/>
          </a:solidFill>
          <a:ln w="12700">
            <a:solidFill>
              <a:srgbClr val="1A1F26"/>
            </a:solidFill>
            <a:prstDash val="solid"/>
          </a:ln>
        </p:spPr>
      </p:sp>
      <p:sp>
        <p:nvSpPr>
          <p:cNvPr id="5" name="Shape 3"/>
          <p:cNvSpPr/>
          <p:nvPr/>
        </p:nvSpPr>
        <p:spPr>
          <a:xfrm>
            <a:off x="758952" y="1805940"/>
            <a:ext cx="457200" cy="457200"/>
          </a:xfrm>
          <a:prstGeom prst="ellipse">
            <a:avLst/>
          </a:prstGeom>
          <a:solidFill>
            <a:srgbClr val="FF9300"/>
          </a:solidFill>
          <a:ln w="19050">
            <a:solidFill>
              <a:srgbClr val="1A1F26"/>
            </a:solidFill>
            <a:prstDash val="solid"/>
          </a:ln>
        </p:spPr>
      </p:sp>
      <p:sp>
        <p:nvSpPr>
          <p:cNvPr id="6" name="Text 4"/>
          <p:cNvSpPr txBox="1"/>
          <p:nvPr/>
        </p:nvSpPr>
        <p:spPr>
          <a:xfrm>
            <a:off x="758952" y="1805940"/>
            <a:ext cx="457200" cy="457200"/>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1</a:t>
            </a:r>
            <a:endParaRPr lang="en-US" sz="1700" dirty="0"/>
          </a:p>
        </p:txBody>
      </p:sp>
      <p:sp>
        <p:nvSpPr>
          <p:cNvPr id="7" name="Text 5"/>
          <p:cNvSpPr txBox="1"/>
          <p:nvPr/>
        </p:nvSpPr>
        <p:spPr>
          <a:xfrm>
            <a:off x="1417320" y="1737360"/>
            <a:ext cx="5486400" cy="5943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Du fährst aus einer Tankstelle auf die Straße. Wer hat Vorfahrt?</a:t>
            </a:r>
            <a:endParaRPr lang="en-US" sz="1700" dirty="0"/>
          </a:p>
        </p:txBody>
      </p:sp>
      <p:sp>
        <p:nvSpPr>
          <p:cNvPr id="8" name="Text 6"/>
          <p:cNvSpPr txBox="1"/>
          <p:nvPr/>
        </p:nvSpPr>
        <p:spPr>
          <a:xfrm>
            <a:off x="7086600" y="1737360"/>
            <a:ext cx="4389120" cy="594360"/>
          </a:xfrm>
          <a:prstGeom prst="rect">
            <a:avLst/>
          </a:prstGeom>
          <a:noFill/>
          <a:ln/>
        </p:spPr>
        <p:txBody>
          <a:bodyPr wrap="square" lIns="0" tIns="0" rIns="0" bIns="0" rtlCol="0" anchor="ctr"/>
          <a:lstStyle/>
          <a:p>
            <a:pPr indent="0" marL="0">
              <a:buNone/>
            </a:pPr>
            <a:r>
              <a:rPr lang="en-US" sz="1600" b="1" dirty="0">
                <a:solidFill>
                  <a:srgbClr val="FF9300"/>
                </a:solidFill>
                <a:latin typeface="Arial" pitchFamily="34" charset="0"/>
                <a:ea typeface="Arial" pitchFamily="34" charset="-122"/>
                <a:cs typeface="Arial" pitchFamily="34" charset="-120"/>
              </a:rPr>
              <a:t>Alle auf der Straße – du wartest (§ 10 StVO).</a:t>
            </a:r>
            <a:endParaRPr lang="en-US" sz="1600" dirty="0"/>
          </a:p>
        </p:txBody>
      </p:sp>
      <p:sp>
        <p:nvSpPr>
          <p:cNvPr id="9" name="Shape 7"/>
          <p:cNvSpPr/>
          <p:nvPr/>
        </p:nvSpPr>
        <p:spPr>
          <a:xfrm>
            <a:off x="548640" y="2542032"/>
            <a:ext cx="11091672" cy="777240"/>
          </a:xfrm>
          <a:prstGeom prst="roundRect">
            <a:avLst>
              <a:gd name="adj" fmla="val 21176"/>
            </a:avLst>
          </a:prstGeom>
          <a:solidFill>
            <a:srgbClr val="1A1F26"/>
          </a:solidFill>
          <a:ln w="12700">
            <a:solidFill>
              <a:srgbClr val="1A1F26"/>
            </a:solidFill>
            <a:prstDash val="solid"/>
          </a:ln>
        </p:spPr>
      </p:sp>
      <p:sp>
        <p:nvSpPr>
          <p:cNvPr id="10" name="Shape 8"/>
          <p:cNvSpPr/>
          <p:nvPr/>
        </p:nvSpPr>
        <p:spPr>
          <a:xfrm>
            <a:off x="758952" y="2702052"/>
            <a:ext cx="457200" cy="457200"/>
          </a:xfrm>
          <a:prstGeom prst="ellipse">
            <a:avLst/>
          </a:prstGeom>
          <a:solidFill>
            <a:srgbClr val="FF9300"/>
          </a:solidFill>
          <a:ln w="19050">
            <a:solidFill>
              <a:srgbClr val="1A1F26"/>
            </a:solidFill>
            <a:prstDash val="solid"/>
          </a:ln>
        </p:spPr>
      </p:sp>
      <p:sp>
        <p:nvSpPr>
          <p:cNvPr id="11" name="Text 9"/>
          <p:cNvSpPr txBox="1"/>
          <p:nvPr/>
        </p:nvSpPr>
        <p:spPr>
          <a:xfrm>
            <a:off x="758952" y="2702052"/>
            <a:ext cx="457200" cy="457200"/>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2</a:t>
            </a:r>
            <a:endParaRPr lang="en-US" sz="1700" dirty="0"/>
          </a:p>
        </p:txBody>
      </p:sp>
      <p:sp>
        <p:nvSpPr>
          <p:cNvPr id="12" name="Text 10"/>
          <p:cNvSpPr txBox="1"/>
          <p:nvPr/>
        </p:nvSpPr>
        <p:spPr>
          <a:xfrm>
            <a:off x="1417320" y="2633472"/>
            <a:ext cx="5486400" cy="5943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Was bedeutet das Zeichen „Vorfahrt“ (Zeichen 301)?</a:t>
            </a:r>
            <a:endParaRPr lang="en-US" sz="1700" dirty="0"/>
          </a:p>
        </p:txBody>
      </p:sp>
      <p:sp>
        <p:nvSpPr>
          <p:cNvPr id="13" name="Text 11"/>
          <p:cNvSpPr txBox="1"/>
          <p:nvPr/>
        </p:nvSpPr>
        <p:spPr>
          <a:xfrm>
            <a:off x="7086600" y="2633472"/>
            <a:ext cx="4389120" cy="594360"/>
          </a:xfrm>
          <a:prstGeom prst="rect">
            <a:avLst/>
          </a:prstGeom>
          <a:noFill/>
          <a:ln/>
        </p:spPr>
        <p:txBody>
          <a:bodyPr wrap="square" lIns="0" tIns="0" rIns="0" bIns="0" rtlCol="0" anchor="ctr"/>
          <a:lstStyle/>
          <a:p>
            <a:pPr indent="0" marL="0">
              <a:buNone/>
            </a:pPr>
            <a:r>
              <a:rPr lang="en-US" sz="1600" b="1" dirty="0">
                <a:solidFill>
                  <a:srgbClr val="FF9300"/>
                </a:solidFill>
                <a:latin typeface="Arial" pitchFamily="34" charset="0"/>
                <a:ea typeface="Arial" pitchFamily="34" charset="-122"/>
                <a:cs typeface="Arial" pitchFamily="34" charset="-120"/>
              </a:rPr>
              <a:t>Vorfahrt nur an der nächsten Kreuzung oder Einmündung.</a:t>
            </a:r>
            <a:endParaRPr lang="en-US" sz="1600" dirty="0"/>
          </a:p>
        </p:txBody>
      </p:sp>
      <p:sp>
        <p:nvSpPr>
          <p:cNvPr id="14" name="Shape 12"/>
          <p:cNvSpPr/>
          <p:nvPr/>
        </p:nvSpPr>
        <p:spPr>
          <a:xfrm>
            <a:off x="548640" y="3438144"/>
            <a:ext cx="11091672" cy="777240"/>
          </a:xfrm>
          <a:prstGeom prst="roundRect">
            <a:avLst>
              <a:gd name="adj" fmla="val 21176"/>
            </a:avLst>
          </a:prstGeom>
          <a:solidFill>
            <a:srgbClr val="1A1F26"/>
          </a:solidFill>
          <a:ln w="12700">
            <a:solidFill>
              <a:srgbClr val="1A1F26"/>
            </a:solidFill>
            <a:prstDash val="solid"/>
          </a:ln>
        </p:spPr>
      </p:sp>
      <p:sp>
        <p:nvSpPr>
          <p:cNvPr id="15" name="Shape 13"/>
          <p:cNvSpPr/>
          <p:nvPr/>
        </p:nvSpPr>
        <p:spPr>
          <a:xfrm>
            <a:off x="758952" y="3598164"/>
            <a:ext cx="457200" cy="457200"/>
          </a:xfrm>
          <a:prstGeom prst="ellipse">
            <a:avLst/>
          </a:prstGeom>
          <a:solidFill>
            <a:srgbClr val="FF9300"/>
          </a:solidFill>
          <a:ln w="19050">
            <a:solidFill>
              <a:srgbClr val="1A1F26"/>
            </a:solidFill>
            <a:prstDash val="solid"/>
          </a:ln>
        </p:spPr>
      </p:sp>
      <p:sp>
        <p:nvSpPr>
          <p:cNvPr id="16" name="Text 14"/>
          <p:cNvSpPr txBox="1"/>
          <p:nvPr/>
        </p:nvSpPr>
        <p:spPr>
          <a:xfrm>
            <a:off x="758952" y="3598164"/>
            <a:ext cx="457200" cy="457200"/>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3</a:t>
            </a:r>
            <a:endParaRPr lang="en-US" sz="1700" dirty="0"/>
          </a:p>
        </p:txBody>
      </p:sp>
      <p:sp>
        <p:nvSpPr>
          <p:cNvPr id="17" name="Text 15"/>
          <p:cNvSpPr txBox="1"/>
          <p:nvPr/>
        </p:nvSpPr>
        <p:spPr>
          <a:xfrm>
            <a:off x="1417320" y="3529584"/>
            <a:ext cx="5486400" cy="5943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Die Ampel ist aus, es gibt kein Schild. Was gilt?</a:t>
            </a:r>
            <a:endParaRPr lang="en-US" sz="1700" dirty="0"/>
          </a:p>
        </p:txBody>
      </p:sp>
      <p:sp>
        <p:nvSpPr>
          <p:cNvPr id="18" name="Text 16"/>
          <p:cNvSpPr txBox="1"/>
          <p:nvPr/>
        </p:nvSpPr>
        <p:spPr>
          <a:xfrm>
            <a:off x="7086600" y="3529584"/>
            <a:ext cx="4389120" cy="594360"/>
          </a:xfrm>
          <a:prstGeom prst="rect">
            <a:avLst/>
          </a:prstGeom>
          <a:noFill/>
          <a:ln/>
        </p:spPr>
        <p:txBody>
          <a:bodyPr wrap="square" lIns="0" tIns="0" rIns="0" bIns="0" rtlCol="0" anchor="ctr"/>
          <a:lstStyle/>
          <a:p>
            <a:pPr indent="0" marL="0">
              <a:buNone/>
            </a:pPr>
            <a:r>
              <a:rPr lang="en-US" sz="1600" b="1" dirty="0">
                <a:solidFill>
                  <a:srgbClr val="FF9300"/>
                </a:solidFill>
                <a:latin typeface="Arial" pitchFamily="34" charset="0"/>
                <a:ea typeface="Arial" pitchFamily="34" charset="-122"/>
                <a:cs typeface="Arial" pitchFamily="34" charset="-120"/>
              </a:rPr>
              <a:t>Rechts vor links.</a:t>
            </a:r>
            <a:endParaRPr lang="en-US" sz="1600" dirty="0"/>
          </a:p>
        </p:txBody>
      </p:sp>
      <p:sp>
        <p:nvSpPr>
          <p:cNvPr id="19" name="Shape 17"/>
          <p:cNvSpPr/>
          <p:nvPr/>
        </p:nvSpPr>
        <p:spPr>
          <a:xfrm>
            <a:off x="548640" y="4334256"/>
            <a:ext cx="11091672" cy="777240"/>
          </a:xfrm>
          <a:prstGeom prst="roundRect">
            <a:avLst>
              <a:gd name="adj" fmla="val 21176"/>
            </a:avLst>
          </a:prstGeom>
          <a:solidFill>
            <a:srgbClr val="1A1F26"/>
          </a:solidFill>
          <a:ln w="12700">
            <a:solidFill>
              <a:srgbClr val="1A1F26"/>
            </a:solidFill>
            <a:prstDash val="solid"/>
          </a:ln>
        </p:spPr>
      </p:sp>
      <p:sp>
        <p:nvSpPr>
          <p:cNvPr id="20" name="Shape 18"/>
          <p:cNvSpPr/>
          <p:nvPr/>
        </p:nvSpPr>
        <p:spPr>
          <a:xfrm>
            <a:off x="758952" y="4494276"/>
            <a:ext cx="457200" cy="457200"/>
          </a:xfrm>
          <a:prstGeom prst="ellipse">
            <a:avLst/>
          </a:prstGeom>
          <a:solidFill>
            <a:srgbClr val="FF9300"/>
          </a:solidFill>
          <a:ln w="19050">
            <a:solidFill>
              <a:srgbClr val="1A1F26"/>
            </a:solidFill>
            <a:prstDash val="solid"/>
          </a:ln>
        </p:spPr>
      </p:sp>
      <p:sp>
        <p:nvSpPr>
          <p:cNvPr id="21" name="Text 19"/>
          <p:cNvSpPr txBox="1"/>
          <p:nvPr/>
        </p:nvSpPr>
        <p:spPr>
          <a:xfrm>
            <a:off x="758952" y="4494276"/>
            <a:ext cx="457200" cy="457200"/>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4</a:t>
            </a:r>
            <a:endParaRPr lang="en-US" sz="1700" dirty="0"/>
          </a:p>
        </p:txBody>
      </p:sp>
      <p:sp>
        <p:nvSpPr>
          <p:cNvPr id="22" name="Text 20"/>
          <p:cNvSpPr txBox="1"/>
          <p:nvPr/>
        </p:nvSpPr>
        <p:spPr>
          <a:xfrm>
            <a:off x="1417320" y="4425696"/>
            <a:ext cx="5486400" cy="5943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Der Polizist zeigt dir die Brust, beide Arme seitlich. Was tust du?</a:t>
            </a:r>
            <a:endParaRPr lang="en-US" sz="1700" dirty="0"/>
          </a:p>
        </p:txBody>
      </p:sp>
      <p:sp>
        <p:nvSpPr>
          <p:cNvPr id="23" name="Text 21"/>
          <p:cNvSpPr txBox="1"/>
          <p:nvPr/>
        </p:nvSpPr>
        <p:spPr>
          <a:xfrm>
            <a:off x="7086600" y="4425696"/>
            <a:ext cx="4389120" cy="594360"/>
          </a:xfrm>
          <a:prstGeom prst="rect">
            <a:avLst/>
          </a:prstGeom>
          <a:noFill/>
          <a:ln/>
        </p:spPr>
        <p:txBody>
          <a:bodyPr wrap="square" lIns="0" tIns="0" rIns="0" bIns="0" rtlCol="0" anchor="ctr"/>
          <a:lstStyle/>
          <a:p>
            <a:pPr indent="0" marL="0">
              <a:buNone/>
            </a:pPr>
            <a:r>
              <a:rPr lang="en-US" sz="1600" b="1" dirty="0">
                <a:solidFill>
                  <a:srgbClr val="FF9300"/>
                </a:solidFill>
                <a:latin typeface="Arial" pitchFamily="34" charset="0"/>
                <a:ea typeface="Arial" pitchFamily="34" charset="-122"/>
                <a:cs typeface="Arial" pitchFamily="34" charset="-120"/>
              </a:rPr>
              <a:t>Halt vor der Kreuzung – der Querverkehr hat frei.</a:t>
            </a:r>
            <a:endParaRPr lang="en-US" sz="1600" dirty="0"/>
          </a:p>
        </p:txBody>
      </p:sp>
      <p:sp>
        <p:nvSpPr>
          <p:cNvPr id="24" name="Shape 22"/>
          <p:cNvSpPr/>
          <p:nvPr/>
        </p:nvSpPr>
        <p:spPr>
          <a:xfrm>
            <a:off x="548640" y="5230368"/>
            <a:ext cx="11091672" cy="777240"/>
          </a:xfrm>
          <a:prstGeom prst="roundRect">
            <a:avLst>
              <a:gd name="adj" fmla="val 21176"/>
            </a:avLst>
          </a:prstGeom>
          <a:solidFill>
            <a:srgbClr val="1A1F26"/>
          </a:solidFill>
          <a:ln w="12700">
            <a:solidFill>
              <a:srgbClr val="1A1F26"/>
            </a:solidFill>
            <a:prstDash val="solid"/>
          </a:ln>
        </p:spPr>
      </p:sp>
      <p:sp>
        <p:nvSpPr>
          <p:cNvPr id="25" name="Shape 23"/>
          <p:cNvSpPr/>
          <p:nvPr/>
        </p:nvSpPr>
        <p:spPr>
          <a:xfrm>
            <a:off x="758952" y="5390388"/>
            <a:ext cx="457200" cy="457200"/>
          </a:xfrm>
          <a:prstGeom prst="ellipse">
            <a:avLst/>
          </a:prstGeom>
          <a:solidFill>
            <a:srgbClr val="FF9300"/>
          </a:solidFill>
          <a:ln w="19050">
            <a:solidFill>
              <a:srgbClr val="1A1F26"/>
            </a:solidFill>
            <a:prstDash val="solid"/>
          </a:ln>
        </p:spPr>
      </p:sp>
      <p:sp>
        <p:nvSpPr>
          <p:cNvPr id="26" name="Text 24"/>
          <p:cNvSpPr txBox="1"/>
          <p:nvPr/>
        </p:nvSpPr>
        <p:spPr>
          <a:xfrm>
            <a:off x="758952" y="5390388"/>
            <a:ext cx="457200" cy="457200"/>
          </a:xfrm>
          <a:prstGeom prst="rect">
            <a:avLst/>
          </a:prstGeom>
          <a:noFill/>
          <a:ln/>
        </p:spPr>
        <p:txBody>
          <a:bodyPr wrap="square" lIns="0" tIns="0" rIns="0" bIns="0" rtlCol="0" anchor="ctr"/>
          <a:lstStyle/>
          <a:p>
            <a:pPr algn="ctr" indent="0" marL="0">
              <a:buNone/>
            </a:pPr>
            <a:r>
              <a:rPr lang="en-US" sz="1700" b="1" dirty="0">
                <a:solidFill>
                  <a:srgbClr val="15181D"/>
                </a:solidFill>
                <a:latin typeface="Arial" pitchFamily="34" charset="0"/>
                <a:ea typeface="Arial" pitchFamily="34" charset="-122"/>
                <a:cs typeface="Arial" pitchFamily="34" charset="-120"/>
              </a:rPr>
              <a:t>5</a:t>
            </a:r>
            <a:endParaRPr lang="en-US" sz="1700" dirty="0"/>
          </a:p>
        </p:txBody>
      </p:sp>
      <p:sp>
        <p:nvSpPr>
          <p:cNvPr id="27" name="Text 25"/>
          <p:cNvSpPr txBox="1"/>
          <p:nvPr/>
        </p:nvSpPr>
        <p:spPr>
          <a:xfrm>
            <a:off x="1417320" y="5321808"/>
            <a:ext cx="5486400" cy="5943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Kreisverkehr mit „Vorfahrt gewähren“: Blinkst du beim Einfahren?</a:t>
            </a:r>
            <a:endParaRPr lang="en-US" sz="1700" dirty="0"/>
          </a:p>
        </p:txBody>
      </p:sp>
      <p:sp>
        <p:nvSpPr>
          <p:cNvPr id="28" name="Text 26"/>
          <p:cNvSpPr txBox="1"/>
          <p:nvPr/>
        </p:nvSpPr>
        <p:spPr>
          <a:xfrm>
            <a:off x="7086600" y="5321808"/>
            <a:ext cx="4389120" cy="594360"/>
          </a:xfrm>
          <a:prstGeom prst="rect">
            <a:avLst/>
          </a:prstGeom>
          <a:noFill/>
          <a:ln/>
        </p:spPr>
        <p:txBody>
          <a:bodyPr wrap="square" lIns="0" tIns="0" rIns="0" bIns="0" rtlCol="0" anchor="ctr"/>
          <a:lstStyle/>
          <a:p>
            <a:pPr indent="0" marL="0">
              <a:buNone/>
            </a:pPr>
            <a:r>
              <a:rPr lang="en-US" sz="1600" b="1" dirty="0">
                <a:solidFill>
                  <a:srgbClr val="FF9300"/>
                </a:solidFill>
                <a:latin typeface="Arial" pitchFamily="34" charset="0"/>
                <a:ea typeface="Arial" pitchFamily="34" charset="-122"/>
                <a:cs typeface="Arial" pitchFamily="34" charset="-120"/>
              </a:rPr>
              <a:t>Nein. Nur beim Ausfahren rechts blinken.</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7782"/>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640080" y="1280160"/>
            <a:ext cx="7315200" cy="320040"/>
          </a:xfrm>
          <a:prstGeom prst="rect">
            <a:avLst/>
          </a:prstGeom>
          <a:noFill/>
          <a:ln/>
        </p:spPr>
        <p:txBody>
          <a:bodyPr wrap="square" lIns="0" tIns="0" rIns="0" bIns="0" rtlCol="0" anchor="t"/>
          <a:lstStyle/>
          <a:p>
            <a:pPr indent="0" marL="0">
              <a:buNone/>
            </a:pPr>
            <a:r>
              <a:rPr lang="en-US" sz="1400" b="1" spc="300" kern="0" dirty="0">
                <a:solidFill>
                  <a:srgbClr val="FF9300"/>
                </a:solidFill>
                <a:latin typeface="Arial" pitchFamily="34" charset="0"/>
                <a:ea typeface="Arial" pitchFamily="34" charset="-122"/>
                <a:cs typeface="Arial" pitchFamily="34" charset="-120"/>
              </a:rPr>
              <a:t>WIE ES WEITERGEHT</a:t>
            </a:r>
            <a:endParaRPr lang="en-US" sz="1400" dirty="0"/>
          </a:p>
        </p:txBody>
      </p:sp>
      <p:sp>
        <p:nvSpPr>
          <p:cNvPr id="3" name="Text 1"/>
          <p:cNvSpPr txBox="1"/>
          <p:nvPr/>
        </p:nvSpPr>
        <p:spPr>
          <a:xfrm>
            <a:off x="640080" y="1691640"/>
            <a:ext cx="6583680" cy="182880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In der Fahrstunde üben wir Kreuzungen und Einmündungen.</a:t>
            </a:r>
            <a:endParaRPr lang="en-US" sz="4000" dirty="0"/>
          </a:p>
        </p:txBody>
      </p:sp>
      <p:sp>
        <p:nvSpPr>
          <p:cNvPr id="4" name="Text 2"/>
          <p:cNvSpPr txBox="1"/>
          <p:nvPr/>
        </p:nvSpPr>
        <p:spPr>
          <a:xfrm>
            <a:off x="640080" y="3611880"/>
            <a:ext cx="6583680" cy="822960"/>
          </a:xfrm>
          <a:prstGeom prst="rect">
            <a:avLst/>
          </a:prstGeom>
          <a:noFill/>
          <a:ln/>
        </p:spPr>
        <p:txBody>
          <a:bodyPr wrap="square" lIns="0" tIns="0" rIns="0" bIns="0" rtlCol="0" anchor="t"/>
          <a:lstStyle/>
          <a:p>
            <a:pPr indent="0" marL="0">
              <a:buNone/>
            </a:pPr>
            <a:r>
              <a:rPr lang="en-US" sz="2200" dirty="0">
                <a:solidFill>
                  <a:srgbClr val="A3ACB7"/>
                </a:solidFill>
                <a:latin typeface="Arial" pitchFamily="34" charset="0"/>
                <a:ea typeface="Arial" pitchFamily="34" charset="-122"/>
                <a:cs typeface="Arial" pitchFamily="34" charset="-120"/>
              </a:rPr>
              <a:t>Früh beobachten, Vorfahrt klar erkennen, sauber abbiegen.</a:t>
            </a:r>
            <a:endParaRPr lang="en-US" sz="2200" dirty="0"/>
          </a:p>
        </p:txBody>
      </p:sp>
      <p:sp>
        <p:nvSpPr>
          <p:cNvPr id="5" name="Shape 3"/>
          <p:cNvSpPr/>
          <p:nvPr/>
        </p:nvSpPr>
        <p:spPr>
          <a:xfrm>
            <a:off x="640080" y="4709160"/>
            <a:ext cx="6583680" cy="1051560"/>
          </a:xfrm>
          <a:prstGeom prst="roundRect">
            <a:avLst>
              <a:gd name="adj" fmla="val 15652"/>
            </a:avLst>
          </a:prstGeom>
          <a:solidFill>
            <a:srgbClr val="1A1F26"/>
          </a:solidFill>
          <a:ln w="12700">
            <a:solidFill>
              <a:srgbClr val="1A1F26"/>
            </a:solidFill>
            <a:prstDash val="solid"/>
          </a:ln>
        </p:spPr>
      </p:sp>
      <p:sp>
        <p:nvSpPr>
          <p:cNvPr id="6" name="Text 4"/>
          <p:cNvSpPr txBox="1"/>
          <p:nvPr/>
        </p:nvSpPr>
        <p:spPr>
          <a:xfrm>
            <a:off x="914400" y="4709160"/>
            <a:ext cx="6126480" cy="1051560"/>
          </a:xfrm>
          <a:prstGeom prst="rect">
            <a:avLst/>
          </a:prstGeom>
          <a:noFill/>
          <a:ln/>
        </p:spPr>
        <p:txBody>
          <a:bodyPr wrap="square" lIns="0" tIns="0" rIns="0" bIns="0" rtlCol="0" anchor="ctr"/>
          <a:lstStyle/>
          <a:p>
            <a:pPr indent="0" marL="0">
              <a:buNone/>
            </a:pPr>
            <a:r>
              <a:rPr lang="en-US" sz="1800" dirty="0">
                <a:solidFill>
                  <a:srgbClr val="A3ACB7"/>
                </a:solidFill>
                <a:latin typeface="Arial" pitchFamily="34" charset="0"/>
                <a:ea typeface="Arial" pitchFamily="34" charset="-122"/>
                <a:cs typeface="Arial" pitchFamily="34" charset="-120"/>
              </a:rPr>
              <a:t>Nächste Theorie-Lektion: </a:t>
            </a:r>
            <a:pPr indent="0" marL="0">
              <a:buNone/>
            </a:pPr>
            <a:r>
              <a:rPr lang="en-US" sz="1800" b="1" dirty="0">
                <a:solidFill>
                  <a:srgbClr val="FFFFFF"/>
                </a:solidFill>
                <a:latin typeface="Arial" pitchFamily="34" charset="0"/>
                <a:ea typeface="Arial" pitchFamily="34" charset="-122"/>
                <a:cs typeface="Arial" pitchFamily="34" charset="-120"/>
              </a:rPr>
              <a:t>Verkehrszeichen und Bahnübergänge</a:t>
            </a:r>
            <a:endParaRPr lang="en-US" sz="1800" dirty="0"/>
          </a:p>
        </p:txBody>
      </p:sp>
      <p:sp>
        <p:nvSpPr>
          <p:cNvPr id="7" name="Shape 5"/>
          <p:cNvSpPr/>
          <p:nvPr/>
        </p:nvSpPr>
        <p:spPr>
          <a:xfrm>
            <a:off x="7863840" y="822960"/>
            <a:ext cx="3749040" cy="5212080"/>
          </a:xfrm>
          <a:prstGeom prst="roundRect">
            <a:avLst>
              <a:gd name="adj" fmla="val 5366"/>
            </a:avLst>
          </a:prstGeom>
          <a:solidFill>
            <a:srgbClr val="1C2129"/>
          </a:solidFill>
          <a:ln w="12700">
            <a:solidFill>
              <a:srgbClr val="1C2129"/>
            </a:solidFill>
            <a:prstDash val="solid"/>
          </a:ln>
        </p:spPr>
      </p:sp>
      <p:sp>
        <p:nvSpPr>
          <p:cNvPr id="8" name="Shape 6"/>
          <p:cNvSpPr/>
          <p:nvPr/>
        </p:nvSpPr>
        <p:spPr>
          <a:xfrm>
            <a:off x="9052560" y="822960"/>
            <a:ext cx="1371600" cy="5212080"/>
          </a:xfrm>
          <a:prstGeom prst="rect">
            <a:avLst/>
          </a:prstGeom>
          <a:solidFill>
            <a:srgbClr val="3B414A"/>
          </a:solidFill>
          <a:ln w="12700">
            <a:solidFill>
              <a:srgbClr val="3B414A"/>
            </a:solidFill>
            <a:prstDash val="solid"/>
          </a:ln>
        </p:spPr>
      </p:sp>
      <p:sp>
        <p:nvSpPr>
          <p:cNvPr id="9" name="Shape 7"/>
          <p:cNvSpPr/>
          <p:nvPr/>
        </p:nvSpPr>
        <p:spPr>
          <a:xfrm>
            <a:off x="7863840" y="2743200"/>
            <a:ext cx="2560320" cy="1371600"/>
          </a:xfrm>
          <a:prstGeom prst="rect">
            <a:avLst/>
          </a:prstGeom>
          <a:solidFill>
            <a:srgbClr val="3B414A"/>
          </a:solidFill>
          <a:ln w="12700">
            <a:solidFill>
              <a:srgbClr val="3B414A"/>
            </a:solidFill>
            <a:prstDash val="solid"/>
          </a:ln>
        </p:spPr>
      </p:sp>
      <p:sp>
        <p:nvSpPr>
          <p:cNvPr id="10" name="Shape 8"/>
          <p:cNvSpPr/>
          <p:nvPr/>
        </p:nvSpPr>
        <p:spPr>
          <a:xfrm>
            <a:off x="9738360" y="932688"/>
            <a:ext cx="0" cy="1700784"/>
          </a:xfrm>
          <a:prstGeom prst="line">
            <a:avLst/>
          </a:prstGeom>
          <a:noFill/>
          <a:ln w="22225">
            <a:solidFill>
              <a:srgbClr val="F2F4F6"/>
            </a:solidFill>
            <a:prstDash val="dash"/>
          </a:ln>
        </p:spPr>
      </p:sp>
      <p:sp>
        <p:nvSpPr>
          <p:cNvPr id="11" name="Shape 9"/>
          <p:cNvSpPr/>
          <p:nvPr/>
        </p:nvSpPr>
        <p:spPr>
          <a:xfrm>
            <a:off x="9738360" y="4224528"/>
            <a:ext cx="0" cy="1700784"/>
          </a:xfrm>
          <a:prstGeom prst="line">
            <a:avLst/>
          </a:prstGeom>
          <a:noFill/>
          <a:ln w="22225">
            <a:solidFill>
              <a:srgbClr val="F2F4F6"/>
            </a:solidFill>
            <a:prstDash val="dash"/>
          </a:ln>
        </p:spPr>
      </p:sp>
      <p:sp>
        <p:nvSpPr>
          <p:cNvPr id="12" name="Shape 10"/>
          <p:cNvSpPr/>
          <p:nvPr/>
        </p:nvSpPr>
        <p:spPr>
          <a:xfrm>
            <a:off x="7973568" y="3429000"/>
            <a:ext cx="969264" cy="0"/>
          </a:xfrm>
          <a:prstGeom prst="line">
            <a:avLst/>
          </a:prstGeom>
          <a:noFill/>
          <a:ln w="22225">
            <a:solidFill>
              <a:srgbClr val="F2F4F6"/>
            </a:solidFill>
            <a:prstDash val="dash"/>
          </a:ln>
        </p:spPr>
      </p:sp>
      <p:sp>
        <p:nvSpPr>
          <p:cNvPr id="13" name="Shape 11"/>
          <p:cNvSpPr/>
          <p:nvPr/>
        </p:nvSpPr>
        <p:spPr>
          <a:xfrm>
            <a:off x="9843516" y="4581144"/>
            <a:ext cx="475488" cy="896112"/>
          </a:xfrm>
          <a:prstGeom prst="roundRect">
            <a:avLst>
              <a:gd name="adj" fmla="val 25000"/>
            </a:avLst>
          </a:prstGeom>
          <a:solidFill>
            <a:srgbClr val="FF9300"/>
          </a:solidFill>
          <a:ln w="15875">
            <a:solidFill>
              <a:srgbClr val="FFFFFF"/>
            </a:solidFill>
            <a:prstDash val="solid"/>
          </a:ln>
        </p:spPr>
      </p:sp>
      <p:sp>
        <p:nvSpPr>
          <p:cNvPr id="14" name="Shape 12"/>
          <p:cNvSpPr/>
          <p:nvPr/>
        </p:nvSpPr>
        <p:spPr>
          <a:xfrm>
            <a:off x="9916668" y="4764024"/>
            <a:ext cx="329184" cy="182880"/>
          </a:xfrm>
          <a:prstGeom prst="roundRect">
            <a:avLst>
              <a:gd name="adj" fmla="val 30000"/>
            </a:avLst>
          </a:prstGeom>
          <a:solidFill>
            <a:srgbClr val="1B1F24"/>
          </a:solidFill>
          <a:ln w="12700">
            <a:solidFill>
              <a:srgbClr val="1B1F24"/>
            </a:solidFill>
            <a:prstDash val="solid"/>
          </a:ln>
        </p:spPr>
      </p:sp>
      <p:sp>
        <p:nvSpPr>
          <p:cNvPr id="15" name="Shape 13"/>
          <p:cNvSpPr/>
          <p:nvPr/>
        </p:nvSpPr>
        <p:spPr>
          <a:xfrm>
            <a:off x="9784080" y="4631436"/>
            <a:ext cx="118872" cy="118872"/>
          </a:xfrm>
          <a:prstGeom prst="ellipse">
            <a:avLst/>
          </a:prstGeom>
          <a:solidFill>
            <a:srgbClr val="F7B500"/>
          </a:solidFill>
          <a:ln w="9525">
            <a:solidFill>
              <a:srgbClr val="FFFFFF"/>
            </a:solidFill>
            <a:prstDash val="solid"/>
          </a:ln>
        </p:spPr>
      </p:sp>
      <p:sp>
        <p:nvSpPr>
          <p:cNvPr id="16" name="Shape 14"/>
          <p:cNvSpPr/>
          <p:nvPr/>
        </p:nvSpPr>
        <p:spPr>
          <a:xfrm>
            <a:off x="9784080" y="5308092"/>
            <a:ext cx="118872" cy="118872"/>
          </a:xfrm>
          <a:prstGeom prst="ellipse">
            <a:avLst/>
          </a:prstGeom>
          <a:solidFill>
            <a:srgbClr val="F7B500"/>
          </a:solidFill>
          <a:ln w="9525">
            <a:solidFill>
              <a:srgbClr val="FFFFFF"/>
            </a:solidFill>
            <a:prstDash val="solid"/>
          </a:ln>
        </p:spPr>
      </p:sp>
      <p:sp>
        <p:nvSpPr>
          <p:cNvPr id="17" name="Text 15"/>
          <p:cNvSpPr txBox="1"/>
          <p:nvPr/>
        </p:nvSpPr>
        <p:spPr>
          <a:xfrm>
            <a:off x="9806940" y="5047488"/>
            <a:ext cx="548640" cy="237744"/>
          </a:xfrm>
          <a:prstGeom prst="rect">
            <a:avLst/>
          </a:prstGeom>
          <a:noFill/>
          <a:ln/>
        </p:spPr>
        <p:txBody>
          <a:bodyPr wrap="square" lIns="0" tIns="0" rIns="0" bIns="0" rtlCol="0" anchor="ctr"/>
          <a:lstStyle/>
          <a:p>
            <a:pPr algn="ctr" indent="0" marL="0">
              <a:buNone/>
            </a:pPr>
            <a:r>
              <a:rPr lang="en-US" sz="1000" b="1" dirty="0">
                <a:solidFill>
                  <a:srgbClr val="15181D"/>
                </a:solidFill>
                <a:latin typeface="Arial" pitchFamily="34" charset="0"/>
                <a:ea typeface="Arial" pitchFamily="34" charset="-122"/>
                <a:cs typeface="Arial" pitchFamily="34" charset="-120"/>
              </a:rPr>
              <a:t>DU</a:t>
            </a:r>
            <a:endParaRPr lang="en-US" sz="1000" dirty="0"/>
          </a:p>
        </p:txBody>
      </p:sp>
      <p:sp>
        <p:nvSpPr>
          <p:cNvPr id="18" name="Shape 16"/>
          <p:cNvSpPr/>
          <p:nvPr/>
        </p:nvSpPr>
        <p:spPr>
          <a:xfrm>
            <a:off x="8385962" y="3086100"/>
            <a:ext cx="1695298" cy="1440180"/>
          </a:xfrm>
          <a:custGeom>
            <a:avLst/>
            <a:gdLst/>
            <a:ahLst/>
            <a:cxnLst/>
            <a:rect l="l" t="t" r="r" b="b"/>
            <a:pathLst>
              <a:path w="1695298" h="1440180">
                <a:moveTo>
                  <a:pt x="1695298" y="1440180"/>
                </a:moveTo>
                <a:quadBezTo>
                  <a:pt x="1695298" y="0"/>
                  <a:pt x="0" y="0"/>
                </a:quadBezTo>
              </a:path>
            </a:pathLst>
          </a:custGeom>
          <a:noFill/>
          <a:ln w="44450">
            <a:solidFill>
              <a:srgbClr val="FF9300"/>
            </a:solidFill>
            <a:prstDash val="solid"/>
          </a:ln>
        </p:spPr>
      </p:sp>
      <p:sp>
        <p:nvSpPr>
          <p:cNvPr id="19" name="Shape 17"/>
          <p:cNvSpPr/>
          <p:nvPr/>
        </p:nvSpPr>
        <p:spPr>
          <a:xfrm rot="16200000">
            <a:off x="8183880" y="2967228"/>
            <a:ext cx="237744" cy="237744"/>
          </a:xfrm>
          <a:prstGeom prst="triangle">
            <a:avLst/>
          </a:prstGeom>
          <a:solidFill>
            <a:srgbClr val="FF9300"/>
          </a:solidFill>
          <a:ln w="12700">
            <a:solidFill>
              <a:srgbClr val="FF9300"/>
            </a:solidFill>
            <a:prstDash val="solid"/>
          </a:ln>
        </p:spPr>
      </p:sp>
      <p:sp>
        <p:nvSpPr>
          <p:cNvPr id="20" name="Text 18"/>
          <p:cNvSpPr txBox="1"/>
          <p:nvPr/>
        </p:nvSpPr>
        <p:spPr>
          <a:xfrm>
            <a:off x="640080" y="6035040"/>
            <a:ext cx="274320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Allindrive</a:t>
            </a:r>
            <a:pPr indent="0" marL="0">
              <a:buNone/>
            </a:pPr>
            <a:r>
              <a:rPr lang="en-US" sz="1500" b="1" dirty="0">
                <a:solidFill>
                  <a:srgbClr val="FF9300"/>
                </a:solidFill>
                <a:latin typeface="Arial" pitchFamily="34" charset="0"/>
                <a:ea typeface="Arial" pitchFamily="34" charset="-122"/>
                <a:cs typeface="Arial" pitchFamily="34" charset="-120"/>
              </a:rPr>
              <a:t>.</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384048"/>
            <a:ext cx="7772400" cy="274320"/>
          </a:xfrm>
          <a:prstGeom prst="rect">
            <a:avLst/>
          </a:prstGeom>
          <a:noFill/>
          <a:ln/>
        </p:spPr>
        <p:txBody>
          <a:bodyPr wrap="square" lIns="0" tIns="0" rIns="0" bIns="0" rtlCol="0" anchor="t"/>
          <a:lstStyle/>
          <a:p>
            <a:pPr indent="0" marL="0">
              <a:buNone/>
            </a:pPr>
            <a:r>
              <a:rPr lang="en-US" sz="1200" b="1" spc="200" kern="0" dirty="0">
                <a:solidFill>
                  <a:srgbClr val="9E4F00"/>
                </a:solidFill>
                <a:latin typeface="Arial" pitchFamily="34" charset="0"/>
                <a:ea typeface="Arial" pitchFamily="34" charset="-122"/>
                <a:cs typeface="Arial" pitchFamily="34" charset="-120"/>
              </a:rPr>
              <a:t>ANHANG</a:t>
            </a:r>
            <a:endParaRPr lang="en-US" sz="1200" dirty="0"/>
          </a:p>
        </p:txBody>
      </p:sp>
      <p:sp>
        <p:nvSpPr>
          <p:cNvPr id="3" name="Text 1"/>
          <p:cNvSpPr txBox="1"/>
          <p:nvPr/>
        </p:nvSpPr>
        <p:spPr>
          <a:xfrm>
            <a:off x="548640" y="676656"/>
            <a:ext cx="11064240" cy="731520"/>
          </a:xfrm>
          <a:prstGeom prst="rect">
            <a:avLst/>
          </a:prstGeom>
          <a:noFill/>
          <a:ln/>
        </p:spPr>
        <p:txBody>
          <a:bodyPr wrap="square" lIns="0" tIns="0" rIns="0" bIns="0" rtlCol="0" anchor="t"/>
          <a:lstStyle/>
          <a:p>
            <a:pPr indent="0" marL="0">
              <a:buNone/>
            </a:pPr>
            <a:r>
              <a:rPr lang="en-US" sz="3200" b="1" dirty="0">
                <a:solidFill>
                  <a:srgbClr val="15181D"/>
                </a:solidFill>
                <a:latin typeface="Arial" pitchFamily="34" charset="0"/>
                <a:ea typeface="Arial" pitchFamily="34" charset="-122"/>
                <a:cs typeface="Arial" pitchFamily="34" charset="-120"/>
              </a:rPr>
              <a:t>Rechtsgrundlagen und Quellen</a:t>
            </a:r>
            <a:endParaRPr lang="en-US" sz="3200" dirty="0"/>
          </a:p>
        </p:txBody>
      </p:sp>
      <p:sp>
        <p:nvSpPr>
          <p:cNvPr id="4" name="Shape 2"/>
          <p:cNvSpPr/>
          <p:nvPr/>
        </p:nvSpPr>
        <p:spPr>
          <a:xfrm>
            <a:off x="594360" y="1755648"/>
            <a:ext cx="420624" cy="420624"/>
          </a:xfrm>
          <a:prstGeom prst="ellipse">
            <a:avLst/>
          </a:prstGeom>
          <a:solidFill>
            <a:srgbClr val="FF9300"/>
          </a:solidFill>
          <a:ln w="19050">
            <a:solidFill>
              <a:srgbClr val="FFFFFF"/>
            </a:solidFill>
            <a:prstDash val="solid"/>
          </a:ln>
        </p:spPr>
      </p:sp>
      <p:sp>
        <p:nvSpPr>
          <p:cNvPr id="5" name="Text 3"/>
          <p:cNvSpPr txBox="1"/>
          <p:nvPr/>
        </p:nvSpPr>
        <p:spPr>
          <a:xfrm>
            <a:off x="594360" y="1755648"/>
            <a:ext cx="420624" cy="420624"/>
          </a:xfrm>
          <a:prstGeom prst="rect">
            <a:avLst/>
          </a:prstGeom>
          <a:noFill/>
          <a:ln/>
        </p:spPr>
        <p:txBody>
          <a:bodyPr wrap="square" lIns="0" tIns="0" rIns="0" bIns="0" rtlCol="0" anchor="ctr"/>
          <a:lstStyle/>
          <a:p>
            <a:pPr algn="ctr" indent="0" marL="0">
              <a:buNone/>
            </a:pPr>
            <a:r>
              <a:rPr lang="en-US" sz="1500" b="1" dirty="0">
                <a:solidFill>
                  <a:srgbClr val="15181D"/>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234440" y="1691640"/>
            <a:ext cx="10332720" cy="868680"/>
          </a:xfrm>
          <a:prstGeom prst="rect">
            <a:avLst/>
          </a:prstGeom>
          <a:noFill/>
          <a:ln/>
        </p:spPr>
        <p:txBody>
          <a:bodyPr wrap="square" lIns="0" tIns="0" rIns="0" bIns="0" rtlCol="0" anchor="t"/>
          <a:lstStyle/>
          <a:p>
            <a:pPr indent="0" marL="0">
              <a:buNone/>
            </a:pPr>
            <a:r>
              <a:rPr lang="en-US" sz="1600" dirty="0">
                <a:solidFill>
                  <a:srgbClr val="343B44"/>
                </a:solidFill>
                <a:latin typeface="Arial" pitchFamily="34" charset="0"/>
                <a:ea typeface="Arial" pitchFamily="34" charset="-122"/>
                <a:cs typeface="Arial" pitchFamily="34" charset="-120"/>
              </a:rPr>
              <a:t>Straßenverkehrs-Ordnung (StVO): § 1, § 6, § 8, § 9, § 10, § 11, § 30, § 36, § 37; Anlage 2 lfd. Nr. 2, 3, 4, 8; Anlage 3 lfd. Nr. 1–4 – gesetze-im-internet.de</a:t>
            </a:r>
            <a:endParaRPr lang="en-US" sz="1600" dirty="0"/>
          </a:p>
        </p:txBody>
      </p:sp>
      <p:sp>
        <p:nvSpPr>
          <p:cNvPr id="7" name="Shape 5"/>
          <p:cNvSpPr/>
          <p:nvPr/>
        </p:nvSpPr>
        <p:spPr>
          <a:xfrm>
            <a:off x="594360" y="2779776"/>
            <a:ext cx="420624" cy="420624"/>
          </a:xfrm>
          <a:prstGeom prst="ellipse">
            <a:avLst/>
          </a:prstGeom>
          <a:solidFill>
            <a:srgbClr val="FF9300"/>
          </a:solidFill>
          <a:ln w="19050">
            <a:solidFill>
              <a:srgbClr val="FFFFFF"/>
            </a:solidFill>
            <a:prstDash val="solid"/>
          </a:ln>
        </p:spPr>
      </p:sp>
      <p:sp>
        <p:nvSpPr>
          <p:cNvPr id="8" name="Text 6"/>
          <p:cNvSpPr txBox="1"/>
          <p:nvPr/>
        </p:nvSpPr>
        <p:spPr>
          <a:xfrm>
            <a:off x="594360" y="2779776"/>
            <a:ext cx="420624" cy="420624"/>
          </a:xfrm>
          <a:prstGeom prst="rect">
            <a:avLst/>
          </a:prstGeom>
          <a:noFill/>
          <a:ln/>
        </p:spPr>
        <p:txBody>
          <a:bodyPr wrap="square" lIns="0" tIns="0" rIns="0" bIns="0" rtlCol="0" anchor="ctr"/>
          <a:lstStyle/>
          <a:p>
            <a:pPr algn="ctr" indent="0" marL="0">
              <a:buNone/>
            </a:pPr>
            <a:r>
              <a:rPr lang="en-US" sz="1500" b="1" dirty="0">
                <a:solidFill>
                  <a:srgbClr val="15181D"/>
                </a:solidFill>
                <a:latin typeface="Arial" pitchFamily="34" charset="0"/>
                <a:ea typeface="Arial" pitchFamily="34" charset="-122"/>
                <a:cs typeface="Arial" pitchFamily="34" charset="-120"/>
              </a:rPr>
              <a:t>2</a:t>
            </a:r>
            <a:endParaRPr lang="en-US" sz="1500" dirty="0"/>
          </a:p>
        </p:txBody>
      </p:sp>
      <p:sp>
        <p:nvSpPr>
          <p:cNvPr id="9" name="Text 7"/>
          <p:cNvSpPr txBox="1"/>
          <p:nvPr/>
        </p:nvSpPr>
        <p:spPr>
          <a:xfrm>
            <a:off x="1234440" y="2715768"/>
            <a:ext cx="10332720" cy="868680"/>
          </a:xfrm>
          <a:prstGeom prst="rect">
            <a:avLst/>
          </a:prstGeom>
          <a:noFill/>
          <a:ln/>
        </p:spPr>
        <p:txBody>
          <a:bodyPr wrap="square" lIns="0" tIns="0" rIns="0" bIns="0" rtlCol="0" anchor="t"/>
          <a:lstStyle/>
          <a:p>
            <a:pPr indent="0" marL="0">
              <a:buNone/>
            </a:pPr>
            <a:r>
              <a:rPr lang="en-US" sz="1600" dirty="0">
                <a:solidFill>
                  <a:srgbClr val="343B44"/>
                </a:solidFill>
                <a:latin typeface="Arial" pitchFamily="34" charset="0"/>
                <a:ea typeface="Arial" pitchFamily="34" charset="-122"/>
                <a:cs typeface="Arial" pitchFamily="34" charset="-120"/>
              </a:rPr>
              <a:t>Fahrschüler-Ausbildungsordnung (FahrschAusbO), Anlage 1, Thema 5 „Vorfahrt und Verkehrsregelungen“ – gesetze-im-internet.de</a:t>
            </a:r>
            <a:endParaRPr lang="en-US" sz="1600" dirty="0"/>
          </a:p>
        </p:txBody>
      </p:sp>
      <p:sp>
        <p:nvSpPr>
          <p:cNvPr id="10" name="Shape 8"/>
          <p:cNvSpPr/>
          <p:nvPr/>
        </p:nvSpPr>
        <p:spPr>
          <a:xfrm>
            <a:off x="594360" y="3803904"/>
            <a:ext cx="420624" cy="420624"/>
          </a:xfrm>
          <a:prstGeom prst="ellipse">
            <a:avLst/>
          </a:prstGeom>
          <a:solidFill>
            <a:srgbClr val="FF9300"/>
          </a:solidFill>
          <a:ln w="19050">
            <a:solidFill>
              <a:srgbClr val="FFFFFF"/>
            </a:solidFill>
            <a:prstDash val="solid"/>
          </a:ln>
        </p:spPr>
      </p:sp>
      <p:sp>
        <p:nvSpPr>
          <p:cNvPr id="11" name="Text 9"/>
          <p:cNvSpPr txBox="1"/>
          <p:nvPr/>
        </p:nvSpPr>
        <p:spPr>
          <a:xfrm>
            <a:off x="594360" y="3803904"/>
            <a:ext cx="420624" cy="420624"/>
          </a:xfrm>
          <a:prstGeom prst="rect">
            <a:avLst/>
          </a:prstGeom>
          <a:noFill/>
          <a:ln/>
        </p:spPr>
        <p:txBody>
          <a:bodyPr wrap="square" lIns="0" tIns="0" rIns="0" bIns="0" rtlCol="0" anchor="ctr"/>
          <a:lstStyle/>
          <a:p>
            <a:pPr algn="ctr" indent="0" marL="0">
              <a:buNone/>
            </a:pPr>
            <a:r>
              <a:rPr lang="en-US" sz="1500" b="1" dirty="0">
                <a:solidFill>
                  <a:srgbClr val="15181D"/>
                </a:solidFill>
                <a:latin typeface="Arial" pitchFamily="34" charset="0"/>
                <a:ea typeface="Arial" pitchFamily="34" charset="-122"/>
                <a:cs typeface="Arial" pitchFamily="34" charset="-120"/>
              </a:rPr>
              <a:t>3</a:t>
            </a:r>
            <a:endParaRPr lang="en-US" sz="1500" dirty="0"/>
          </a:p>
        </p:txBody>
      </p:sp>
      <p:sp>
        <p:nvSpPr>
          <p:cNvPr id="12" name="Text 10"/>
          <p:cNvSpPr txBox="1"/>
          <p:nvPr/>
        </p:nvSpPr>
        <p:spPr>
          <a:xfrm>
            <a:off x="1234440" y="3739896"/>
            <a:ext cx="10332720" cy="868680"/>
          </a:xfrm>
          <a:prstGeom prst="rect">
            <a:avLst/>
          </a:prstGeom>
          <a:noFill/>
          <a:ln/>
        </p:spPr>
        <p:txBody>
          <a:bodyPr wrap="square" lIns="0" tIns="0" rIns="0" bIns="0" rtlCol="0" anchor="t"/>
          <a:lstStyle/>
          <a:p>
            <a:pPr indent="0" marL="0">
              <a:buNone/>
            </a:pPr>
            <a:r>
              <a:rPr lang="en-US" sz="1600" dirty="0">
                <a:solidFill>
                  <a:srgbClr val="343B44"/>
                </a:solidFill>
                <a:latin typeface="Arial" pitchFamily="34" charset="0"/>
                <a:ea typeface="Arial" pitchFamily="34" charset="-122"/>
                <a:cs typeface="Arial" pitchFamily="34" charset="-120"/>
              </a:rPr>
              <a:t>TÜV | DEKRA arge tp 21: Innovationsbericht zur Fahrerlaubnisprüfung 2019–2022, Kap. 4.4 (Fehlerschwerpunkte der praktischen Prüfung)</a:t>
            </a:r>
            <a:endParaRPr lang="en-US" sz="1600" dirty="0"/>
          </a:p>
        </p:txBody>
      </p:sp>
      <p:sp>
        <p:nvSpPr>
          <p:cNvPr id="13" name="Shape 11"/>
          <p:cNvSpPr/>
          <p:nvPr/>
        </p:nvSpPr>
        <p:spPr>
          <a:xfrm>
            <a:off x="594360" y="4828032"/>
            <a:ext cx="420624" cy="420624"/>
          </a:xfrm>
          <a:prstGeom prst="ellipse">
            <a:avLst/>
          </a:prstGeom>
          <a:solidFill>
            <a:srgbClr val="FF9300"/>
          </a:solidFill>
          <a:ln w="19050">
            <a:solidFill>
              <a:srgbClr val="FFFFFF"/>
            </a:solidFill>
            <a:prstDash val="solid"/>
          </a:ln>
        </p:spPr>
      </p:sp>
      <p:sp>
        <p:nvSpPr>
          <p:cNvPr id="14" name="Text 12"/>
          <p:cNvSpPr txBox="1"/>
          <p:nvPr/>
        </p:nvSpPr>
        <p:spPr>
          <a:xfrm>
            <a:off x="594360" y="4828032"/>
            <a:ext cx="420624" cy="420624"/>
          </a:xfrm>
          <a:prstGeom prst="rect">
            <a:avLst/>
          </a:prstGeom>
          <a:noFill/>
          <a:ln/>
        </p:spPr>
        <p:txBody>
          <a:bodyPr wrap="square" lIns="0" tIns="0" rIns="0" bIns="0" rtlCol="0" anchor="ctr"/>
          <a:lstStyle/>
          <a:p>
            <a:pPr algn="ctr" indent="0" marL="0">
              <a:buNone/>
            </a:pPr>
            <a:r>
              <a:rPr lang="en-US" sz="1500" b="1" dirty="0">
                <a:solidFill>
                  <a:srgbClr val="15181D"/>
                </a:solidFill>
                <a:latin typeface="Arial" pitchFamily="34" charset="0"/>
                <a:ea typeface="Arial" pitchFamily="34" charset="-122"/>
                <a:cs typeface="Arial" pitchFamily="34" charset="-120"/>
              </a:rPr>
              <a:t>4</a:t>
            </a:r>
            <a:endParaRPr lang="en-US" sz="1500" dirty="0"/>
          </a:p>
        </p:txBody>
      </p:sp>
      <p:sp>
        <p:nvSpPr>
          <p:cNvPr id="15" name="Text 13"/>
          <p:cNvSpPr txBox="1"/>
          <p:nvPr/>
        </p:nvSpPr>
        <p:spPr>
          <a:xfrm>
            <a:off x="1234440" y="4764024"/>
            <a:ext cx="10332720" cy="868680"/>
          </a:xfrm>
          <a:prstGeom prst="rect">
            <a:avLst/>
          </a:prstGeom>
          <a:noFill/>
          <a:ln/>
        </p:spPr>
        <p:txBody>
          <a:bodyPr wrap="square" lIns="0" tIns="0" rIns="0" bIns="0" rtlCol="0" anchor="t"/>
          <a:lstStyle/>
          <a:p>
            <a:pPr indent="0" marL="0">
              <a:buNone/>
            </a:pPr>
            <a:r>
              <a:rPr lang="en-US" sz="1600" dirty="0">
                <a:solidFill>
                  <a:srgbClr val="343B44"/>
                </a:solidFill>
                <a:latin typeface="Arial" pitchFamily="34" charset="0"/>
                <a:ea typeface="Arial" pitchFamily="34" charset="-122"/>
                <a:cs typeface="Arial" pitchFamily="34" charset="-120"/>
              </a:rPr>
              <a:t>Alle Texte, Grafiken und Verkehrszeichen-Darstellungen: eigene Gestaltung Allindrive. Rechtsstand Oktober 2026 – bitte vor dem Einsatz auf Änderungen prüfen.</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9D"/>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Allindrive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Lektion 5 · Vorfahrt und Verkehrsregelung</dc:title>
  <dc:subject>Theorieunterricht Klasse B, Grundstoff</dc:subject>
  <dc:creator>Allindrive</dc:creator>
  <cp:lastModifiedBy>Allindrive</cp:lastModifiedBy>
  <cp:revision>1</cp:revision>
  <dcterms:created xsi:type="dcterms:W3CDTF">2026-10-10T17:02:54Z</dcterms:created>
  <dcterms:modified xsi:type="dcterms:W3CDTF">2026-10-10T17:02:54Z</dcterms:modified>
</cp:coreProperties>
</file>